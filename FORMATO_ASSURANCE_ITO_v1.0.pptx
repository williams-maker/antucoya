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8732520"/>
  <p:notesSz cx="873252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1097280"/>
            <a:ext cx="77724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CRÍTICO</a:t>
            </a:r>
            <a:endParaRPr lang="en-US" sz="700" dirty="0"/>
          </a:p>
        </p:txBody>
      </p:sp>
      <p:sp>
        <p:nvSpPr>
          <p:cNvPr id="16" name="Text 13"/>
          <p:cNvSpPr txBox="1"/>
          <p:nvPr/>
        </p:nvSpPr>
        <p:spPr>
          <a:xfrm>
            <a:off x="1207008" y="1097280"/>
            <a:ext cx="777240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ALTO</a:t>
            </a:r>
            <a:endParaRPr lang="en-US" sz="7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97280"/>
            <a:ext cx="9720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origen: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cuasi accidente alto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hallazgo alto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cuasi accidente bajo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hallazgo bajo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/ [T2-4]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turno que lo reportó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Verificación: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 cumple · NC no cumple · NA no aplica</a:t>
            </a:r>
            <a:endParaRPr lang="en-US" sz="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9143771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657600"/>
                <a:gridCol w="2560320"/>
                <a:gridCol w="1508760"/>
                <a:gridCol w="1536192"/>
                <a:gridCol w="12344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VERIFICACIÓN EN TERRENO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[TIPO]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[TIPO]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[TIPO]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[TIPO]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[TIPO]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[TIPO]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pPr indent="0" marL="0">
                        <a:buNone/>
                      </a:pP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365760" y="5797296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1325880" y="5797296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417320" y="5797296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eventos HBP — </a:t>
            </a:r>
            <a:pPr indent="0" marL="0">
              <a:buNone/>
            </a:pP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2" name="Shape 18"/>
          <p:cNvSpPr/>
          <p:nvPr/>
        </p:nvSpPr>
        <p:spPr>
          <a:xfrm>
            <a:off x="365760" y="6181344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7200" y="6181344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647395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94944" y="6455664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6" name="Text 21"/>
          <p:cNvSpPr txBox="1"/>
          <p:nvPr/>
        </p:nvSpPr>
        <p:spPr>
          <a:xfrm>
            <a:off x="438912" y="6729984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27" name="Text 22"/>
          <p:cNvSpPr txBox="1"/>
          <p:nvPr/>
        </p:nvSpPr>
        <p:spPr>
          <a:xfrm>
            <a:off x="438912" y="7022592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28" name="Shape 23"/>
          <p:cNvSpPr/>
          <p:nvPr/>
        </p:nvSpPr>
        <p:spPr>
          <a:xfrm>
            <a:off x="2423160" y="6501384"/>
            <a:ext cx="9144" cy="1316736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6312" y="6473952"/>
            <a:ext cx="219456" cy="219456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2752344" y="6455664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1" name="Text 25"/>
          <p:cNvSpPr txBox="1"/>
          <p:nvPr/>
        </p:nvSpPr>
        <p:spPr>
          <a:xfrm>
            <a:off x="2496312" y="6729984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2" name="Text 26"/>
          <p:cNvSpPr txBox="1"/>
          <p:nvPr/>
        </p:nvSpPr>
        <p:spPr>
          <a:xfrm>
            <a:off x="2496312" y="7022592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3" name="Shape 27"/>
          <p:cNvSpPr/>
          <p:nvPr/>
        </p:nvSpPr>
        <p:spPr>
          <a:xfrm>
            <a:off x="4480560" y="6501384"/>
            <a:ext cx="9144" cy="1316736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712" y="6473952"/>
            <a:ext cx="219456" cy="21945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809744" y="6455664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6" name="Text 29"/>
          <p:cNvSpPr txBox="1"/>
          <p:nvPr/>
        </p:nvSpPr>
        <p:spPr>
          <a:xfrm>
            <a:off x="4553712" y="6729984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37" name="Text 30"/>
          <p:cNvSpPr txBox="1"/>
          <p:nvPr/>
        </p:nvSpPr>
        <p:spPr>
          <a:xfrm>
            <a:off x="4553712" y="7022592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38" name="Shape 31"/>
          <p:cNvSpPr/>
          <p:nvPr/>
        </p:nvSpPr>
        <p:spPr>
          <a:xfrm>
            <a:off x="6675120" y="6181344"/>
            <a:ext cx="1655064" cy="1682496"/>
          </a:xfrm>
          <a:prstGeom prst="roundRect">
            <a:avLst>
              <a:gd name="adj" fmla="val 3315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6748272" y="621792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BRECHAS PRINCIPALES</a:t>
            </a:r>
            <a:endParaRPr lang="en-US" sz="730" dirty="0"/>
          </a:p>
        </p:txBody>
      </p:sp>
      <p:sp>
        <p:nvSpPr>
          <p:cNvPr id="40" name="Text 33"/>
          <p:cNvSpPr txBox="1"/>
          <p:nvPr/>
        </p:nvSpPr>
        <p:spPr>
          <a:xfrm>
            <a:off x="6748272" y="6565392"/>
            <a:ext cx="152704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[Brecha 1: lo que falló]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[Brecha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[Brecha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[Brecha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[Brecha 5]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8421624" y="6181344"/>
            <a:ext cx="1655064" cy="1682496"/>
          </a:xfrm>
          <a:prstGeom prst="roundRect">
            <a:avLst>
              <a:gd name="adj" fmla="val 3315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8494776" y="621792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CONTROLES CRÍTICOS NO NEGOCIABLES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8494776" y="6565392"/>
            <a:ext cx="152704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[Control 1: lo que no se negocia]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[Control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[Control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[Control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[Control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10168128" y="6181344"/>
            <a:ext cx="1655064" cy="1682496"/>
          </a:xfrm>
          <a:prstGeom prst="roundRect">
            <a:avLst>
              <a:gd name="adj" fmla="val 3315"/>
            </a:avLst>
          </a:prstGeom>
          <a:solidFill>
            <a:srgbClr val="FDF5EC"/>
          </a:solidFill>
          <a:ln w="12700">
            <a:solidFill>
              <a:srgbClr val="B35C00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10241280" y="621792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DETENER LA TAREA SI…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10241280" y="6565392"/>
            <a:ext cx="152704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[Condición 1 de detención]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[Condición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[Condición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[Condición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[Condición 5]</a:t>
            </a:r>
            <a:endParaRPr lang="en-US" sz="680" dirty="0"/>
          </a:p>
        </p:txBody>
      </p:sp>
      <p:sp>
        <p:nvSpPr>
          <p:cNvPr id="47" name="Shape 40"/>
          <p:cNvSpPr/>
          <p:nvPr/>
        </p:nvSpPr>
        <p:spPr>
          <a:xfrm>
            <a:off x="365760" y="7936992"/>
            <a:ext cx="11457432" cy="329184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457200" y="793699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CIERRE:  </a:t>
            </a:r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verificados ____ / ____   ·   % cumplimiento ______   ·   Tareas detenidas ____   ·   Hallazgos a SAP ____</a:t>
            </a:r>
            <a:endParaRPr lang="en-US" sz="750" dirty="0"/>
          </a:p>
        </p:txBody>
      </p:sp>
      <p:sp>
        <p:nvSpPr>
          <p:cNvPr id="49" name="Text 42"/>
          <p:cNvSpPr txBox="1"/>
          <p:nvPr/>
        </p:nvSpPr>
        <p:spPr>
          <a:xfrm>
            <a:off x="6400800" y="7936992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Inspector ITO: </a:t>
            </a:r>
            <a:pPr algn="r"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     </a:t>
            </a:r>
            <a:pPr algn="r" indent="0" marL="0">
              <a:buNone/>
            </a:pPr>
            <a:r>
              <a:rPr lang="en-US" sz="7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Supervisor EECC: </a:t>
            </a:r>
            <a:pPr algn="r"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750" dirty="0"/>
          </a:p>
        </p:txBody>
      </p:sp>
      <p:sp>
        <p:nvSpPr>
          <p:cNvPr id="50" name="Shape 43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2" name="Text 45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v1.0 · PLANTILLA</a:t>
            </a:r>
            <a:endParaRPr lang="en-US" sz="800" dirty="0"/>
          </a:p>
        </p:txBody>
      </p:sp>
      <p:sp>
        <p:nvSpPr>
          <p:cNvPr id="53" name="Text 46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DE FOCOS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4 y 6 focos, a partir de los eventos del período anterior (CAAP, HAP, CBP, HBP). Un foco = un riesgo: agrupar en un mismo foco los eventos del mismo riesgo. Priorizar los de alto potencial.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/ PRIORIDAD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N° + nivel + tipo del evento más grave del foco. N1 · CRÍTICO = celda roja; N2 · ALTO = celda naranja. Ordenar de mayor a menor. Para cambiar color: clic en la celda › Diseño de tabla › Sombreado.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DE ASSURANCE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en negrita + instrucción que parte con verbo ("Verificar…"): qué, dónde y bajo qué estándar (máx. 3 líneas). Cerrar con "Criterio de restricción": cuándo se prohíbe o se detiene la tarea (máx. 2 líneas).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fijo: [Turno] TIPO ID – EECC: qué ocurrió.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[T1-3] HAP 553767 – JEJ: camioneta con neumático dañado.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3 eventos por foco, 1–2 líneas cada uno.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con que se verifica el foco, unidas con "+".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GCC + CdP Maniobras de Izaje + ASP.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EN TERRENO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deja en blanco al preparar el formato. El Inspector ITO marca en terreno C (cumple), NC (no cumple) o NA (no aplica); si es NC, anota la observación.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eventos HBP del período y los temas más repetidos con su cantidad.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deficiente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áreas a recorrer y 3–4 controles con el N° de foco entre paréntesis. El bloque PM se reserva para gestión SAP, CdP pendientes, actualización de PTS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BRECHAS · CONTROLES · DETENER SI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recuadro. Brechas = lo que falló. Controles = lo que no se negocia. Detener si = condición concreta de detención.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Y FIRMAS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completa el Inspector ITO al terminar el turno: focos verificados, % cumplimiento (focos C ÷ focos aplicables), tareas detenidas y hallazgos subidos a SAP. Firman ITO y Supervisor EECC.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110642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6 focos, eliminar la fila sobrante (clic derecho › Eliminar fila).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completada; eliminar el instructivo y el ejemplo.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v1.0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1-3 / 2-4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al 20 SEP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1097280"/>
            <a:ext cx="77724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CRÍTICO</a:t>
            </a:r>
            <a:endParaRPr lang="en-US" sz="700" dirty="0"/>
          </a:p>
        </p:txBody>
      </p:sp>
      <p:sp>
        <p:nvSpPr>
          <p:cNvPr id="16" name="Text 13"/>
          <p:cNvSpPr txBox="1"/>
          <p:nvPr/>
        </p:nvSpPr>
        <p:spPr>
          <a:xfrm>
            <a:off x="1207008" y="1097280"/>
            <a:ext cx="777240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ALTO</a:t>
            </a:r>
            <a:endParaRPr lang="en-US" sz="7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97280"/>
            <a:ext cx="9720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origen: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cuasi accidente alto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hallazgo alto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cuasi accidente bajo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hallazgo bajo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/ [T2-4]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turno que lo reportó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Verificación: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 cumple · NC no cumple · NA no aplica</a:t>
            </a:r>
            <a:endParaRPr lang="en-US" sz="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9143771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657600"/>
                <a:gridCol w="2560320"/>
                <a:gridCol w="1508760"/>
                <a:gridCol w="1536192"/>
                <a:gridCol w="12344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VERIFICACIÓN EN TERRENO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Izaje – plan y metodología.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 maniobra con plan de izaje específico y vigente para la carga y el equipo; el rigger lo porta en terreno y el supervisor valida que corresponda antes de autorizar el levante. Camión pluma (Piscinas PLS/ILS – Pilas de Lixiviación): planificación, posicionamiento y estabilización.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Estabilizadores según la Gestión del Cambio (configuración excepcional). Sin plan específico no se iza.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[T1-3] CAAP 555505 – PUMA: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plan del rigger correspondía a descarga de cañería HDPE 12 m y no a la escala modular izada.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[T1-3] HAP 555358 – PUMA: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izaje de equipo de electrofusión sin plan específico; se detiene la actividad.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GCC + CdP Maniobras de Izaje + PTS + Apego a GC + ASP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de izaje con consideraciones de la GC / validación del supervisor / elementos certificados / operador y rigger autorizados / fotos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Izaje – área de influencia de la carga.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Segregación efectiva y control de acceso antes de izar; comunicación bidireccional (operador y rigger con radio en frecuencia acordada); uso de vientos; personal fuera de bordes de zanja al desacoplar.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segregación o sin comunicación no se inicia el izaje. Prohibido desacoplar apoyado al borde de zanja o sobre tubería.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[T1-3] HAP 556119 – PUMA: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carga de maxisacos con grúa horquilla sin segregación ni comunicación.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[T1-3/T2-4] CBP 554227 – PUMA: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retira eslinga con un pie al borde de zanja y otro sobre tubería Ø1.200 mm.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[T1-3] HBP 554488: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falta de vienteros.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GCC + CdP Maniobras de Izaje + Desafío en Terreno + ASP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segregada / radio operativa en operador y rigger / vientos en uso / fotos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Vehículos y equipos – inspección pre-uso.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Neumático-llanta sin cortes, abultamientos, deformaciones en flancos, desgaste fuera de norma ni impactos; elementos críticos sin daño; check list del turno con horómetro; letrero de supervisor con frecuencia radial y plan de tránsito firmado por el relator.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 cualquier anomalía se prohíbe el tránsito: inmovilización hasta evaluación y reparación por especialista.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[T1-3/T2-4] HAP 553767 – JEJ: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camioneta con neumático dañado ("llantazo") y daño lateral antes del uso.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[T1-3] HBP 554865 – PUMA: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camión pluma TW PT-21 sin letrero de supervisor y plan de tránsito sin firma.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[T1-3] HBP 554110 / 556748: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generadores sin horómetro ni responsable.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GCC + CdP Op. Vehículos Livianos + EdC Vehículo Liviano + Insp. de Equipos + ASP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list pre-operacional del turno / ARTP / letrero y plan de tránsito firmados / fotos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Andamios y plataformas – liberación estricta.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de componentes completos, certificados y montados según estándar antes de la Tarjeta Verde: rodapié y peldaños, doble baranda en vanos y bordes, superficie libre de material acopiado. Control de acceso y protección contra caídas a distinto nivel.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Prohibido emitir Tarjeta Verde o usar el andamio con piezas faltantes; la tarjeta debe ser coherente con la condición real.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[T1-3/T2-4] CBP 554901 – PUMA: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andamio en canaletas lado Oeste con tarjeta verde vigente, sin rodapié ni peldaños.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[T1-3] HBP 554468 – COX: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material mal acopiado sobre plataforma a 70 cm, riesgo de caída a distinto nivel.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GCC + CdP Trabajos en Altura + Insp. Plataformas de Andamios + ASP (Antes / Durante si se reinstala)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Rodapié, peldaños y doble baranda instalados / tarjeta coherente con la condición real / fotos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Extensiones eléctricas.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Integridad antes y durante el uso: aislamiento continuo, conectores e hilado sin fisuras, protección diferencial en el origen. Tendido elevado o canalizado, con pasacables.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Prohibido el contacto con estructuras metálicas, zonas de tránsito o aristas filosas.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[T2-4] HBP 554473 – COX: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extensión en contacto directo con estructura metálica de andamio, sin pasacables.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[T1-3] 3 eventos HBP: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extensiones sin pasacable, en contacto con estructura o tendidas en piso.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Inspección + Acompañamiento ASP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de inspección / QR acompañamiento ASP / fotos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1F3D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Orden, aseo y acopio (recurrente).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Materiales segregados y acopiados solo en zonas habilitadas; piezas y herramientas de andamio fuera del nivel de piso; vías de tránsito despejadas. Refuerzo en todos los recorridos y al cierre de cada tarea.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cierra la tarea ni se entrega el área sin orden y aseo verificados.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[T2-4] 8 eventos HBP: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materiales sin segregar y piezas/herramientas de andamio a nivel de piso.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[T1-3] 4 eventos HBP:</a:t>
                      </a:r>
                      <a:pPr indent="0" marL="0">
                        <a:buNone/>
                      </a:pPr>
                      <a:r>
                        <a:rPr lang="en-US" sz="62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acopio de material y housekeeping deficiente.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Recorrido de inspección + ASP al cierre de tarea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3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Fotos antes / después / área entregada ordenada y limpia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☐ C   ☐ NC   ☐ NA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Obs.: ______________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365760" y="5797296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1325880" y="5797296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417320" y="5797296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eventos HBP (T1-3: 7 · T2-4: 8). </a:t>
            </a:r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Acopio, housekeeping y piezas de andamio a nivel de piso (12) · extensiones sin pasacable, en contacto con estructura o en piso (3). Refuerzo transversal en todos los recorridos y al cierre de cada tarea.</a:t>
            </a:r>
            <a:endParaRPr lang="en-US" sz="700" dirty="0"/>
          </a:p>
        </p:txBody>
      </p:sp>
      <p:sp>
        <p:nvSpPr>
          <p:cNvPr id="22" name="Shape 18"/>
          <p:cNvSpPr/>
          <p:nvPr/>
        </p:nvSpPr>
        <p:spPr>
          <a:xfrm>
            <a:off x="365760" y="6181344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7200" y="6181344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647395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94944" y="6455664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6" name="Text 21"/>
          <p:cNvSpPr txBox="1"/>
          <p:nvPr/>
        </p:nvSpPr>
        <p:spPr>
          <a:xfrm>
            <a:off x="438912" y="6729984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Piscinas ILS–PLS · Pila Oeste · Pilas de Lixiviación · Izaje</a:t>
            </a:r>
            <a:endParaRPr lang="en-US" sz="650" dirty="0"/>
          </a:p>
        </p:txBody>
      </p:sp>
      <p:sp>
        <p:nvSpPr>
          <p:cNvPr id="27" name="Text 22"/>
          <p:cNvSpPr txBox="1"/>
          <p:nvPr/>
        </p:nvSpPr>
        <p:spPr>
          <a:xfrm>
            <a:off x="438912" y="7022592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Plan de izaje específico por maniobra (1)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Estabilizadores camión pluma según GC (1)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Segregación, radio y vientos en la carga (2)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Check list pre-uso de vehículos y equipos (3)</a:t>
            </a:r>
            <a:endParaRPr lang="en-US" sz="680" dirty="0"/>
          </a:p>
        </p:txBody>
      </p:sp>
      <p:sp>
        <p:nvSpPr>
          <p:cNvPr id="28" name="Shape 23"/>
          <p:cNvSpPr/>
          <p:nvPr/>
        </p:nvSpPr>
        <p:spPr>
          <a:xfrm>
            <a:off x="2423160" y="6501384"/>
            <a:ext cx="9144" cy="1316736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6312" y="6473952"/>
            <a:ext cx="219456" cy="219456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2752344" y="6455664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1" name="Text 25"/>
          <p:cNvSpPr txBox="1"/>
          <p:nvPr/>
        </p:nvSpPr>
        <p:spPr>
          <a:xfrm>
            <a:off x="2496312" y="6729984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Pilas de Lixiviación · Canaletas lado Oeste · Botadero de Ripios · Patio Contratistas</a:t>
            </a:r>
            <a:endParaRPr lang="en-US" sz="650" dirty="0"/>
          </a:p>
        </p:txBody>
      </p:sp>
      <p:sp>
        <p:nvSpPr>
          <p:cNvPr id="32" name="Text 26"/>
          <p:cNvSpPr txBox="1"/>
          <p:nvPr/>
        </p:nvSpPr>
        <p:spPr>
          <a:xfrm>
            <a:off x="2496312" y="7022592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Rodapié, peldaños y doble baranda (4)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Tarjeta Verde coherente con condición real (4)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Extensiones con pasacable (5)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Acopio y orden en zonas habilitadas (6)</a:t>
            </a:r>
            <a:endParaRPr lang="en-US" sz="680" dirty="0"/>
          </a:p>
        </p:txBody>
      </p:sp>
      <p:sp>
        <p:nvSpPr>
          <p:cNvPr id="33" name="Shape 27"/>
          <p:cNvSpPr/>
          <p:nvPr/>
        </p:nvSpPr>
        <p:spPr>
          <a:xfrm>
            <a:off x="4480560" y="6501384"/>
            <a:ext cx="9144" cy="1316736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712" y="6473952"/>
            <a:ext cx="219456" cy="21945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809744" y="6455664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6" name="Text 29"/>
          <p:cNvSpPr txBox="1"/>
          <p:nvPr/>
        </p:nvSpPr>
        <p:spPr>
          <a:xfrm>
            <a:off x="4553712" y="6729984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37" name="Text 30"/>
          <p:cNvSpPr txBox="1"/>
          <p:nvPr/>
        </p:nvSpPr>
        <p:spPr>
          <a:xfrm>
            <a:off x="4553712" y="7022592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maxisacos sobre tubería HDPE, pletinas en acople campana-espiga y vienteros en desacople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38" name="Shape 31"/>
          <p:cNvSpPr/>
          <p:nvPr/>
        </p:nvSpPr>
        <p:spPr>
          <a:xfrm>
            <a:off x="6675120" y="6181344"/>
            <a:ext cx="1655064" cy="1682496"/>
          </a:xfrm>
          <a:prstGeom prst="roundRect">
            <a:avLst>
              <a:gd name="adj" fmla="val 3315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6748272" y="621792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BRECHAS PRINCIPALES</a:t>
            </a:r>
            <a:endParaRPr lang="en-US" sz="730" dirty="0"/>
          </a:p>
        </p:txBody>
      </p:sp>
      <p:sp>
        <p:nvSpPr>
          <p:cNvPr id="40" name="Text 33"/>
          <p:cNvSpPr txBox="1"/>
          <p:nvPr/>
        </p:nvSpPr>
        <p:spPr>
          <a:xfrm>
            <a:off x="6748272" y="6565392"/>
            <a:ext cx="152704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izaje que no corresponde a la maniobra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Izaje sin segregación ni comunicación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Neumáticos y equipos sin inspección pre-uso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Tarjeta Verde en andamios incompletos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Extensiones sin pasacable y acopio deficiente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8421624" y="6181344"/>
            <a:ext cx="1655064" cy="1682496"/>
          </a:xfrm>
          <a:prstGeom prst="roundRect">
            <a:avLst>
              <a:gd name="adj" fmla="val 3315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8494776" y="621792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CONTROLES CRÍTICOS NO NEGOCIABLES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8494776" y="6565392"/>
            <a:ext cx="152704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izaje específico, vigente y en terreno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Estabilizadores según Gestión del Cambio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Segregación del área de la carga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pre-uso de vehículos y equipos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Rodapié, peldaños y doble baranda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10168128" y="6181344"/>
            <a:ext cx="1655064" cy="1682496"/>
          </a:xfrm>
          <a:prstGeom prst="roundRect">
            <a:avLst>
              <a:gd name="adj" fmla="val 3315"/>
            </a:avLst>
          </a:prstGeom>
          <a:solidFill>
            <a:srgbClr val="FDF5EC"/>
          </a:solidFill>
          <a:ln w="12700">
            <a:solidFill>
              <a:srgbClr val="B35C00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10241280" y="621792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DETENER LA TAREA SI…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10241280" y="6565392"/>
            <a:ext cx="152704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plan de izaje específico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de la carga sin segregar o sin radio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Neumático o llanta con daño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Andamio con piezas faltantes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en bordes de zanja al desacoplar</a:t>
            </a:r>
            <a:endParaRPr lang="en-US" sz="680" dirty="0"/>
          </a:p>
        </p:txBody>
      </p:sp>
      <p:sp>
        <p:nvSpPr>
          <p:cNvPr id="47" name="Shape 40"/>
          <p:cNvSpPr/>
          <p:nvPr/>
        </p:nvSpPr>
        <p:spPr>
          <a:xfrm>
            <a:off x="365760" y="7936992"/>
            <a:ext cx="11457432" cy="329184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457200" y="793699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CIERRE:  </a:t>
            </a:r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verificados ____ / ____   ·   % cumplimiento ______   ·   Tareas detenidas ____   ·   Hallazgos a SAP ____</a:t>
            </a:r>
            <a:endParaRPr lang="en-US" sz="750" dirty="0"/>
          </a:p>
        </p:txBody>
      </p:sp>
      <p:sp>
        <p:nvSpPr>
          <p:cNvPr id="49" name="Text 42"/>
          <p:cNvSpPr txBox="1"/>
          <p:nvPr/>
        </p:nvSpPr>
        <p:spPr>
          <a:xfrm>
            <a:off x="6400800" y="7936992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Inspector ITO: </a:t>
            </a:r>
            <a:pPr algn="r"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     </a:t>
            </a:r>
            <a:pPr algn="r" indent="0" marL="0">
              <a:buNone/>
            </a:pPr>
            <a:r>
              <a:rPr lang="en-US" sz="7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Supervisor EECC: </a:t>
            </a:r>
            <a:pPr algn="r"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750" dirty="0"/>
          </a:p>
        </p:txBody>
      </p:sp>
      <p:sp>
        <p:nvSpPr>
          <p:cNvPr id="50" name="Shape 43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2" name="Text 45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v1.0 · EJEMPLO</a:t>
            </a:r>
            <a:endParaRPr lang="en-US" sz="800" dirty="0"/>
          </a:p>
        </p:txBody>
      </p:sp>
      <p:sp>
        <p:nvSpPr>
          <p:cNvPr id="53" name="Text 46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PptxGenJS</cp:lastModifiedBy>
  <cp:revision>1</cp:revision>
  <dcterms:created xsi:type="dcterms:W3CDTF">2026-09-23T12:19:49Z</dcterms:created>
  <dcterms:modified xsi:type="dcterms:W3CDTF">2026-09-23T12:19:49Z</dcterms:modified>
</cp:coreProperties>
</file>