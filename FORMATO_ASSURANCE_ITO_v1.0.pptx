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8732520"/>
  <p:notesSz cx="873252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65760" y="228600"/>
            <a:ext cx="1645920" cy="640080"/>
          </a:xfrm>
          <a:prstGeom prst="rect">
            <a:avLst/>
          </a:prstGeom>
        </p:spPr>
      </p:pic>
      <p:sp>
        <p:nvSpPr>
          <p:cNvPr id="3" name="Text 0"/>
          <p:cNvSpPr txBox="1"/>
          <p:nvPr/>
        </p:nvSpPr>
        <p:spPr>
          <a:xfrm>
            <a:off x="2194560" y="182880"/>
            <a:ext cx="6949440" cy="502920"/>
          </a:xfrm>
          <a:prstGeom prst="rect">
            <a:avLst/>
          </a:prstGeom>
          <a:noFill/>
          <a:ln/>
        </p:spPr>
        <p:txBody>
          <a:bodyPr wrap="square" lIns="0" tIns="0" rIns="0" bIns="0" rtlCol="0" anchor="ctr"/>
          <a:lstStyle/>
          <a:p>
            <a:pPr algn="ctr" indent="0" marL="0">
              <a:buNone/>
            </a:pPr>
            <a:r>
              <a:rPr lang="en-US" sz="2400" b="1" dirty="0">
                <a:solidFill>
                  <a:srgbClr val="1F3D6B"/>
                </a:solidFill>
                <a:latin typeface="Arial" pitchFamily="34" charset="0"/>
                <a:ea typeface="Arial" pitchFamily="34" charset="-122"/>
                <a:cs typeface="Arial" pitchFamily="34" charset="-120"/>
              </a:rPr>
              <a:t>ASSURANCE TURNO [1-3 / 2-4]</a:t>
            </a:r>
            <a:endParaRPr lang="en-US" sz="2400" dirty="0"/>
          </a:p>
        </p:txBody>
      </p:sp>
      <p:sp>
        <p:nvSpPr>
          <p:cNvPr id="4" name="Text 1"/>
          <p:cNvSpPr txBox="1"/>
          <p:nvPr/>
        </p:nvSpPr>
        <p:spPr>
          <a:xfrm>
            <a:off x="2194560" y="685800"/>
            <a:ext cx="6949440" cy="256032"/>
          </a:xfrm>
          <a:prstGeom prst="rect">
            <a:avLst/>
          </a:prstGeom>
          <a:noFill/>
          <a:ln/>
        </p:spPr>
        <p:txBody>
          <a:bodyPr wrap="square" lIns="0" tIns="0" rIns="0" bIns="0" rtlCol="0" anchor="ctr"/>
          <a:lstStyle/>
          <a:p>
            <a:pPr algn="ctr" indent="0" marL="0">
              <a:buNone/>
            </a:pPr>
            <a:r>
              <a:rPr lang="en-US" sz="1150" b="1" dirty="0">
                <a:solidFill>
                  <a:srgbClr val="1F3D6B"/>
                </a:solidFill>
                <a:latin typeface="Arial" pitchFamily="34" charset="0"/>
                <a:ea typeface="Arial" pitchFamily="34" charset="-122"/>
                <a:cs typeface="Arial" pitchFamily="34" charset="-120"/>
              </a:rPr>
              <a:t>FOCOS PRIORITARIOS DE VERIFICACIÓN EN TERRENO – ITO</a:t>
            </a:r>
            <a:endParaRPr lang="en-US" sz="1150" dirty="0"/>
          </a:p>
        </p:txBody>
      </p:sp>
      <p:sp>
        <p:nvSpPr>
          <p:cNvPr id="5" name="Text 2"/>
          <p:cNvSpPr txBox="1"/>
          <p:nvPr/>
        </p:nvSpPr>
        <p:spPr>
          <a:xfrm>
            <a:off x="9144000" y="128016"/>
            <a:ext cx="1234440" cy="182880"/>
          </a:xfrm>
          <a:prstGeom prst="rect">
            <a:avLst/>
          </a:prstGeom>
          <a:noFill/>
          <a:ln/>
        </p:spPr>
        <p:txBody>
          <a:bodyPr wrap="square" lIns="0" tIns="0" rIns="0" bIns="0" rtlCol="0" anchor="ctr"/>
          <a:lstStyle/>
          <a:p>
            <a:pPr indent="0" marL="0">
              <a:buNone/>
            </a:pPr>
            <a:r>
              <a:rPr lang="en-US" sz="800" b="1" dirty="0">
                <a:solidFill>
                  <a:srgbClr val="1F3D6B"/>
                </a:solidFill>
                <a:latin typeface="Arial" pitchFamily="34" charset="0"/>
                <a:ea typeface="Arial" pitchFamily="34" charset="-122"/>
                <a:cs typeface="Arial" pitchFamily="34" charset="-120"/>
              </a:rPr>
              <a:t>FECHA / PERÍODO:</a:t>
            </a:r>
            <a:endParaRPr lang="en-US" sz="800" dirty="0"/>
          </a:p>
        </p:txBody>
      </p:sp>
      <p:sp>
        <p:nvSpPr>
          <p:cNvPr id="6" name="Text 3"/>
          <p:cNvSpPr txBox="1"/>
          <p:nvPr/>
        </p:nvSpPr>
        <p:spPr>
          <a:xfrm>
            <a:off x="10424160" y="128016"/>
            <a:ext cx="1417320" cy="182880"/>
          </a:xfrm>
          <a:prstGeom prst="rect">
            <a:avLst/>
          </a:prstGeom>
          <a:noFill/>
          <a:ln/>
        </p:spPr>
        <p:txBody>
          <a:bodyPr wrap="square" lIns="0" tIns="0" rIns="0" bIns="0" rtlCol="0" anchor="ctr"/>
          <a:lstStyle/>
          <a:p>
            <a:pPr indent="0" marL="0">
              <a:buNone/>
            </a:pPr>
            <a:r>
              <a:rPr lang="en-US" sz="800" i="1" dirty="0">
                <a:solidFill>
                  <a:srgbClr val="7A8594"/>
                </a:solidFill>
                <a:latin typeface="Arial" pitchFamily="34" charset="0"/>
                <a:ea typeface="Arial" pitchFamily="34" charset="-122"/>
                <a:cs typeface="Arial" pitchFamily="34" charset="-120"/>
              </a:rPr>
              <a:t>[del __ al __ / MES]</a:t>
            </a:r>
            <a:endParaRPr lang="en-US" sz="800" dirty="0"/>
          </a:p>
        </p:txBody>
      </p:sp>
      <p:sp>
        <p:nvSpPr>
          <p:cNvPr id="7" name="Text 4"/>
          <p:cNvSpPr txBox="1"/>
          <p:nvPr/>
        </p:nvSpPr>
        <p:spPr>
          <a:xfrm>
            <a:off x="9144000" y="310896"/>
            <a:ext cx="1234440" cy="182880"/>
          </a:xfrm>
          <a:prstGeom prst="rect">
            <a:avLst/>
          </a:prstGeom>
          <a:noFill/>
          <a:ln/>
        </p:spPr>
        <p:txBody>
          <a:bodyPr wrap="square" lIns="0" tIns="0" rIns="0" bIns="0" rtlCol="0" anchor="ctr"/>
          <a:lstStyle/>
          <a:p>
            <a:pPr indent="0" marL="0">
              <a:buNone/>
            </a:pPr>
            <a:r>
              <a:rPr lang="en-US" sz="800" b="1" dirty="0">
                <a:solidFill>
                  <a:srgbClr val="1F3D6B"/>
                </a:solidFill>
                <a:latin typeface="Arial" pitchFamily="34" charset="0"/>
                <a:ea typeface="Arial" pitchFamily="34" charset="-122"/>
                <a:cs typeface="Arial" pitchFamily="34" charset="-120"/>
              </a:rPr>
              <a:t>TURNO:</a:t>
            </a:r>
            <a:endParaRPr lang="en-US" sz="800" dirty="0"/>
          </a:p>
        </p:txBody>
      </p:sp>
      <p:sp>
        <p:nvSpPr>
          <p:cNvPr id="8" name="Text 5"/>
          <p:cNvSpPr txBox="1"/>
          <p:nvPr/>
        </p:nvSpPr>
        <p:spPr>
          <a:xfrm>
            <a:off x="10424160" y="310896"/>
            <a:ext cx="1417320" cy="182880"/>
          </a:xfrm>
          <a:prstGeom prst="rect">
            <a:avLst/>
          </a:prstGeom>
          <a:noFill/>
          <a:ln/>
        </p:spPr>
        <p:txBody>
          <a:bodyPr wrap="square" lIns="0" tIns="0" rIns="0" bIns="0" rtlCol="0" anchor="ctr"/>
          <a:lstStyle/>
          <a:p>
            <a:pPr indent="0" marL="0">
              <a:buNone/>
            </a:pPr>
            <a:r>
              <a:rPr lang="en-US" sz="800" dirty="0">
                <a:solidFill>
                  <a:srgbClr val="222222"/>
                </a:solidFill>
                <a:latin typeface="Arial" pitchFamily="34" charset="0"/>
                <a:ea typeface="Arial" pitchFamily="34" charset="-122"/>
                <a:cs typeface="Arial" pitchFamily="34" charset="-120"/>
              </a:rPr>
              <a:t>☐ 1-3     ☐ 2-4</a:t>
            </a:r>
            <a:endParaRPr lang="en-US" sz="800" dirty="0"/>
          </a:p>
        </p:txBody>
      </p:sp>
      <p:sp>
        <p:nvSpPr>
          <p:cNvPr id="9" name="Text 6"/>
          <p:cNvSpPr txBox="1"/>
          <p:nvPr/>
        </p:nvSpPr>
        <p:spPr>
          <a:xfrm>
            <a:off x="9144000" y="493776"/>
            <a:ext cx="1234440" cy="182880"/>
          </a:xfrm>
          <a:prstGeom prst="rect">
            <a:avLst/>
          </a:prstGeom>
          <a:noFill/>
          <a:ln/>
        </p:spPr>
        <p:txBody>
          <a:bodyPr wrap="square" lIns="0" tIns="0" rIns="0" bIns="0" rtlCol="0" anchor="ctr"/>
          <a:lstStyle/>
          <a:p>
            <a:pPr indent="0" marL="0">
              <a:buNone/>
            </a:pPr>
            <a:r>
              <a:rPr lang="en-US" sz="800" b="1" dirty="0">
                <a:solidFill>
                  <a:srgbClr val="1F3D6B"/>
                </a:solidFill>
                <a:latin typeface="Arial" pitchFamily="34" charset="0"/>
                <a:ea typeface="Arial" pitchFamily="34" charset="-122"/>
                <a:cs typeface="Arial" pitchFamily="34" charset="-120"/>
              </a:rPr>
              <a:t>INSPECTOR ITO:</a:t>
            </a:r>
            <a:endParaRPr lang="en-US" sz="800" dirty="0"/>
          </a:p>
        </p:txBody>
      </p:sp>
      <p:sp>
        <p:nvSpPr>
          <p:cNvPr id="10" name="Text 7"/>
          <p:cNvSpPr txBox="1"/>
          <p:nvPr/>
        </p:nvSpPr>
        <p:spPr>
          <a:xfrm>
            <a:off x="10424160" y="493776"/>
            <a:ext cx="1417320" cy="182880"/>
          </a:xfrm>
          <a:prstGeom prst="rect">
            <a:avLst/>
          </a:prstGeom>
          <a:noFill/>
          <a:ln/>
        </p:spPr>
        <p:txBody>
          <a:bodyPr wrap="square" lIns="0" tIns="0" rIns="0" bIns="0" rtlCol="0" anchor="ctr"/>
          <a:lstStyle/>
          <a:p>
            <a:pPr indent="0" marL="0">
              <a:buNone/>
            </a:pPr>
            <a:r>
              <a:rPr lang="en-US" sz="800" dirty="0">
                <a:solidFill>
                  <a:srgbClr val="222222"/>
                </a:solidFill>
                <a:latin typeface="Arial" pitchFamily="34" charset="0"/>
                <a:ea typeface="Arial" pitchFamily="34" charset="-122"/>
                <a:cs typeface="Arial" pitchFamily="34" charset="-120"/>
              </a:rPr>
              <a:t>________________</a:t>
            </a:r>
            <a:endParaRPr lang="en-US" sz="800" dirty="0"/>
          </a:p>
        </p:txBody>
      </p:sp>
      <p:sp>
        <p:nvSpPr>
          <p:cNvPr id="11" name="Text 8"/>
          <p:cNvSpPr txBox="1"/>
          <p:nvPr/>
        </p:nvSpPr>
        <p:spPr>
          <a:xfrm>
            <a:off x="9144000" y="676656"/>
            <a:ext cx="1234440" cy="182880"/>
          </a:xfrm>
          <a:prstGeom prst="rect">
            <a:avLst/>
          </a:prstGeom>
          <a:noFill/>
          <a:ln/>
        </p:spPr>
        <p:txBody>
          <a:bodyPr wrap="square" lIns="0" tIns="0" rIns="0" bIns="0" rtlCol="0" anchor="ctr"/>
          <a:lstStyle/>
          <a:p>
            <a:pPr indent="0" marL="0">
              <a:buNone/>
            </a:pPr>
            <a:r>
              <a:rPr lang="en-US" sz="800" b="1" dirty="0">
                <a:solidFill>
                  <a:srgbClr val="1F3D6B"/>
                </a:solidFill>
                <a:latin typeface="Arial" pitchFamily="34" charset="0"/>
                <a:ea typeface="Arial" pitchFamily="34" charset="-122"/>
                <a:cs typeface="Arial" pitchFamily="34" charset="-120"/>
              </a:rPr>
              <a:t>PROYECTO / EECC:</a:t>
            </a:r>
            <a:endParaRPr lang="en-US" sz="800" dirty="0"/>
          </a:p>
        </p:txBody>
      </p:sp>
      <p:sp>
        <p:nvSpPr>
          <p:cNvPr id="12" name="Text 9"/>
          <p:cNvSpPr txBox="1"/>
          <p:nvPr/>
        </p:nvSpPr>
        <p:spPr>
          <a:xfrm>
            <a:off x="10424160" y="676656"/>
            <a:ext cx="1417320" cy="182880"/>
          </a:xfrm>
          <a:prstGeom prst="rect">
            <a:avLst/>
          </a:prstGeom>
          <a:noFill/>
          <a:ln/>
        </p:spPr>
        <p:txBody>
          <a:bodyPr wrap="square" lIns="0" tIns="0" rIns="0" bIns="0" rtlCol="0" anchor="ctr"/>
          <a:lstStyle/>
          <a:p>
            <a:pPr indent="0" marL="0">
              <a:buNone/>
            </a:pPr>
            <a:r>
              <a:rPr lang="en-US" sz="800" dirty="0">
                <a:solidFill>
                  <a:srgbClr val="222222"/>
                </a:solidFill>
                <a:latin typeface="Arial" pitchFamily="34" charset="0"/>
                <a:ea typeface="Arial" pitchFamily="34" charset="-122"/>
                <a:cs typeface="Arial" pitchFamily="34" charset="-120"/>
              </a:rPr>
              <a:t>________________</a:t>
            </a:r>
            <a:endParaRPr lang="en-US" sz="800" dirty="0"/>
          </a:p>
        </p:txBody>
      </p:sp>
      <p:sp>
        <p:nvSpPr>
          <p:cNvPr id="13" name="Text 10"/>
          <p:cNvSpPr txBox="1"/>
          <p:nvPr/>
        </p:nvSpPr>
        <p:spPr>
          <a:xfrm>
            <a:off x="9144000" y="859536"/>
            <a:ext cx="1234440" cy="182880"/>
          </a:xfrm>
          <a:prstGeom prst="rect">
            <a:avLst/>
          </a:prstGeom>
          <a:noFill/>
          <a:ln/>
        </p:spPr>
        <p:txBody>
          <a:bodyPr wrap="square" lIns="0" tIns="0" rIns="0" bIns="0" rtlCol="0" anchor="ctr"/>
          <a:lstStyle/>
          <a:p>
            <a:pPr indent="0" marL="0">
              <a:buNone/>
            </a:pPr>
            <a:r>
              <a:rPr lang="en-US" sz="800" b="1" dirty="0">
                <a:solidFill>
                  <a:srgbClr val="1F3D6B"/>
                </a:solidFill>
                <a:latin typeface="Arial" pitchFamily="34" charset="0"/>
                <a:ea typeface="Arial" pitchFamily="34" charset="-122"/>
                <a:cs typeface="Arial" pitchFamily="34" charset="-120"/>
              </a:rPr>
              <a:t>ÁREA / SECTOR:</a:t>
            </a:r>
            <a:endParaRPr lang="en-US" sz="800" dirty="0"/>
          </a:p>
        </p:txBody>
      </p:sp>
      <p:sp>
        <p:nvSpPr>
          <p:cNvPr id="14" name="Text 11"/>
          <p:cNvSpPr txBox="1"/>
          <p:nvPr/>
        </p:nvSpPr>
        <p:spPr>
          <a:xfrm>
            <a:off x="10424160" y="859536"/>
            <a:ext cx="1417320" cy="182880"/>
          </a:xfrm>
          <a:prstGeom prst="rect">
            <a:avLst/>
          </a:prstGeom>
          <a:noFill/>
          <a:ln/>
        </p:spPr>
        <p:txBody>
          <a:bodyPr wrap="square" lIns="0" tIns="0" rIns="0" bIns="0" rtlCol="0" anchor="ctr"/>
          <a:lstStyle/>
          <a:p>
            <a:pPr indent="0" marL="0">
              <a:buNone/>
            </a:pPr>
            <a:r>
              <a:rPr lang="en-US" sz="800" dirty="0">
                <a:solidFill>
                  <a:srgbClr val="222222"/>
                </a:solidFill>
                <a:latin typeface="Arial" pitchFamily="34" charset="0"/>
                <a:ea typeface="Arial" pitchFamily="34" charset="-122"/>
                <a:cs typeface="Arial" pitchFamily="34" charset="-120"/>
              </a:rPr>
              <a:t>________________</a:t>
            </a:r>
            <a:endParaRPr lang="en-US" sz="800" dirty="0"/>
          </a:p>
        </p:txBody>
      </p:sp>
      <p:sp>
        <p:nvSpPr>
          <p:cNvPr id="15" name="Shape 12"/>
          <p:cNvSpPr/>
          <p:nvPr/>
        </p:nvSpPr>
        <p:spPr>
          <a:xfrm>
            <a:off x="365760" y="1060704"/>
            <a:ext cx="11457432" cy="274320"/>
          </a:xfrm>
          <a:prstGeom prst="rect">
            <a:avLst/>
          </a:prstGeom>
          <a:solidFill>
            <a:srgbClr val="F3F6FA"/>
          </a:solidFill>
          <a:ln w="9525">
            <a:solidFill>
              <a:srgbClr val="C9D3E0"/>
            </a:solidFill>
            <a:prstDash val="solid"/>
          </a:ln>
        </p:spPr>
      </p:sp>
      <p:sp>
        <p:nvSpPr>
          <p:cNvPr id="16" name="Text 13"/>
          <p:cNvSpPr txBox="1"/>
          <p:nvPr/>
        </p:nvSpPr>
        <p:spPr>
          <a:xfrm>
            <a:off x="365760" y="1060704"/>
            <a:ext cx="1618488" cy="274320"/>
          </a:xfrm>
          <a:prstGeom prst="rect">
            <a:avLst/>
          </a:prstGeom>
          <a:solidFill>
            <a:srgbClr val="1F3D6B"/>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EVENTOS ÚLTIMOS 14 DÍAS</a:t>
            </a:r>
            <a:endParaRPr lang="en-US" sz="750" dirty="0"/>
          </a:p>
        </p:txBody>
      </p:sp>
      <p:sp>
        <p:nvSpPr>
          <p:cNvPr id="17" name="Text 14"/>
          <p:cNvSpPr txBox="1"/>
          <p:nvPr/>
        </p:nvSpPr>
        <p:spPr>
          <a:xfrm>
            <a:off x="2103120" y="1060704"/>
            <a:ext cx="9646920" cy="274320"/>
          </a:xfrm>
          <a:prstGeom prst="rect">
            <a:avLst/>
          </a:prstGeom>
          <a:noFill/>
          <a:ln/>
        </p:spPr>
        <p:txBody>
          <a:bodyPr wrap="square" lIns="0" tIns="0" rIns="0" bIns="0" rtlCol="0" anchor="ctr"/>
          <a:lstStyle/>
          <a:p>
            <a:pPr indent="0" marL="0">
              <a:buNone/>
            </a:pPr>
            <a:r>
              <a:rPr lang="en-US" sz="850" i="1" dirty="0">
                <a:solidFill>
                  <a:srgbClr val="7A8594"/>
                </a:solidFill>
                <a:latin typeface="Arial" pitchFamily="34" charset="0"/>
                <a:ea typeface="Arial" pitchFamily="34" charset="-122"/>
                <a:cs typeface="Arial" pitchFamily="34" charset="-120"/>
              </a:rPr>
              <a:t>[del __ al __ MES]     </a:t>
            </a:r>
            <a:pPr indent="0" marL="0">
              <a:buNone/>
            </a:pPr>
            <a:r>
              <a:rPr lang="en-US" sz="850" b="1" dirty="0">
                <a:solidFill>
                  <a:srgbClr val="1F3D6B"/>
                </a:solidFill>
                <a:latin typeface="Arial" pitchFamily="34" charset="0"/>
                <a:ea typeface="Arial" pitchFamily="34" charset="-122"/>
                <a:cs typeface="Arial" pitchFamily="34" charset="-120"/>
              </a:rPr>
              <a:t>Total </a:t>
            </a:r>
            <a:pPr indent="0" marL="0">
              <a:buNone/>
            </a:pPr>
            <a:r>
              <a:rPr lang="en-US" sz="850" b="1" i="1" dirty="0">
                <a:solidFill>
                  <a:srgbClr val="7A8594"/>
                </a:solidFill>
                <a:latin typeface="Arial" pitchFamily="34" charset="0"/>
                <a:ea typeface="Arial" pitchFamily="34" charset="-122"/>
                <a:cs typeface="Arial" pitchFamily="34" charset="-120"/>
              </a:rPr>
              <a:t>[N]</a:t>
            </a:r>
            <a:pPr indent="0" marL="0">
              <a:buNone/>
            </a:pPr>
            <a:r>
              <a:rPr lang="en-US" sz="850" dirty="0">
                <a:solidFill>
                  <a:srgbClr val="222222"/>
                </a:solidFill>
                <a:latin typeface="Arial" pitchFamily="34" charset="0"/>
                <a:ea typeface="Arial" pitchFamily="34" charset="-122"/>
                <a:cs typeface="Arial" pitchFamily="34" charset="-120"/>
              </a:rPr>
              <a:t>    ·    </a:t>
            </a:r>
            <a:pPr indent="0" marL="0">
              <a:buNone/>
            </a:pPr>
            <a:r>
              <a:rPr lang="en-US" sz="850" b="1" dirty="0">
                <a:solidFill>
                  <a:srgbClr val="C62828"/>
                </a:solidFill>
                <a:latin typeface="Arial" pitchFamily="34" charset="0"/>
                <a:ea typeface="Arial" pitchFamily="34" charset="-122"/>
                <a:cs typeface="Arial" pitchFamily="34" charset="-120"/>
              </a:rPr>
              <a:t>CAAP </a:t>
            </a:r>
            <a:pPr indent="0" marL="0">
              <a:buNone/>
            </a:pPr>
            <a:r>
              <a:rPr lang="en-US" sz="850" b="1" i="1" dirty="0">
                <a:solidFill>
                  <a:srgbClr val="7A8594"/>
                </a:solidFill>
                <a:latin typeface="Arial" pitchFamily="34" charset="0"/>
                <a:ea typeface="Arial" pitchFamily="34" charset="-122"/>
                <a:cs typeface="Arial" pitchFamily="34" charset="-120"/>
              </a:rPr>
              <a:t>[n]</a:t>
            </a:r>
            <a:pPr indent="0" marL="0">
              <a:buNone/>
            </a:pPr>
            <a:r>
              <a:rPr lang="en-US" sz="850" dirty="0">
                <a:solidFill>
                  <a:srgbClr val="222222"/>
                </a:solidFill>
                <a:latin typeface="Arial" pitchFamily="34" charset="0"/>
                <a:ea typeface="Arial" pitchFamily="34" charset="-122"/>
                <a:cs typeface="Arial" pitchFamily="34" charset="-120"/>
              </a:rPr>
              <a:t>    ·    </a:t>
            </a:r>
            <a:pPr indent="0" marL="0">
              <a:buNone/>
            </a:pPr>
            <a:r>
              <a:rPr lang="en-US" sz="850" b="1" dirty="0">
                <a:solidFill>
                  <a:srgbClr val="C62828"/>
                </a:solidFill>
                <a:latin typeface="Arial" pitchFamily="34" charset="0"/>
                <a:ea typeface="Arial" pitchFamily="34" charset="-122"/>
                <a:cs typeface="Arial" pitchFamily="34" charset="-120"/>
              </a:rPr>
              <a:t>HAP </a:t>
            </a:r>
            <a:pPr indent="0" marL="0">
              <a:buNone/>
            </a:pPr>
            <a:r>
              <a:rPr lang="en-US" sz="850" b="1" i="1" dirty="0">
                <a:solidFill>
                  <a:srgbClr val="7A8594"/>
                </a:solidFill>
                <a:latin typeface="Arial" pitchFamily="34" charset="0"/>
                <a:ea typeface="Arial" pitchFamily="34" charset="-122"/>
                <a:cs typeface="Arial" pitchFamily="34" charset="-120"/>
              </a:rPr>
              <a:t>[n]</a:t>
            </a:r>
            <a:pPr indent="0" marL="0">
              <a:buNone/>
            </a:pPr>
            <a:r>
              <a:rPr lang="en-US" sz="850" dirty="0">
                <a:solidFill>
                  <a:srgbClr val="222222"/>
                </a:solidFill>
                <a:latin typeface="Arial" pitchFamily="34" charset="0"/>
                <a:ea typeface="Arial" pitchFamily="34" charset="-122"/>
                <a:cs typeface="Arial" pitchFamily="34" charset="-120"/>
              </a:rPr>
              <a:t>    ·    </a:t>
            </a:r>
            <a:pPr indent="0" marL="0">
              <a:buNone/>
            </a:pPr>
            <a:r>
              <a:rPr lang="en-US" sz="850" b="1" dirty="0">
                <a:solidFill>
                  <a:srgbClr val="B35C00"/>
                </a:solidFill>
                <a:latin typeface="Arial" pitchFamily="34" charset="0"/>
                <a:ea typeface="Arial" pitchFamily="34" charset="-122"/>
                <a:cs typeface="Arial" pitchFamily="34" charset="-120"/>
              </a:rPr>
              <a:t>CBP </a:t>
            </a:r>
            <a:pPr indent="0" marL="0">
              <a:buNone/>
            </a:pPr>
            <a:r>
              <a:rPr lang="en-US" sz="850" b="1" i="1" dirty="0">
                <a:solidFill>
                  <a:srgbClr val="7A8594"/>
                </a:solidFill>
                <a:latin typeface="Arial" pitchFamily="34" charset="0"/>
                <a:ea typeface="Arial" pitchFamily="34" charset="-122"/>
                <a:cs typeface="Arial" pitchFamily="34" charset="-120"/>
              </a:rPr>
              <a:t>[n]</a:t>
            </a:r>
            <a:pPr indent="0" marL="0">
              <a:buNone/>
            </a:pPr>
            <a:r>
              <a:rPr lang="en-US" sz="850" dirty="0">
                <a:solidFill>
                  <a:srgbClr val="222222"/>
                </a:solidFill>
                <a:latin typeface="Arial" pitchFamily="34" charset="0"/>
                <a:ea typeface="Arial" pitchFamily="34" charset="-122"/>
                <a:cs typeface="Arial" pitchFamily="34" charset="-120"/>
              </a:rPr>
              <a:t>    ·    </a:t>
            </a:r>
            <a:pPr indent="0" marL="0">
              <a:buNone/>
            </a:pPr>
            <a:r>
              <a:rPr lang="en-US" sz="850" b="1" dirty="0">
                <a:solidFill>
                  <a:srgbClr val="B35C00"/>
                </a:solidFill>
                <a:latin typeface="Arial" pitchFamily="34" charset="0"/>
                <a:ea typeface="Arial" pitchFamily="34" charset="-122"/>
                <a:cs typeface="Arial" pitchFamily="34" charset="-120"/>
              </a:rPr>
              <a:t>HBP </a:t>
            </a:r>
            <a:pPr indent="0" marL="0">
              <a:buNone/>
            </a:pPr>
            <a:r>
              <a:rPr lang="en-US" sz="850" b="1" i="1" dirty="0">
                <a:solidFill>
                  <a:srgbClr val="7A8594"/>
                </a:solidFill>
                <a:latin typeface="Arial" pitchFamily="34" charset="0"/>
                <a:ea typeface="Arial" pitchFamily="34" charset="-122"/>
                <a:cs typeface="Arial" pitchFamily="34" charset="-120"/>
              </a:rPr>
              <a:t>[n]</a:t>
            </a:r>
            <a:pPr indent="0" marL="0">
              <a:buNone/>
            </a:pPr>
            <a:r>
              <a:rPr lang="en-US" sz="850" dirty="0">
                <a:solidFill>
                  <a:srgbClr val="222222"/>
                </a:solidFill>
                <a:latin typeface="Arial" pitchFamily="34" charset="0"/>
                <a:ea typeface="Arial" pitchFamily="34" charset="-122"/>
                <a:cs typeface="Arial" pitchFamily="34" charset="-120"/>
              </a:rPr>
              <a:t>    ·    </a:t>
            </a:r>
            <a:pPr indent="0" marL="0">
              <a:buNone/>
            </a:pPr>
            <a:r>
              <a:rPr lang="en-US" sz="850" b="1" dirty="0">
                <a:solidFill>
                  <a:srgbClr val="1F3D6B"/>
                </a:solidFill>
                <a:latin typeface="Arial" pitchFamily="34" charset="0"/>
                <a:ea typeface="Arial" pitchFamily="34" charset="-122"/>
                <a:cs typeface="Arial" pitchFamily="34" charset="-120"/>
              </a:rPr>
              <a:t>vs. 14 días anteriores: </a:t>
            </a:r>
            <a:pPr indent="0" marL="0">
              <a:buNone/>
            </a:pPr>
            <a:r>
              <a:rPr lang="en-US" sz="850" b="1" i="1" dirty="0">
                <a:solidFill>
                  <a:srgbClr val="7A8594"/>
                </a:solidFill>
                <a:latin typeface="Arial" pitchFamily="34" charset="0"/>
                <a:ea typeface="Arial" pitchFamily="34" charset="-122"/>
                <a:cs typeface="Arial" pitchFamily="34" charset="-120"/>
              </a:rPr>
              <a:t>[N] [▲ / ▼ / =]</a:t>
            </a:r>
            <a:endParaRPr lang="en-US" sz="850" dirty="0"/>
          </a:p>
        </p:txBody>
      </p:sp>
      <p:sp>
        <p:nvSpPr>
          <p:cNvPr id="18" name="Text 15"/>
          <p:cNvSpPr txBox="1"/>
          <p:nvPr/>
        </p:nvSpPr>
        <p:spPr>
          <a:xfrm>
            <a:off x="365760" y="1389888"/>
            <a:ext cx="777240" cy="201168"/>
          </a:xfrm>
          <a:prstGeom prst="rect">
            <a:avLst/>
          </a:prstGeom>
          <a:solidFill>
            <a:srgbClr val="C62828"/>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N1 · CRÍTICO</a:t>
            </a:r>
            <a:endParaRPr lang="en-US" sz="700" dirty="0"/>
          </a:p>
        </p:txBody>
      </p:sp>
      <p:sp>
        <p:nvSpPr>
          <p:cNvPr id="19" name="Text 16"/>
          <p:cNvSpPr txBox="1"/>
          <p:nvPr/>
        </p:nvSpPr>
        <p:spPr>
          <a:xfrm>
            <a:off x="1207008" y="1389888"/>
            <a:ext cx="777240" cy="201168"/>
          </a:xfrm>
          <a:prstGeom prst="rect">
            <a:avLst/>
          </a:prstGeom>
          <a:solidFill>
            <a:srgbClr val="E67E22"/>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N2 · ALTO</a:t>
            </a:r>
            <a:endParaRPr lang="en-US" sz="700" dirty="0"/>
          </a:p>
        </p:txBody>
      </p:sp>
      <p:sp>
        <p:nvSpPr>
          <p:cNvPr id="20" name="Text 17"/>
          <p:cNvSpPr txBox="1"/>
          <p:nvPr/>
        </p:nvSpPr>
        <p:spPr>
          <a:xfrm>
            <a:off x="2103120" y="1389888"/>
            <a:ext cx="9720072" cy="201168"/>
          </a:xfrm>
          <a:prstGeom prst="rect">
            <a:avLst/>
          </a:prstGeom>
          <a:noFill/>
          <a:ln/>
        </p:spPr>
        <p:txBody>
          <a:bodyPr wrap="square" lIns="0" tIns="0" rIns="0" bIns="0" rtlCol="0" anchor="ctr"/>
          <a:lstStyle/>
          <a:p>
            <a:pPr indent="0" marL="0">
              <a:buNone/>
            </a:pPr>
            <a:r>
              <a:rPr lang="en-US" sz="700" b="1" dirty="0">
                <a:solidFill>
                  <a:srgbClr val="1F3D6B"/>
                </a:solidFill>
                <a:latin typeface="Arial" pitchFamily="34" charset="0"/>
                <a:ea typeface="Arial" pitchFamily="34" charset="-122"/>
                <a:cs typeface="Arial" pitchFamily="34" charset="-120"/>
              </a:rPr>
              <a:t>Evento origen:  </a:t>
            </a:r>
            <a:pPr indent="0" marL="0">
              <a:buNone/>
            </a:pPr>
            <a:r>
              <a:rPr lang="en-US" sz="700" b="1" dirty="0">
                <a:solidFill>
                  <a:srgbClr val="222222"/>
                </a:solidFill>
                <a:latin typeface="Arial" pitchFamily="34" charset="0"/>
                <a:ea typeface="Arial" pitchFamily="34" charset="-122"/>
                <a:cs typeface="Arial" pitchFamily="34" charset="-120"/>
              </a:rPr>
              <a:t>CAAP</a:t>
            </a:r>
            <a:pPr indent="0" marL="0">
              <a:buNone/>
            </a:pPr>
            <a:r>
              <a:rPr lang="en-US" sz="700" dirty="0">
                <a:solidFill>
                  <a:srgbClr val="222222"/>
                </a:solidFill>
                <a:latin typeface="Arial" pitchFamily="34" charset="0"/>
                <a:ea typeface="Arial" pitchFamily="34" charset="-122"/>
                <a:cs typeface="Arial" pitchFamily="34" charset="-120"/>
              </a:rPr>
              <a:t> cuasi accidente alto pot.  ·  </a:t>
            </a:r>
            <a:pPr indent="0" marL="0">
              <a:buNone/>
            </a:pPr>
            <a:r>
              <a:rPr lang="en-US" sz="700" b="1" dirty="0">
                <a:solidFill>
                  <a:srgbClr val="222222"/>
                </a:solidFill>
                <a:latin typeface="Arial" pitchFamily="34" charset="0"/>
                <a:ea typeface="Arial" pitchFamily="34" charset="-122"/>
                <a:cs typeface="Arial" pitchFamily="34" charset="-120"/>
              </a:rPr>
              <a:t>HAP</a:t>
            </a:r>
            <a:pPr indent="0" marL="0">
              <a:buNone/>
            </a:pPr>
            <a:r>
              <a:rPr lang="en-US" sz="700" dirty="0">
                <a:solidFill>
                  <a:srgbClr val="222222"/>
                </a:solidFill>
                <a:latin typeface="Arial" pitchFamily="34" charset="0"/>
                <a:ea typeface="Arial" pitchFamily="34" charset="-122"/>
                <a:cs typeface="Arial" pitchFamily="34" charset="-120"/>
              </a:rPr>
              <a:t> hallazgo alto pot.  ·  </a:t>
            </a:r>
            <a:pPr indent="0" marL="0">
              <a:buNone/>
            </a:pPr>
            <a:r>
              <a:rPr lang="en-US" sz="700" b="1" dirty="0">
                <a:solidFill>
                  <a:srgbClr val="222222"/>
                </a:solidFill>
                <a:latin typeface="Arial" pitchFamily="34" charset="0"/>
                <a:ea typeface="Arial" pitchFamily="34" charset="-122"/>
                <a:cs typeface="Arial" pitchFamily="34" charset="-120"/>
              </a:rPr>
              <a:t>CBP</a:t>
            </a:r>
            <a:pPr indent="0" marL="0">
              <a:buNone/>
            </a:pPr>
            <a:r>
              <a:rPr lang="en-US" sz="700" dirty="0">
                <a:solidFill>
                  <a:srgbClr val="222222"/>
                </a:solidFill>
                <a:latin typeface="Arial" pitchFamily="34" charset="0"/>
                <a:ea typeface="Arial" pitchFamily="34" charset="-122"/>
                <a:cs typeface="Arial" pitchFamily="34" charset="-120"/>
              </a:rPr>
              <a:t> cuasi accidente bajo pot.  ·  </a:t>
            </a:r>
            <a:pPr indent="0" marL="0">
              <a:buNone/>
            </a:pPr>
            <a:r>
              <a:rPr lang="en-US" sz="700" b="1" dirty="0">
                <a:solidFill>
                  <a:srgbClr val="222222"/>
                </a:solidFill>
                <a:latin typeface="Arial" pitchFamily="34" charset="0"/>
                <a:ea typeface="Arial" pitchFamily="34" charset="-122"/>
                <a:cs typeface="Arial" pitchFamily="34" charset="-120"/>
              </a:rPr>
              <a:t>HBP</a:t>
            </a:r>
            <a:pPr indent="0" marL="0">
              <a:buNone/>
            </a:pPr>
            <a:r>
              <a:rPr lang="en-US" sz="700" dirty="0">
                <a:solidFill>
                  <a:srgbClr val="222222"/>
                </a:solidFill>
                <a:latin typeface="Arial" pitchFamily="34" charset="0"/>
                <a:ea typeface="Arial" pitchFamily="34" charset="-122"/>
                <a:cs typeface="Arial" pitchFamily="34" charset="-120"/>
              </a:rPr>
              <a:t> hallazgo bajo pot.  ·  </a:t>
            </a:r>
            <a:pPr indent="0" marL="0">
              <a:buNone/>
            </a:pPr>
            <a:r>
              <a:rPr lang="en-US" sz="700" b="1" dirty="0">
                <a:solidFill>
                  <a:srgbClr val="222222"/>
                </a:solidFill>
                <a:latin typeface="Arial" pitchFamily="34" charset="0"/>
                <a:ea typeface="Arial" pitchFamily="34" charset="-122"/>
                <a:cs typeface="Arial" pitchFamily="34" charset="-120"/>
              </a:rPr>
              <a:t>[T1-3] / [T2-4]</a:t>
            </a:r>
            <a:pPr indent="0" marL="0">
              <a:buNone/>
            </a:pPr>
            <a:r>
              <a:rPr lang="en-US" sz="700" dirty="0">
                <a:solidFill>
                  <a:srgbClr val="222222"/>
                </a:solidFill>
                <a:latin typeface="Arial" pitchFamily="34" charset="0"/>
                <a:ea typeface="Arial" pitchFamily="34" charset="-122"/>
                <a:cs typeface="Arial" pitchFamily="34" charset="-120"/>
              </a:rPr>
              <a:t> turno que lo reportó</a:t>
            </a:r>
            <a:endParaRPr lang="en-US" sz="7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365760" y="1645920"/>
          <a:ext cx="9143771" cy="914400"/>
        </p:xfrm>
        <a:graphic>
          <a:graphicData uri="http://schemas.openxmlformats.org/drawingml/2006/table">
            <a:tbl>
              <a:tblPr/>
              <a:tblGrid>
                <a:gridCol w="960120"/>
                <a:gridCol w="4206240"/>
                <a:gridCol w="2926080"/>
                <a:gridCol w="1645920"/>
                <a:gridCol w="1719072"/>
              </a:tblGrid>
              <a:tr h="310896">
                <a:tc>
                  <a:txBody>
                    <a:bodyPr/>
                    <a:lstStyle/>
                    <a:p>
                      <a:pPr algn="ctr" indent="0" marL="0">
                        <a:buNone/>
                      </a:pPr>
                      <a:r>
                        <a:rPr lang="en-US" sz="680" b="1" dirty="0">
                          <a:solidFill>
                            <a:srgbClr val="FFFFFF"/>
                          </a:solidFill>
                          <a:latin typeface="Arial" pitchFamily="34" charset="0"/>
                          <a:ea typeface="Arial" pitchFamily="34" charset="-122"/>
                          <a:cs typeface="Arial" pitchFamily="34" charset="-120"/>
                        </a:rPr>
                        <a:t>NIVEL / PRIORIDAD</a:t>
                      </a:r>
                      <a:endParaRPr lang="en-US" sz="68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F3D6B"/>
                    </a:solidFill>
                  </a:tcPr>
                </a:tc>
                <a:tc>
                  <a:txBody>
                    <a:bodyPr/>
                    <a:lstStyle/>
                    <a:p>
                      <a:pPr algn="ctr" indent="0" marL="0">
                        <a:buNone/>
                      </a:pPr>
                      <a:r>
                        <a:rPr lang="en-US" sz="680" b="1" dirty="0">
                          <a:solidFill>
                            <a:srgbClr val="FFFFFF"/>
                          </a:solidFill>
                          <a:latin typeface="Arial" pitchFamily="34" charset="0"/>
                          <a:ea typeface="Arial" pitchFamily="34" charset="-122"/>
                          <a:cs typeface="Arial" pitchFamily="34" charset="-120"/>
                        </a:rPr>
                        <a:t>FOCO DE ASSURANCE (INSTRUCCIÓN OPERACIONAL Y CRITERIO DE RESTRICCIÓN)</a:t>
                      </a:r>
                      <a:endParaRPr lang="en-US" sz="68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F3D6B"/>
                    </a:solidFill>
                  </a:tcPr>
                </a:tc>
                <a:tc>
                  <a:txBody>
                    <a:bodyPr/>
                    <a:lstStyle/>
                    <a:p>
                      <a:pPr algn="ctr" indent="0" marL="0">
                        <a:buNone/>
                      </a:pPr>
                      <a:r>
                        <a:rPr lang="en-US" sz="680" b="1" dirty="0">
                          <a:solidFill>
                            <a:srgbClr val="FFFFFF"/>
                          </a:solidFill>
                          <a:latin typeface="Arial" pitchFamily="34" charset="0"/>
                          <a:ea typeface="Arial" pitchFamily="34" charset="-122"/>
                          <a:cs typeface="Arial" pitchFamily="34" charset="-120"/>
                        </a:rPr>
                        <a:t>EVENTO / EVIDENCIA ORIGEN</a:t>
                      </a:r>
                      <a:endParaRPr lang="en-US" sz="68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F3D6B"/>
                    </a:solidFill>
                  </a:tcPr>
                </a:tc>
                <a:tc>
                  <a:txBody>
                    <a:bodyPr/>
                    <a:lstStyle/>
                    <a:p>
                      <a:pPr algn="ctr" indent="0" marL="0">
                        <a:buNone/>
                      </a:pPr>
                      <a:r>
                        <a:rPr lang="en-US" sz="680" b="1" dirty="0">
                          <a:solidFill>
                            <a:srgbClr val="FFFFFF"/>
                          </a:solidFill>
                          <a:latin typeface="Arial" pitchFamily="34" charset="0"/>
                          <a:ea typeface="Arial" pitchFamily="34" charset="-122"/>
                          <a:cs typeface="Arial" pitchFamily="34" charset="-120"/>
                        </a:rPr>
                        <a:t>HERRAMIENTA PREVENTIVA SGE</a:t>
                      </a:r>
                      <a:endParaRPr lang="en-US" sz="68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F3D6B"/>
                    </a:solidFill>
                  </a:tcPr>
                </a:tc>
                <a:tc>
                  <a:txBody>
                    <a:bodyPr/>
                    <a:lstStyle/>
                    <a:p>
                      <a:pPr algn="ctr" indent="0" marL="0">
                        <a:buNone/>
                      </a:pPr>
                      <a:r>
                        <a:rPr lang="en-US" sz="680" b="1" dirty="0">
                          <a:solidFill>
                            <a:srgbClr val="FFFFFF"/>
                          </a:solidFill>
                          <a:latin typeface="Arial" pitchFamily="34" charset="0"/>
                          <a:ea typeface="Arial" pitchFamily="34" charset="-122"/>
                          <a:cs typeface="Arial" pitchFamily="34" charset="-120"/>
                        </a:rPr>
                        <a:t>EVIDENCIA / REGISTRO ESPERADO</a:t>
                      </a:r>
                      <a:endParaRPr lang="en-US" sz="68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F3D6B"/>
                    </a:solidFill>
                  </a:tcPr>
                </a:tc>
              </a:tr>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N1 · CRÍTICO</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[TIPO]</a:t>
                      </a:r>
                      <a:endParaRPr lang="en-US" sz="80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62828"/>
                    </a:solidFill>
                  </a:tcPr>
                </a:tc>
                <a:tc>
                  <a:txBody>
                    <a:bodyPr/>
                    <a:lstStyle/>
                    <a:p>
                      <a:pPr indent="0" marL="0">
                        <a:buNone/>
                      </a:pPr>
                      <a:r>
                        <a:rPr lang="en-US" sz="630" b="1" i="1" dirty="0">
                          <a:solidFill>
                            <a:srgbClr val="7A8594"/>
                          </a:solidFill>
                          <a:latin typeface="Arial" pitchFamily="34" charset="0"/>
                          <a:ea typeface="Arial" pitchFamily="34" charset="-122"/>
                          <a:cs typeface="Arial" pitchFamily="34" charset="-120"/>
                        </a:rPr>
                        <a:t>[Tema del foco]. </a:t>
                      </a:r>
                      <a:pPr indent="0" marL="0">
                        <a:buNone/>
                      </a:pPr>
                      <a:r>
                        <a:rPr lang="en-US" sz="630" i="1" dirty="0">
                          <a:solidFill>
                            <a:srgbClr val="7A8594"/>
                          </a:solidFill>
                          <a:latin typeface="Arial" pitchFamily="34" charset="0"/>
                          <a:ea typeface="Arial" pitchFamily="34" charset="-122"/>
                          <a:cs typeface="Arial" pitchFamily="34" charset="-120"/>
                        </a:rPr>
                        <a:t>[Verificar… qué se revisa, dónde y bajo qué estándar. Máx. 3 líneas]</a:t>
                      </a:r>
                      <a:endParaRPr lang="en-US" sz="630" dirty="0">
                        <a:latin typeface="Arial" charset="0"/>
                        <a:ea typeface="Arial" charset="0"/>
                        <a:cs typeface="Arial" charset="0"/>
                      </a:endParaRPr>
                    </a:p>
                    <a:p>
                      <a:pPr indent="0" marL="0">
                        <a:buNone/>
                      </a:pPr>
                      <a:r>
                        <a:rPr lang="en-US" sz="630" b="1" dirty="0">
                          <a:solidFill>
                            <a:srgbClr val="C62828"/>
                          </a:solidFill>
                          <a:latin typeface="Arial" pitchFamily="34" charset="0"/>
                          <a:ea typeface="Arial" pitchFamily="34" charset="-122"/>
                          <a:cs typeface="Arial" pitchFamily="34" charset="-120"/>
                        </a:rPr>
                        <a:t>Criterio de restricción: </a:t>
                      </a:r>
                      <a:pPr indent="0" marL="0">
                        <a:buNone/>
                      </a:pPr>
                      <a:r>
                        <a:rPr lang="en-US" sz="630" i="1" dirty="0">
                          <a:solidFill>
                            <a:srgbClr val="7A8594"/>
                          </a:solidFill>
                          <a:latin typeface="Arial" pitchFamily="34" charset="0"/>
                          <a:ea typeface="Arial" pitchFamily="34" charset="-122"/>
                          <a:cs typeface="Arial" pitchFamily="34" charset="-120"/>
                        </a:rPr>
                        <a:t>[Cuándo se prohíbe o se detiene la tarea. Máx. 2 líneas]</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[Herramienta + herramienta + ASP]</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[Registro verificable] / registro fotográfico</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N1 · CRÍTICO</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[TIPO]</a:t>
                      </a:r>
                      <a:endParaRPr lang="en-US" sz="80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62828"/>
                    </a:solidFill>
                  </a:tcPr>
                </a:tc>
                <a:tc>
                  <a:txBody>
                    <a:bodyPr/>
                    <a:lstStyle/>
                    <a:p>
                      <a:pPr indent="0" marL="0">
                        <a:buNone/>
                      </a:pPr>
                      <a:r>
                        <a:rPr lang="en-US" sz="630" b="1" i="1" dirty="0">
                          <a:solidFill>
                            <a:srgbClr val="7A8594"/>
                          </a:solidFill>
                          <a:latin typeface="Arial" pitchFamily="34" charset="0"/>
                          <a:ea typeface="Arial" pitchFamily="34" charset="-122"/>
                          <a:cs typeface="Arial" pitchFamily="34" charset="-120"/>
                        </a:rPr>
                        <a:t>[Tema del foco]. </a:t>
                      </a:r>
                      <a:pPr indent="0" marL="0">
                        <a:buNone/>
                      </a:pPr>
                      <a:r>
                        <a:rPr lang="en-US" sz="630" i="1" dirty="0">
                          <a:solidFill>
                            <a:srgbClr val="7A8594"/>
                          </a:solidFill>
                          <a:latin typeface="Arial" pitchFamily="34" charset="0"/>
                          <a:ea typeface="Arial" pitchFamily="34" charset="-122"/>
                          <a:cs typeface="Arial" pitchFamily="34" charset="-120"/>
                        </a:rPr>
                        <a:t>[Verificar… qué se revisa, dónde y bajo qué estándar. Máx. 3 líneas]</a:t>
                      </a:r>
                      <a:endParaRPr lang="en-US" sz="630" dirty="0">
                        <a:latin typeface="Arial" charset="0"/>
                        <a:ea typeface="Arial" charset="0"/>
                        <a:cs typeface="Arial" charset="0"/>
                      </a:endParaRPr>
                    </a:p>
                    <a:p>
                      <a:pPr indent="0" marL="0">
                        <a:buNone/>
                      </a:pPr>
                      <a:r>
                        <a:rPr lang="en-US" sz="630" b="1" dirty="0">
                          <a:solidFill>
                            <a:srgbClr val="C62828"/>
                          </a:solidFill>
                          <a:latin typeface="Arial" pitchFamily="34" charset="0"/>
                          <a:ea typeface="Arial" pitchFamily="34" charset="-122"/>
                          <a:cs typeface="Arial" pitchFamily="34" charset="-120"/>
                        </a:rPr>
                        <a:t>Criterio de restricción: </a:t>
                      </a:r>
                      <a:pPr indent="0" marL="0">
                        <a:buNone/>
                      </a:pPr>
                      <a:r>
                        <a:rPr lang="en-US" sz="630" i="1" dirty="0">
                          <a:solidFill>
                            <a:srgbClr val="7A8594"/>
                          </a:solidFill>
                          <a:latin typeface="Arial" pitchFamily="34" charset="0"/>
                          <a:ea typeface="Arial" pitchFamily="34" charset="-122"/>
                          <a:cs typeface="Arial" pitchFamily="34" charset="-120"/>
                        </a:rPr>
                        <a:t>[Cuándo se prohíbe o se detiene la tarea. Máx. 2 líneas]</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[Herramienta + herramienta + ASP]</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[Registro verificable] / registro fotográfico</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r>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N1 · CRÍTICO</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[TIPO]</a:t>
                      </a:r>
                      <a:endParaRPr lang="en-US" sz="80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62828"/>
                    </a:solidFill>
                  </a:tcPr>
                </a:tc>
                <a:tc>
                  <a:txBody>
                    <a:bodyPr/>
                    <a:lstStyle/>
                    <a:p>
                      <a:pPr indent="0" marL="0">
                        <a:buNone/>
                      </a:pPr>
                      <a:r>
                        <a:rPr lang="en-US" sz="630" b="1" i="1" dirty="0">
                          <a:solidFill>
                            <a:srgbClr val="7A8594"/>
                          </a:solidFill>
                          <a:latin typeface="Arial" pitchFamily="34" charset="0"/>
                          <a:ea typeface="Arial" pitchFamily="34" charset="-122"/>
                          <a:cs typeface="Arial" pitchFamily="34" charset="-120"/>
                        </a:rPr>
                        <a:t>[Tema del foco]. </a:t>
                      </a:r>
                      <a:pPr indent="0" marL="0">
                        <a:buNone/>
                      </a:pPr>
                      <a:r>
                        <a:rPr lang="en-US" sz="630" i="1" dirty="0">
                          <a:solidFill>
                            <a:srgbClr val="7A8594"/>
                          </a:solidFill>
                          <a:latin typeface="Arial" pitchFamily="34" charset="0"/>
                          <a:ea typeface="Arial" pitchFamily="34" charset="-122"/>
                          <a:cs typeface="Arial" pitchFamily="34" charset="-120"/>
                        </a:rPr>
                        <a:t>[Verificar… qué se revisa, dónde y bajo qué estándar. Máx. 3 líneas]</a:t>
                      </a:r>
                      <a:endParaRPr lang="en-US" sz="630" dirty="0">
                        <a:latin typeface="Arial" charset="0"/>
                        <a:ea typeface="Arial" charset="0"/>
                        <a:cs typeface="Arial" charset="0"/>
                      </a:endParaRPr>
                    </a:p>
                    <a:p>
                      <a:pPr indent="0" marL="0">
                        <a:buNone/>
                      </a:pPr>
                      <a:r>
                        <a:rPr lang="en-US" sz="630" b="1" dirty="0">
                          <a:solidFill>
                            <a:srgbClr val="C62828"/>
                          </a:solidFill>
                          <a:latin typeface="Arial" pitchFamily="34" charset="0"/>
                          <a:ea typeface="Arial" pitchFamily="34" charset="-122"/>
                          <a:cs typeface="Arial" pitchFamily="34" charset="-120"/>
                        </a:rPr>
                        <a:t>Criterio de restricción: </a:t>
                      </a:r>
                      <a:pPr indent="0" marL="0">
                        <a:buNone/>
                      </a:pPr>
                      <a:r>
                        <a:rPr lang="en-US" sz="630" i="1" dirty="0">
                          <a:solidFill>
                            <a:srgbClr val="7A8594"/>
                          </a:solidFill>
                          <a:latin typeface="Arial" pitchFamily="34" charset="0"/>
                          <a:ea typeface="Arial" pitchFamily="34" charset="-122"/>
                          <a:cs typeface="Arial" pitchFamily="34" charset="-120"/>
                        </a:rPr>
                        <a:t>[Cuándo se prohíbe o se detiene la tarea. Máx. 2 líneas]</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[Herramienta + herramienta + ASP]</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[Registro verificable] / registro fotográfico</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N1 · CRÍTICO</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[TIPO]</a:t>
                      </a:r>
                      <a:endParaRPr lang="en-US" sz="80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62828"/>
                    </a:solidFill>
                  </a:tcPr>
                </a:tc>
                <a:tc>
                  <a:txBody>
                    <a:bodyPr/>
                    <a:lstStyle/>
                    <a:p>
                      <a:pPr indent="0" marL="0">
                        <a:buNone/>
                      </a:pPr>
                      <a:r>
                        <a:rPr lang="en-US" sz="630" b="1" i="1" dirty="0">
                          <a:solidFill>
                            <a:srgbClr val="7A8594"/>
                          </a:solidFill>
                          <a:latin typeface="Arial" pitchFamily="34" charset="0"/>
                          <a:ea typeface="Arial" pitchFamily="34" charset="-122"/>
                          <a:cs typeface="Arial" pitchFamily="34" charset="-120"/>
                        </a:rPr>
                        <a:t>[Tema del foco]. </a:t>
                      </a:r>
                      <a:pPr indent="0" marL="0">
                        <a:buNone/>
                      </a:pPr>
                      <a:r>
                        <a:rPr lang="en-US" sz="630" i="1" dirty="0">
                          <a:solidFill>
                            <a:srgbClr val="7A8594"/>
                          </a:solidFill>
                          <a:latin typeface="Arial" pitchFamily="34" charset="0"/>
                          <a:ea typeface="Arial" pitchFamily="34" charset="-122"/>
                          <a:cs typeface="Arial" pitchFamily="34" charset="-120"/>
                        </a:rPr>
                        <a:t>[Verificar… qué se revisa, dónde y bajo qué estándar. Máx. 3 líneas]</a:t>
                      </a:r>
                      <a:endParaRPr lang="en-US" sz="630" dirty="0">
                        <a:latin typeface="Arial" charset="0"/>
                        <a:ea typeface="Arial" charset="0"/>
                        <a:cs typeface="Arial" charset="0"/>
                      </a:endParaRPr>
                    </a:p>
                    <a:p>
                      <a:pPr indent="0" marL="0">
                        <a:buNone/>
                      </a:pPr>
                      <a:r>
                        <a:rPr lang="en-US" sz="630" b="1" dirty="0">
                          <a:solidFill>
                            <a:srgbClr val="C62828"/>
                          </a:solidFill>
                          <a:latin typeface="Arial" pitchFamily="34" charset="0"/>
                          <a:ea typeface="Arial" pitchFamily="34" charset="-122"/>
                          <a:cs typeface="Arial" pitchFamily="34" charset="-120"/>
                        </a:rPr>
                        <a:t>Criterio de restricción: </a:t>
                      </a:r>
                      <a:pPr indent="0" marL="0">
                        <a:buNone/>
                      </a:pPr>
                      <a:r>
                        <a:rPr lang="en-US" sz="630" i="1" dirty="0">
                          <a:solidFill>
                            <a:srgbClr val="7A8594"/>
                          </a:solidFill>
                          <a:latin typeface="Arial" pitchFamily="34" charset="0"/>
                          <a:ea typeface="Arial" pitchFamily="34" charset="-122"/>
                          <a:cs typeface="Arial" pitchFamily="34" charset="-120"/>
                        </a:rPr>
                        <a:t>[Cuándo se prohíbe o se detiene la tarea. Máx. 2 líneas]</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[Herramienta + herramienta + ASP]</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[Registro verificable] / registro fotográfico</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r>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N2 · ALTO</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[TIPO]</a:t>
                      </a:r>
                      <a:endParaRPr lang="en-US" sz="80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67E22"/>
                    </a:solidFill>
                  </a:tcPr>
                </a:tc>
                <a:tc>
                  <a:txBody>
                    <a:bodyPr/>
                    <a:lstStyle/>
                    <a:p>
                      <a:pPr indent="0" marL="0">
                        <a:buNone/>
                      </a:pPr>
                      <a:r>
                        <a:rPr lang="en-US" sz="630" b="1" i="1" dirty="0">
                          <a:solidFill>
                            <a:srgbClr val="7A8594"/>
                          </a:solidFill>
                          <a:latin typeface="Arial" pitchFamily="34" charset="0"/>
                          <a:ea typeface="Arial" pitchFamily="34" charset="-122"/>
                          <a:cs typeface="Arial" pitchFamily="34" charset="-120"/>
                        </a:rPr>
                        <a:t>[Tema del foco]. </a:t>
                      </a:r>
                      <a:pPr indent="0" marL="0">
                        <a:buNone/>
                      </a:pPr>
                      <a:r>
                        <a:rPr lang="en-US" sz="630" i="1" dirty="0">
                          <a:solidFill>
                            <a:srgbClr val="7A8594"/>
                          </a:solidFill>
                          <a:latin typeface="Arial" pitchFamily="34" charset="0"/>
                          <a:ea typeface="Arial" pitchFamily="34" charset="-122"/>
                          <a:cs typeface="Arial" pitchFamily="34" charset="-120"/>
                        </a:rPr>
                        <a:t>[Verificar… qué se revisa, dónde y bajo qué estándar. Máx. 3 líneas]</a:t>
                      </a:r>
                      <a:endParaRPr lang="en-US" sz="630" dirty="0">
                        <a:latin typeface="Arial" charset="0"/>
                        <a:ea typeface="Arial" charset="0"/>
                        <a:cs typeface="Arial" charset="0"/>
                      </a:endParaRPr>
                    </a:p>
                    <a:p>
                      <a:pPr indent="0" marL="0">
                        <a:buNone/>
                      </a:pPr>
                      <a:r>
                        <a:rPr lang="en-US" sz="630" b="1" dirty="0">
                          <a:solidFill>
                            <a:srgbClr val="B35C00"/>
                          </a:solidFill>
                          <a:latin typeface="Arial" pitchFamily="34" charset="0"/>
                          <a:ea typeface="Arial" pitchFamily="34" charset="-122"/>
                          <a:cs typeface="Arial" pitchFamily="34" charset="-120"/>
                        </a:rPr>
                        <a:t>Criterio de restricción: </a:t>
                      </a:r>
                      <a:pPr indent="0" marL="0">
                        <a:buNone/>
                      </a:pPr>
                      <a:r>
                        <a:rPr lang="en-US" sz="630" i="1" dirty="0">
                          <a:solidFill>
                            <a:srgbClr val="7A8594"/>
                          </a:solidFill>
                          <a:latin typeface="Arial" pitchFamily="34" charset="0"/>
                          <a:ea typeface="Arial" pitchFamily="34" charset="-122"/>
                          <a:cs typeface="Arial" pitchFamily="34" charset="-120"/>
                        </a:rPr>
                        <a:t>[Cuándo se prohíbe o se detiene la tarea. Máx. 2 líneas]</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[Herramienta + herramienta + ASP]</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[Registro verificable] / registro fotográfico</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N2 · ALTO</a:t>
                      </a:r>
                      <a:endParaRPr lang="en-US" sz="800" dirty="0">
                        <a:latin typeface="Arial" charset="0"/>
                        <a:ea typeface="Arial" charset="0"/>
                        <a:cs typeface="Arial" charset="0"/>
                      </a:endParaRPr>
                    </a:p>
                    <a:p>
                      <a:pPr algn="ctr" indent="0" marL="0">
                        <a:buNone/>
                      </a:pPr>
                      <a:r>
                        <a:rPr lang="en-US" sz="800" b="1" dirty="0">
                          <a:solidFill>
                            <a:srgbClr val="FFFFFF"/>
                          </a:solidFill>
                          <a:latin typeface="Arial" pitchFamily="34" charset="0"/>
                          <a:ea typeface="Arial" pitchFamily="34" charset="-122"/>
                          <a:cs typeface="Arial" pitchFamily="34" charset="-120"/>
                        </a:rPr>
                        <a:t>[TIPO]</a:t>
                      </a:r>
                      <a:endParaRPr lang="en-US" sz="80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67E22"/>
                    </a:solidFill>
                  </a:tcPr>
                </a:tc>
                <a:tc>
                  <a:txBody>
                    <a:bodyPr/>
                    <a:lstStyle/>
                    <a:p>
                      <a:pPr indent="0" marL="0">
                        <a:buNone/>
                      </a:pPr>
                      <a:r>
                        <a:rPr lang="en-US" sz="630" b="1" i="1" dirty="0">
                          <a:solidFill>
                            <a:srgbClr val="7A8594"/>
                          </a:solidFill>
                          <a:latin typeface="Arial" pitchFamily="34" charset="0"/>
                          <a:ea typeface="Arial" pitchFamily="34" charset="-122"/>
                          <a:cs typeface="Arial" pitchFamily="34" charset="-120"/>
                        </a:rPr>
                        <a:t>[Tema del foco]. </a:t>
                      </a:r>
                      <a:pPr indent="0" marL="0">
                        <a:buNone/>
                      </a:pPr>
                      <a:r>
                        <a:rPr lang="en-US" sz="630" i="1" dirty="0">
                          <a:solidFill>
                            <a:srgbClr val="7A8594"/>
                          </a:solidFill>
                          <a:latin typeface="Arial" pitchFamily="34" charset="0"/>
                          <a:ea typeface="Arial" pitchFamily="34" charset="-122"/>
                          <a:cs typeface="Arial" pitchFamily="34" charset="-120"/>
                        </a:rPr>
                        <a:t>[Verificar… qué se revisa, dónde y bajo qué estándar. Máx. 3 líneas]</a:t>
                      </a:r>
                      <a:endParaRPr lang="en-US" sz="630" dirty="0">
                        <a:latin typeface="Arial" charset="0"/>
                        <a:ea typeface="Arial" charset="0"/>
                        <a:cs typeface="Arial" charset="0"/>
                      </a:endParaRPr>
                    </a:p>
                    <a:p>
                      <a:pPr indent="0" marL="0">
                        <a:buNone/>
                      </a:pPr>
                      <a:r>
                        <a:rPr lang="en-US" sz="630" b="1" dirty="0">
                          <a:solidFill>
                            <a:srgbClr val="B35C00"/>
                          </a:solidFill>
                          <a:latin typeface="Arial" pitchFamily="34" charset="0"/>
                          <a:ea typeface="Arial" pitchFamily="34" charset="-122"/>
                          <a:cs typeface="Arial" pitchFamily="34" charset="-120"/>
                        </a:rPr>
                        <a:t>Criterio de restricción: </a:t>
                      </a:r>
                      <a:pPr indent="0" marL="0">
                        <a:buNone/>
                      </a:pPr>
                      <a:r>
                        <a:rPr lang="en-US" sz="630" i="1" dirty="0">
                          <a:solidFill>
                            <a:srgbClr val="7A8594"/>
                          </a:solidFill>
                          <a:latin typeface="Arial" pitchFamily="34" charset="0"/>
                          <a:ea typeface="Arial" pitchFamily="34" charset="-122"/>
                          <a:cs typeface="Arial" pitchFamily="34" charset="-120"/>
                        </a:rPr>
                        <a:t>[Cuándo se prohíbe o se detiene la tarea. Máx. 2 líneas]</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p>
                      <a:pPr indent="0" marL="0">
                        <a:buNone/>
                      </a:pPr>
                      <a:r>
                        <a:rPr lang="en-US" sz="620" b="1" dirty="0">
                          <a:solidFill>
                            <a:srgbClr val="222222"/>
                          </a:solidFill>
                          <a:latin typeface="Arial" pitchFamily="34" charset="0"/>
                          <a:ea typeface="Arial" pitchFamily="34" charset="-122"/>
                          <a:cs typeface="Arial" pitchFamily="34" charset="-120"/>
                        </a:rPr>
                        <a:t>[T_-_] TIPO ID – EECC:</a:t>
                      </a:r>
                      <a:pPr indent="0" marL="0">
                        <a:buNone/>
                      </a:pPr>
                      <a:r>
                        <a:rPr lang="en-US" sz="620" i="1" dirty="0">
                          <a:solidFill>
                            <a:srgbClr val="7A8594"/>
                          </a:solidFill>
                          <a:latin typeface="Arial" pitchFamily="34" charset="0"/>
                          <a:ea typeface="Arial" pitchFamily="34" charset="-122"/>
                          <a:cs typeface="Arial" pitchFamily="34" charset="-120"/>
                        </a:rPr>
                        <a:t> [qué ocurrió, 1 línea]</a:t>
                      </a:r>
                      <a:endParaRPr lang="en-US" sz="62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[Herramienta + herramienta + ASP]</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c>
                  <a:txBody>
                    <a:bodyPr/>
                    <a:lstStyle/>
                    <a:p>
                      <a:pPr indent="0" marL="0">
                        <a:buNone/>
                      </a:pPr>
                      <a:r>
                        <a:rPr lang="en-US" sz="630" i="1" dirty="0">
                          <a:solidFill>
                            <a:srgbClr val="7A8594"/>
                          </a:solidFill>
                          <a:latin typeface="Arial" pitchFamily="34" charset="0"/>
                          <a:ea typeface="Arial" pitchFamily="34" charset="-122"/>
                          <a:cs typeface="Arial" pitchFamily="34" charset="-120"/>
                        </a:rPr>
                        <a:t>[Registro verificable] / registro fotográfico</a:t>
                      </a:r>
                      <a:endParaRPr lang="en-US" sz="630" dirty="0">
                        <a:latin typeface="Arial" charset="0"/>
                        <a:ea typeface="Arial" charset="0"/>
                        <a:cs typeface="Arial" charset="0"/>
                      </a:endParaRPr>
                    </a:p>
                  </a:txBody>
                  <a:tcPr marL="50800" marR="508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F6FA"/>
                    </a:solidFill>
                  </a:tcPr>
                </a:tc>
              </a:tr>
            </a:tbl>
          </a:graphicData>
        </a:graphic>
      </p:graphicFrame>
      <p:sp>
        <p:nvSpPr>
          <p:cNvPr id="22" name="Text 18"/>
          <p:cNvSpPr txBox="1"/>
          <p:nvPr/>
        </p:nvSpPr>
        <p:spPr>
          <a:xfrm>
            <a:off x="365760" y="5852160"/>
            <a:ext cx="960120" cy="292608"/>
          </a:xfrm>
          <a:prstGeom prst="rect">
            <a:avLst/>
          </a:prstGeom>
          <a:solidFill>
            <a:srgbClr val="155A63"/>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RECURRENTE</a:t>
            </a:r>
            <a:endParaRPr lang="en-US" sz="750" dirty="0"/>
          </a:p>
        </p:txBody>
      </p:sp>
      <p:sp>
        <p:nvSpPr>
          <p:cNvPr id="23" name="Shape 19"/>
          <p:cNvSpPr/>
          <p:nvPr/>
        </p:nvSpPr>
        <p:spPr>
          <a:xfrm>
            <a:off x="1325880" y="5852160"/>
            <a:ext cx="10497312" cy="292608"/>
          </a:xfrm>
          <a:prstGeom prst="rect">
            <a:avLst/>
          </a:prstGeom>
          <a:solidFill>
            <a:srgbClr val="17707A"/>
          </a:solidFill>
          <a:ln w="12700">
            <a:solidFill>
              <a:srgbClr val="17707A"/>
            </a:solidFill>
            <a:prstDash val="solid"/>
          </a:ln>
        </p:spPr>
      </p:sp>
      <p:sp>
        <p:nvSpPr>
          <p:cNvPr id="24" name="Text 20"/>
          <p:cNvSpPr txBox="1"/>
          <p:nvPr/>
        </p:nvSpPr>
        <p:spPr>
          <a:xfrm>
            <a:off x="1417320" y="5852160"/>
            <a:ext cx="10314432" cy="292608"/>
          </a:xfrm>
          <a:prstGeom prst="rect">
            <a:avLst/>
          </a:prstGeom>
          <a:noFill/>
          <a:ln/>
        </p:spPr>
        <p:txBody>
          <a:bodyPr wrap="square" lIns="0" tIns="0" rIns="0" bIns="0" rtlCol="0" anchor="ctr"/>
          <a:lstStyle/>
          <a:p>
            <a:pPr indent="0" marL="0">
              <a:buNone/>
            </a:pPr>
            <a:r>
              <a:rPr lang="en-US" sz="700" b="1" i="1" dirty="0">
                <a:solidFill>
                  <a:srgbClr val="FFFFFF"/>
                </a:solidFill>
                <a:latin typeface="Arial" pitchFamily="34" charset="0"/>
                <a:ea typeface="Arial" pitchFamily="34" charset="-122"/>
                <a:cs typeface="Arial" pitchFamily="34" charset="-120"/>
              </a:rPr>
              <a:t>[N°] eventos HBP — </a:t>
            </a:r>
            <a:pPr indent="0" marL="0">
              <a:buNone/>
            </a:pPr>
            <a:r>
              <a:rPr lang="en-US" sz="700" i="1" dirty="0">
                <a:solidFill>
                  <a:srgbClr val="FFFFFF"/>
                </a:solidFill>
                <a:latin typeface="Arial" pitchFamily="34" charset="0"/>
                <a:ea typeface="Arial" pitchFamily="34" charset="-122"/>
                <a:cs typeface="Arial" pitchFamily="34" charset="-120"/>
              </a:rPr>
              <a:t>[tema más repetido (cantidad)] · [tema (cantidad)]. Refuerzo transversal en todos los recorridos y al cierre de cada tarea.</a:t>
            </a:r>
            <a:endParaRPr lang="en-US" sz="700" dirty="0"/>
          </a:p>
        </p:txBody>
      </p:sp>
      <p:sp>
        <p:nvSpPr>
          <p:cNvPr id="25" name="Shape 21"/>
          <p:cNvSpPr/>
          <p:nvPr/>
        </p:nvSpPr>
        <p:spPr>
          <a:xfrm>
            <a:off x="365760" y="6236208"/>
            <a:ext cx="6172200" cy="219456"/>
          </a:xfrm>
          <a:prstGeom prst="rect">
            <a:avLst/>
          </a:prstGeom>
          <a:solidFill>
            <a:srgbClr val="1F3D6B"/>
          </a:solidFill>
          <a:ln w="12700">
            <a:solidFill>
              <a:srgbClr val="1F3D6B"/>
            </a:solidFill>
            <a:prstDash val="solid"/>
          </a:ln>
        </p:spPr>
      </p:sp>
      <p:sp>
        <p:nvSpPr>
          <p:cNvPr id="26" name="Text 22"/>
          <p:cNvSpPr txBox="1"/>
          <p:nvPr/>
        </p:nvSpPr>
        <p:spPr>
          <a:xfrm>
            <a:off x="457200" y="6236208"/>
            <a:ext cx="5989320" cy="219456"/>
          </a:xfrm>
          <a:prstGeom prst="rect">
            <a:avLst/>
          </a:prstGeom>
          <a:noFill/>
          <a:ln/>
        </p:spPr>
        <p:txBody>
          <a:bodyPr wrap="square" lIns="0" tIns="0" rIns="0" bIns="0" rtlCol="0" anchor="ctr"/>
          <a:lstStyle/>
          <a:p>
            <a:pPr indent="0" marL="0">
              <a:buNone/>
            </a:pPr>
            <a:r>
              <a:rPr lang="en-US" sz="750" b="1" dirty="0">
                <a:solidFill>
                  <a:srgbClr val="FFFFFF"/>
                </a:solidFill>
                <a:latin typeface="Arial" pitchFamily="34" charset="0"/>
                <a:ea typeface="Arial" pitchFamily="34" charset="-122"/>
                <a:cs typeface="Arial" pitchFamily="34" charset="-120"/>
              </a:rPr>
              <a:t>SÍNTESIS DE TENDENCIAS Y RECOMENDACIÓN DE RECORRIDOS – SUPERVISOR ITO</a:t>
            </a:r>
            <a:endParaRPr lang="en-US" sz="750" dirty="0"/>
          </a:p>
        </p:txBody>
      </p:sp>
      <p:pic>
        <p:nvPicPr>
          <p:cNvPr id="27" name="Image 1" descr="preencoded.png">    </p:cNvPr>
          <p:cNvPicPr>
            <a:picLocks noChangeAspect="1"/>
          </p:cNvPicPr>
          <p:nvPr/>
        </p:nvPicPr>
        <p:blipFill>
          <a:blip r:embed="rId2"/>
          <a:stretch>
            <a:fillRect/>
          </a:stretch>
        </p:blipFill>
        <p:spPr>
          <a:xfrm>
            <a:off x="438912" y="6528816"/>
            <a:ext cx="219456" cy="219456"/>
          </a:xfrm>
          <a:prstGeom prst="rect">
            <a:avLst/>
          </a:prstGeom>
        </p:spPr>
      </p:pic>
      <p:sp>
        <p:nvSpPr>
          <p:cNvPr id="28" name="Text 23"/>
          <p:cNvSpPr txBox="1"/>
          <p:nvPr/>
        </p:nvSpPr>
        <p:spPr>
          <a:xfrm>
            <a:off x="694944" y="6510528"/>
            <a:ext cx="1673352" cy="256032"/>
          </a:xfrm>
          <a:prstGeom prst="rect">
            <a:avLst/>
          </a:prstGeom>
          <a:noFill/>
          <a:ln/>
        </p:spPr>
        <p:txBody>
          <a:bodyPr wrap="square" lIns="0" tIns="0" rIns="0" bIns="0" rtlCol="0" anchor="ctr"/>
          <a:lstStyle/>
          <a:p>
            <a:pPr indent="0" marL="0">
              <a:buNone/>
            </a:pPr>
            <a:r>
              <a:rPr lang="en-US" sz="730" b="1" dirty="0">
                <a:solidFill>
                  <a:srgbClr val="1F3D6B"/>
                </a:solidFill>
                <a:latin typeface="Arial" pitchFamily="34" charset="0"/>
                <a:ea typeface="Arial" pitchFamily="34" charset="-122"/>
                <a:cs typeface="Arial" pitchFamily="34" charset="-120"/>
              </a:rPr>
              <a:t>BLOQUE AM · INICIO DE TURNO</a:t>
            </a:r>
            <a:endParaRPr lang="en-US" sz="730" dirty="0"/>
          </a:p>
        </p:txBody>
      </p:sp>
      <p:sp>
        <p:nvSpPr>
          <p:cNvPr id="29" name="Text 24"/>
          <p:cNvSpPr txBox="1"/>
          <p:nvPr/>
        </p:nvSpPr>
        <p:spPr>
          <a:xfrm>
            <a:off x="438912" y="6784848"/>
            <a:ext cx="1911096" cy="274320"/>
          </a:xfrm>
          <a:prstGeom prst="rect">
            <a:avLst/>
          </a:prstGeom>
          <a:noFill/>
          <a:ln/>
        </p:spPr>
        <p:txBody>
          <a:bodyPr wrap="square" lIns="0" tIns="0" rIns="0" bIns="0" rtlCol="0" anchor="t"/>
          <a:lstStyle/>
          <a:p>
            <a:pPr indent="0" marL="0">
              <a:buNone/>
            </a:pPr>
            <a:r>
              <a:rPr lang="en-US" sz="650" b="1" i="1" dirty="0">
                <a:solidFill>
                  <a:srgbClr val="7A8594"/>
                </a:solidFill>
                <a:latin typeface="Arial" pitchFamily="34" charset="0"/>
                <a:ea typeface="Arial" pitchFamily="34" charset="-122"/>
                <a:cs typeface="Arial" pitchFamily="34" charset="-120"/>
              </a:rPr>
              <a:t>[Áreas a recorrer al inicio del turno]</a:t>
            </a:r>
            <a:endParaRPr lang="en-US" sz="650" dirty="0"/>
          </a:p>
        </p:txBody>
      </p:sp>
      <p:sp>
        <p:nvSpPr>
          <p:cNvPr id="30" name="Text 25"/>
          <p:cNvSpPr txBox="1"/>
          <p:nvPr/>
        </p:nvSpPr>
        <p:spPr>
          <a:xfrm>
            <a:off x="438912" y="7077456"/>
            <a:ext cx="1911096" cy="786384"/>
          </a:xfrm>
          <a:prstGeom prst="rect">
            <a:avLst/>
          </a:prstGeom>
          <a:noFill/>
          <a:ln/>
        </p:spPr>
        <p:txBody>
          <a:bodyPr wrap="square" lIns="0" tIns="0" rIns="0" bIns="0" rtlCol="0" anchor="t"/>
          <a:lstStyle/>
          <a:p>
            <a:pPr indent="0" marL="0">
              <a:spcAft>
                <a:spcPts val="200"/>
              </a:spcAft>
              <a:buNone/>
            </a:pPr>
            <a:r>
              <a:rPr lang="en-US" sz="680" i="1" dirty="0">
                <a:solidFill>
                  <a:srgbClr val="7A8594"/>
                </a:solidFill>
                <a:latin typeface="Arial" pitchFamily="34" charset="0"/>
                <a:ea typeface="Arial" pitchFamily="34" charset="-122"/>
                <a:cs typeface="Arial" pitchFamily="34" charset="-120"/>
              </a:rPr>
              <a:t>✔ [Control a verificar] (foco N°)</a:t>
            </a:r>
            <a:endParaRPr lang="en-US" sz="680" dirty="0"/>
          </a:p>
          <a:p>
            <a:pPr indent="0" marL="0">
              <a:spcAft>
                <a:spcPts val="200"/>
              </a:spcAft>
              <a:buNone/>
            </a:pPr>
            <a:r>
              <a:rPr lang="en-US" sz="680" i="1" dirty="0">
                <a:solidFill>
                  <a:srgbClr val="7A8594"/>
                </a:solidFill>
                <a:latin typeface="Arial" pitchFamily="34" charset="0"/>
                <a:ea typeface="Arial" pitchFamily="34" charset="-122"/>
                <a:cs typeface="Arial" pitchFamily="34" charset="-120"/>
              </a:rPr>
              <a:t>✔ [Control a verificar] (foco N°)</a:t>
            </a:r>
            <a:endParaRPr lang="en-US" sz="680" dirty="0"/>
          </a:p>
          <a:p>
            <a:pPr indent="0" marL="0">
              <a:spcAft>
                <a:spcPts val="200"/>
              </a:spcAft>
              <a:buNone/>
            </a:pPr>
            <a:r>
              <a:rPr lang="en-US" sz="680" i="1" dirty="0">
                <a:solidFill>
                  <a:srgbClr val="7A8594"/>
                </a:solidFill>
                <a:latin typeface="Arial" pitchFamily="34" charset="0"/>
                <a:ea typeface="Arial" pitchFamily="34" charset="-122"/>
                <a:cs typeface="Arial" pitchFamily="34" charset="-120"/>
              </a:rPr>
              <a:t>✔ [Control a verificar] (foco N°)</a:t>
            </a:r>
            <a:endParaRPr lang="en-US" sz="680" dirty="0"/>
          </a:p>
        </p:txBody>
      </p:sp>
      <p:sp>
        <p:nvSpPr>
          <p:cNvPr id="31" name="Shape 26"/>
          <p:cNvSpPr/>
          <p:nvPr/>
        </p:nvSpPr>
        <p:spPr>
          <a:xfrm>
            <a:off x="2423160" y="6556248"/>
            <a:ext cx="9144" cy="1280160"/>
          </a:xfrm>
          <a:prstGeom prst="rect">
            <a:avLst/>
          </a:prstGeom>
          <a:solidFill>
            <a:srgbClr val="C9D3E0"/>
          </a:solidFill>
          <a:ln w="12700">
            <a:solidFill>
              <a:srgbClr val="C9D3E0"/>
            </a:solidFill>
            <a:prstDash val="solid"/>
          </a:ln>
        </p:spPr>
      </p:sp>
      <p:pic>
        <p:nvPicPr>
          <p:cNvPr id="32" name="Image 2" descr="preencoded.png">    </p:cNvPr>
          <p:cNvPicPr>
            <a:picLocks noChangeAspect="1"/>
          </p:cNvPicPr>
          <p:nvPr/>
        </p:nvPicPr>
        <p:blipFill>
          <a:blip r:embed="rId3"/>
          <a:stretch>
            <a:fillRect/>
          </a:stretch>
        </p:blipFill>
        <p:spPr>
          <a:xfrm>
            <a:off x="2496312" y="6528816"/>
            <a:ext cx="219456" cy="219456"/>
          </a:xfrm>
          <a:prstGeom prst="rect">
            <a:avLst/>
          </a:prstGeom>
        </p:spPr>
      </p:pic>
      <p:sp>
        <p:nvSpPr>
          <p:cNvPr id="33" name="Text 27"/>
          <p:cNvSpPr txBox="1"/>
          <p:nvPr/>
        </p:nvSpPr>
        <p:spPr>
          <a:xfrm>
            <a:off x="2752344" y="6510528"/>
            <a:ext cx="1673352" cy="256032"/>
          </a:xfrm>
          <a:prstGeom prst="rect">
            <a:avLst/>
          </a:prstGeom>
          <a:noFill/>
          <a:ln/>
        </p:spPr>
        <p:txBody>
          <a:bodyPr wrap="square" lIns="0" tIns="0" rIns="0" bIns="0" rtlCol="0" anchor="ctr"/>
          <a:lstStyle/>
          <a:p>
            <a:pPr indent="0" marL="0">
              <a:buNone/>
            </a:pPr>
            <a:r>
              <a:rPr lang="en-US" sz="730" b="1" dirty="0">
                <a:solidFill>
                  <a:srgbClr val="1F3D6B"/>
                </a:solidFill>
                <a:latin typeface="Arial" pitchFamily="34" charset="0"/>
                <a:ea typeface="Arial" pitchFamily="34" charset="-122"/>
                <a:cs typeface="Arial" pitchFamily="34" charset="-120"/>
              </a:rPr>
              <a:t>BLOQUE MEDIODÍA · INTERVENCIÓN</a:t>
            </a:r>
            <a:endParaRPr lang="en-US" sz="730" dirty="0"/>
          </a:p>
        </p:txBody>
      </p:sp>
      <p:sp>
        <p:nvSpPr>
          <p:cNvPr id="34" name="Text 28"/>
          <p:cNvSpPr txBox="1"/>
          <p:nvPr/>
        </p:nvSpPr>
        <p:spPr>
          <a:xfrm>
            <a:off x="2496312" y="6784848"/>
            <a:ext cx="1911096" cy="274320"/>
          </a:xfrm>
          <a:prstGeom prst="rect">
            <a:avLst/>
          </a:prstGeom>
          <a:noFill/>
          <a:ln/>
        </p:spPr>
        <p:txBody>
          <a:bodyPr wrap="square" lIns="0" tIns="0" rIns="0" bIns="0" rtlCol="0" anchor="t"/>
          <a:lstStyle/>
          <a:p>
            <a:pPr indent="0" marL="0">
              <a:buNone/>
            </a:pPr>
            <a:r>
              <a:rPr lang="en-US" sz="650" b="1" i="1" dirty="0">
                <a:solidFill>
                  <a:srgbClr val="7A8594"/>
                </a:solidFill>
                <a:latin typeface="Arial" pitchFamily="34" charset="0"/>
                <a:ea typeface="Arial" pitchFamily="34" charset="-122"/>
                <a:cs typeface="Arial" pitchFamily="34" charset="-120"/>
              </a:rPr>
              <a:t>[Áreas a recorrer a mediodía]</a:t>
            </a:r>
            <a:endParaRPr lang="en-US" sz="650" dirty="0"/>
          </a:p>
        </p:txBody>
      </p:sp>
      <p:sp>
        <p:nvSpPr>
          <p:cNvPr id="35" name="Text 29"/>
          <p:cNvSpPr txBox="1"/>
          <p:nvPr/>
        </p:nvSpPr>
        <p:spPr>
          <a:xfrm>
            <a:off x="2496312" y="7077456"/>
            <a:ext cx="1911096" cy="786384"/>
          </a:xfrm>
          <a:prstGeom prst="rect">
            <a:avLst/>
          </a:prstGeom>
          <a:noFill/>
          <a:ln/>
        </p:spPr>
        <p:txBody>
          <a:bodyPr wrap="square" lIns="0" tIns="0" rIns="0" bIns="0" rtlCol="0" anchor="t"/>
          <a:lstStyle/>
          <a:p>
            <a:pPr indent="0" marL="0">
              <a:spcAft>
                <a:spcPts val="200"/>
              </a:spcAft>
              <a:buNone/>
            </a:pPr>
            <a:r>
              <a:rPr lang="en-US" sz="680" i="1" dirty="0">
                <a:solidFill>
                  <a:srgbClr val="7A8594"/>
                </a:solidFill>
                <a:latin typeface="Arial" pitchFamily="34" charset="0"/>
                <a:ea typeface="Arial" pitchFamily="34" charset="-122"/>
                <a:cs typeface="Arial" pitchFamily="34" charset="-120"/>
              </a:rPr>
              <a:t>✔ [Control a verificar] (foco N°)</a:t>
            </a:r>
            <a:endParaRPr lang="en-US" sz="680" dirty="0"/>
          </a:p>
          <a:p>
            <a:pPr indent="0" marL="0">
              <a:spcAft>
                <a:spcPts val="200"/>
              </a:spcAft>
              <a:buNone/>
            </a:pPr>
            <a:r>
              <a:rPr lang="en-US" sz="680" i="1" dirty="0">
                <a:solidFill>
                  <a:srgbClr val="7A8594"/>
                </a:solidFill>
                <a:latin typeface="Arial" pitchFamily="34" charset="0"/>
                <a:ea typeface="Arial" pitchFamily="34" charset="-122"/>
                <a:cs typeface="Arial" pitchFamily="34" charset="-120"/>
              </a:rPr>
              <a:t>✔ [Control a verificar] (foco N°)</a:t>
            </a:r>
            <a:endParaRPr lang="en-US" sz="680" dirty="0"/>
          </a:p>
          <a:p>
            <a:pPr indent="0" marL="0">
              <a:spcAft>
                <a:spcPts val="200"/>
              </a:spcAft>
              <a:buNone/>
            </a:pPr>
            <a:r>
              <a:rPr lang="en-US" sz="680" i="1" dirty="0">
                <a:solidFill>
                  <a:srgbClr val="7A8594"/>
                </a:solidFill>
                <a:latin typeface="Arial" pitchFamily="34" charset="0"/>
                <a:ea typeface="Arial" pitchFamily="34" charset="-122"/>
                <a:cs typeface="Arial" pitchFamily="34" charset="-120"/>
              </a:rPr>
              <a:t>✔ [Control a verificar] (foco N°)</a:t>
            </a:r>
            <a:endParaRPr lang="en-US" sz="680" dirty="0"/>
          </a:p>
        </p:txBody>
      </p:sp>
      <p:sp>
        <p:nvSpPr>
          <p:cNvPr id="36" name="Shape 30"/>
          <p:cNvSpPr/>
          <p:nvPr/>
        </p:nvSpPr>
        <p:spPr>
          <a:xfrm>
            <a:off x="4480560" y="6556248"/>
            <a:ext cx="9144" cy="1280160"/>
          </a:xfrm>
          <a:prstGeom prst="rect">
            <a:avLst/>
          </a:prstGeom>
          <a:solidFill>
            <a:srgbClr val="C9D3E0"/>
          </a:solidFill>
          <a:ln w="12700">
            <a:solidFill>
              <a:srgbClr val="C9D3E0"/>
            </a:solidFill>
            <a:prstDash val="solid"/>
          </a:ln>
        </p:spPr>
      </p:sp>
      <p:pic>
        <p:nvPicPr>
          <p:cNvPr id="37" name="Image 3" descr="preencoded.png">    </p:cNvPr>
          <p:cNvPicPr>
            <a:picLocks noChangeAspect="1"/>
          </p:cNvPicPr>
          <p:nvPr/>
        </p:nvPicPr>
        <p:blipFill>
          <a:blip r:embed="rId4"/>
          <a:stretch>
            <a:fillRect/>
          </a:stretch>
        </p:blipFill>
        <p:spPr>
          <a:xfrm>
            <a:off x="4553712" y="6528816"/>
            <a:ext cx="219456" cy="219456"/>
          </a:xfrm>
          <a:prstGeom prst="rect">
            <a:avLst/>
          </a:prstGeom>
        </p:spPr>
      </p:pic>
      <p:sp>
        <p:nvSpPr>
          <p:cNvPr id="38" name="Text 31"/>
          <p:cNvSpPr txBox="1"/>
          <p:nvPr/>
        </p:nvSpPr>
        <p:spPr>
          <a:xfrm>
            <a:off x="4809744" y="6510528"/>
            <a:ext cx="1673352" cy="256032"/>
          </a:xfrm>
          <a:prstGeom prst="rect">
            <a:avLst/>
          </a:prstGeom>
          <a:noFill/>
          <a:ln/>
        </p:spPr>
        <p:txBody>
          <a:bodyPr wrap="square" lIns="0" tIns="0" rIns="0" bIns="0" rtlCol="0" anchor="ctr"/>
          <a:lstStyle/>
          <a:p>
            <a:pPr indent="0" marL="0">
              <a:buNone/>
            </a:pPr>
            <a:r>
              <a:rPr lang="en-US" sz="730" b="1" dirty="0">
                <a:solidFill>
                  <a:srgbClr val="1F3D6B"/>
                </a:solidFill>
                <a:latin typeface="Arial" pitchFamily="34" charset="0"/>
                <a:ea typeface="Arial" pitchFamily="34" charset="-122"/>
                <a:cs typeface="Arial" pitchFamily="34" charset="-120"/>
              </a:rPr>
              <a:t>BLOQUE PM · CIERRE DE JORNADA</a:t>
            </a:r>
            <a:endParaRPr lang="en-US" sz="730" dirty="0"/>
          </a:p>
        </p:txBody>
      </p:sp>
      <p:sp>
        <p:nvSpPr>
          <p:cNvPr id="39" name="Text 32"/>
          <p:cNvSpPr txBox="1"/>
          <p:nvPr/>
        </p:nvSpPr>
        <p:spPr>
          <a:xfrm>
            <a:off x="4553712" y="6784848"/>
            <a:ext cx="1911096" cy="274320"/>
          </a:xfrm>
          <a:prstGeom prst="rect">
            <a:avLst/>
          </a:prstGeom>
          <a:noFill/>
          <a:ln/>
        </p:spPr>
        <p:txBody>
          <a:bodyPr wrap="square" lIns="0" tIns="0" rIns="0" bIns="0" rtlCol="0" anchor="t"/>
          <a:lstStyle/>
          <a:p>
            <a:pPr indent="0" marL="0">
              <a:buNone/>
            </a:pPr>
            <a:r>
              <a:rPr lang="en-US" sz="650" b="1" dirty="0">
                <a:solidFill>
                  <a:srgbClr val="7A8594"/>
                </a:solidFill>
                <a:latin typeface="Arial" pitchFamily="34" charset="0"/>
                <a:ea typeface="Arial" pitchFamily="34" charset="-122"/>
                <a:cs typeface="Arial" pitchFamily="34" charset="-120"/>
              </a:rPr>
              <a:t>Gestión SAP · CdP pendientes · Entrega de turno</a:t>
            </a:r>
            <a:endParaRPr lang="en-US" sz="650" dirty="0"/>
          </a:p>
        </p:txBody>
      </p:sp>
      <p:sp>
        <p:nvSpPr>
          <p:cNvPr id="40" name="Text 33"/>
          <p:cNvSpPr txBox="1"/>
          <p:nvPr/>
        </p:nvSpPr>
        <p:spPr>
          <a:xfrm>
            <a:off x="4553712" y="7077456"/>
            <a:ext cx="1911096" cy="786384"/>
          </a:xfrm>
          <a:prstGeom prst="rect">
            <a:avLst/>
          </a:prstGeom>
          <a:noFill/>
          <a:ln/>
        </p:spPr>
        <p:txBody>
          <a:bodyPr wrap="square" lIns="0" tIns="0" rIns="0" bIns="0" rtlCol="0" anchor="t"/>
          <a:lstStyle/>
          <a:p>
            <a:pPr indent="0" marL="0">
              <a:spcAft>
                <a:spcPts val="200"/>
              </a:spcAft>
              <a:buNone/>
            </a:pPr>
            <a:r>
              <a:rPr lang="en-US" sz="680" i="1" dirty="0">
                <a:solidFill>
                  <a:srgbClr val="7A8594"/>
                </a:solidFill>
                <a:latin typeface="Arial" pitchFamily="34" charset="0"/>
                <a:ea typeface="Arial" pitchFamily="34" charset="-122"/>
                <a:cs typeface="Arial" pitchFamily="34" charset="-120"/>
              </a:rPr>
              <a:t>✔ Actualizar PTS con brechas de CdP: [cuáles]</a:t>
            </a:r>
            <a:endParaRPr lang="en-US" sz="680" dirty="0"/>
          </a:p>
          <a:p>
            <a:pPr indent="0" marL="0">
              <a:spcAft>
                <a:spcPts val="200"/>
              </a:spcAft>
              <a:buNone/>
            </a:pPr>
            <a:r>
              <a:rPr lang="en-US" sz="680" dirty="0">
                <a:solidFill>
                  <a:srgbClr val="222222"/>
                </a:solidFill>
                <a:latin typeface="Arial" pitchFamily="34" charset="0"/>
                <a:ea typeface="Arial" pitchFamily="34" charset="-122"/>
                <a:cs typeface="Arial" pitchFamily="34" charset="-120"/>
              </a:rPr>
              <a:t>✔ Registrar hallazgos en SAP</a:t>
            </a:r>
            <a:endParaRPr lang="en-US" sz="680" dirty="0"/>
          </a:p>
          <a:p>
            <a:pPr indent="0" marL="0">
              <a:spcAft>
                <a:spcPts val="200"/>
              </a:spcAft>
              <a:buNone/>
            </a:pPr>
            <a:r>
              <a:rPr lang="en-US" sz="680" dirty="0">
                <a:solidFill>
                  <a:srgbClr val="222222"/>
                </a:solidFill>
                <a:latin typeface="Arial" pitchFamily="34" charset="0"/>
                <a:ea typeface="Arial" pitchFamily="34" charset="-122"/>
                <a:cs typeface="Arial" pitchFamily="34" charset="-120"/>
              </a:rPr>
              <a:t>✔ Informar recurrentes en entrega de turno</a:t>
            </a:r>
            <a:endParaRPr lang="en-US" sz="680" dirty="0"/>
          </a:p>
        </p:txBody>
      </p:sp>
      <p:sp>
        <p:nvSpPr>
          <p:cNvPr id="41" name="Shape 34"/>
          <p:cNvSpPr/>
          <p:nvPr/>
        </p:nvSpPr>
        <p:spPr>
          <a:xfrm>
            <a:off x="6675120" y="6236208"/>
            <a:ext cx="1655064" cy="1645920"/>
          </a:xfrm>
          <a:prstGeom prst="roundRect">
            <a:avLst>
              <a:gd name="adj" fmla="val 3333"/>
            </a:avLst>
          </a:prstGeom>
          <a:solidFill>
            <a:srgbClr val="FDF1F1"/>
          </a:solidFill>
          <a:ln w="12700">
            <a:solidFill>
              <a:srgbClr val="C62828"/>
            </a:solidFill>
            <a:prstDash val="solid"/>
          </a:ln>
        </p:spPr>
      </p:sp>
      <p:sp>
        <p:nvSpPr>
          <p:cNvPr id="42" name="Text 35"/>
          <p:cNvSpPr txBox="1"/>
          <p:nvPr/>
        </p:nvSpPr>
        <p:spPr>
          <a:xfrm>
            <a:off x="6748272" y="6272784"/>
            <a:ext cx="1508760" cy="310896"/>
          </a:xfrm>
          <a:prstGeom prst="rect">
            <a:avLst/>
          </a:prstGeom>
          <a:noFill/>
          <a:ln/>
        </p:spPr>
        <p:txBody>
          <a:bodyPr wrap="square" lIns="0" tIns="0" rIns="0" bIns="0" rtlCol="0" anchor="ctr"/>
          <a:lstStyle/>
          <a:p>
            <a:pPr algn="ctr" indent="0" marL="0">
              <a:buNone/>
            </a:pPr>
            <a:r>
              <a:rPr lang="en-US" sz="730" b="1" dirty="0">
                <a:solidFill>
                  <a:srgbClr val="C62828"/>
                </a:solidFill>
                <a:latin typeface="Arial" pitchFamily="34" charset="0"/>
                <a:ea typeface="Arial" pitchFamily="34" charset="-122"/>
                <a:cs typeface="Arial" pitchFamily="34" charset="-120"/>
              </a:rPr>
              <a:t>BRECHAS PRINCIPALES</a:t>
            </a:r>
            <a:endParaRPr lang="en-US" sz="730" dirty="0"/>
          </a:p>
        </p:txBody>
      </p:sp>
      <p:sp>
        <p:nvSpPr>
          <p:cNvPr id="43" name="Text 36"/>
          <p:cNvSpPr txBox="1"/>
          <p:nvPr/>
        </p:nvSpPr>
        <p:spPr>
          <a:xfrm>
            <a:off x="6748272" y="6620256"/>
            <a:ext cx="1527048" cy="1207008"/>
          </a:xfrm>
          <a:prstGeom prst="rect">
            <a:avLst/>
          </a:prstGeom>
          <a:noFill/>
          <a:ln/>
        </p:spPr>
        <p:txBody>
          <a:bodyPr wrap="square" lIns="0" tIns="0" rIns="0" bIns="0" rtlCol="0" anchor="t"/>
          <a:lstStyle/>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[Brecha 1: lo que falló]</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[Brecha 2]</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[Brecha 3]</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[Brecha 4]</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[Brecha 5]</a:t>
            </a:r>
            <a:endParaRPr lang="en-US" sz="680" dirty="0"/>
          </a:p>
        </p:txBody>
      </p:sp>
      <p:sp>
        <p:nvSpPr>
          <p:cNvPr id="44" name="Shape 37"/>
          <p:cNvSpPr/>
          <p:nvPr/>
        </p:nvSpPr>
        <p:spPr>
          <a:xfrm>
            <a:off x="8421624" y="6236208"/>
            <a:ext cx="1655064" cy="1645920"/>
          </a:xfrm>
          <a:prstGeom prst="roundRect">
            <a:avLst>
              <a:gd name="adj" fmla="val 3333"/>
            </a:avLst>
          </a:prstGeom>
          <a:solidFill>
            <a:srgbClr val="EEF3FA"/>
          </a:solidFill>
          <a:ln w="12700">
            <a:solidFill>
              <a:srgbClr val="1F3D6B"/>
            </a:solidFill>
            <a:prstDash val="solid"/>
          </a:ln>
        </p:spPr>
      </p:sp>
      <p:sp>
        <p:nvSpPr>
          <p:cNvPr id="45" name="Text 38"/>
          <p:cNvSpPr txBox="1"/>
          <p:nvPr/>
        </p:nvSpPr>
        <p:spPr>
          <a:xfrm>
            <a:off x="8494776" y="6272784"/>
            <a:ext cx="1508760" cy="310896"/>
          </a:xfrm>
          <a:prstGeom prst="rect">
            <a:avLst/>
          </a:prstGeom>
          <a:noFill/>
          <a:ln/>
        </p:spPr>
        <p:txBody>
          <a:bodyPr wrap="square" lIns="0" tIns="0" rIns="0" bIns="0" rtlCol="0" anchor="ctr"/>
          <a:lstStyle/>
          <a:p>
            <a:pPr algn="ctr" indent="0" marL="0">
              <a:buNone/>
            </a:pPr>
            <a:r>
              <a:rPr lang="en-US" sz="730" b="1" dirty="0">
                <a:solidFill>
                  <a:srgbClr val="1F3D6B"/>
                </a:solidFill>
                <a:latin typeface="Arial" pitchFamily="34" charset="0"/>
                <a:ea typeface="Arial" pitchFamily="34" charset="-122"/>
                <a:cs typeface="Arial" pitchFamily="34" charset="-120"/>
              </a:rPr>
              <a:t>CONTROLES CRÍTICOS NO NEGOCIABLES</a:t>
            </a:r>
            <a:endParaRPr lang="en-US" sz="730" dirty="0"/>
          </a:p>
        </p:txBody>
      </p:sp>
      <p:sp>
        <p:nvSpPr>
          <p:cNvPr id="46" name="Text 39"/>
          <p:cNvSpPr txBox="1"/>
          <p:nvPr/>
        </p:nvSpPr>
        <p:spPr>
          <a:xfrm>
            <a:off x="8494776" y="6620256"/>
            <a:ext cx="1527048" cy="1207008"/>
          </a:xfrm>
          <a:prstGeom prst="rect">
            <a:avLst/>
          </a:prstGeom>
          <a:noFill/>
          <a:ln/>
        </p:spPr>
        <p:txBody>
          <a:bodyPr wrap="square" lIns="0" tIns="0" rIns="0" bIns="0" rtlCol="0" anchor="t"/>
          <a:lstStyle/>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[Control 1: lo que no se negocia]</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[Control 2]</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[Control 3]</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[Control 4]</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[Control 5]</a:t>
            </a:r>
            <a:endParaRPr lang="en-US" sz="680" dirty="0"/>
          </a:p>
        </p:txBody>
      </p:sp>
      <p:sp>
        <p:nvSpPr>
          <p:cNvPr id="47" name="Shape 40"/>
          <p:cNvSpPr/>
          <p:nvPr/>
        </p:nvSpPr>
        <p:spPr>
          <a:xfrm>
            <a:off x="10168128" y="6236208"/>
            <a:ext cx="1655064" cy="1645920"/>
          </a:xfrm>
          <a:prstGeom prst="roundRect">
            <a:avLst>
              <a:gd name="adj" fmla="val 3333"/>
            </a:avLst>
          </a:prstGeom>
          <a:solidFill>
            <a:srgbClr val="FDF5EC"/>
          </a:solidFill>
          <a:ln w="12700">
            <a:solidFill>
              <a:srgbClr val="B35C00"/>
            </a:solidFill>
            <a:prstDash val="solid"/>
          </a:ln>
        </p:spPr>
      </p:sp>
      <p:sp>
        <p:nvSpPr>
          <p:cNvPr id="48" name="Text 41"/>
          <p:cNvSpPr txBox="1"/>
          <p:nvPr/>
        </p:nvSpPr>
        <p:spPr>
          <a:xfrm>
            <a:off x="10241280" y="6272784"/>
            <a:ext cx="1508760" cy="310896"/>
          </a:xfrm>
          <a:prstGeom prst="rect">
            <a:avLst/>
          </a:prstGeom>
          <a:noFill/>
          <a:ln/>
        </p:spPr>
        <p:txBody>
          <a:bodyPr wrap="square" lIns="0" tIns="0" rIns="0" bIns="0" rtlCol="0" anchor="ctr"/>
          <a:lstStyle/>
          <a:p>
            <a:pPr algn="ctr" indent="0" marL="0">
              <a:buNone/>
            </a:pPr>
            <a:r>
              <a:rPr lang="en-US" sz="730" b="1" dirty="0">
                <a:solidFill>
                  <a:srgbClr val="B35C00"/>
                </a:solidFill>
                <a:latin typeface="Arial" pitchFamily="34" charset="0"/>
                <a:ea typeface="Arial" pitchFamily="34" charset="-122"/>
                <a:cs typeface="Arial" pitchFamily="34" charset="-120"/>
              </a:rPr>
              <a:t>DETENER LA TAREA SI…</a:t>
            </a:r>
            <a:endParaRPr lang="en-US" sz="730" dirty="0"/>
          </a:p>
        </p:txBody>
      </p:sp>
      <p:sp>
        <p:nvSpPr>
          <p:cNvPr id="49" name="Text 42"/>
          <p:cNvSpPr txBox="1"/>
          <p:nvPr/>
        </p:nvSpPr>
        <p:spPr>
          <a:xfrm>
            <a:off x="10241280" y="6620256"/>
            <a:ext cx="1527048" cy="1207008"/>
          </a:xfrm>
          <a:prstGeom prst="rect">
            <a:avLst/>
          </a:prstGeom>
          <a:noFill/>
          <a:ln/>
        </p:spPr>
        <p:txBody>
          <a:bodyPr wrap="square" lIns="0" tIns="0" rIns="0" bIns="0" rtlCol="0" anchor="t"/>
          <a:lstStyle/>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[Condición 1 de detención]</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[Condición 2]</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[Condición 3]</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[Condición 4]</a:t>
            </a:r>
            <a:endParaRPr lang="en-US" sz="680" dirty="0"/>
          </a:p>
          <a:p>
            <a:pPr marL="101600" indent="-101600">
              <a:spcAft>
                <a:spcPts val="200"/>
              </a:spcAft>
              <a:buSzPct val="100000"/>
              <a:buChar char="•"/>
            </a:pPr>
            <a:r>
              <a:rPr lang="en-US" sz="680" i="1" dirty="0">
                <a:solidFill>
                  <a:srgbClr val="7A8594"/>
                </a:solidFill>
                <a:latin typeface="Arial" pitchFamily="34" charset="0"/>
                <a:ea typeface="Arial" pitchFamily="34" charset="-122"/>
                <a:cs typeface="Arial" pitchFamily="34" charset="-120"/>
              </a:rPr>
              <a:t>[Condición 5]</a:t>
            </a:r>
            <a:endParaRPr lang="en-US" sz="680" dirty="0"/>
          </a:p>
        </p:txBody>
      </p:sp>
      <p:sp>
        <p:nvSpPr>
          <p:cNvPr id="50" name="Shape 43"/>
          <p:cNvSpPr/>
          <p:nvPr/>
        </p:nvSpPr>
        <p:spPr>
          <a:xfrm>
            <a:off x="365760" y="7955280"/>
            <a:ext cx="11457432" cy="329184"/>
          </a:xfrm>
          <a:prstGeom prst="rect">
            <a:avLst/>
          </a:prstGeom>
          <a:solidFill>
            <a:srgbClr val="F3F6FA"/>
          </a:solidFill>
          <a:ln w="9525">
            <a:solidFill>
              <a:srgbClr val="C9D3E0"/>
            </a:solidFill>
            <a:prstDash val="solid"/>
          </a:ln>
        </p:spPr>
      </p:sp>
      <p:sp>
        <p:nvSpPr>
          <p:cNvPr id="51" name="Text 44"/>
          <p:cNvSpPr txBox="1"/>
          <p:nvPr/>
        </p:nvSpPr>
        <p:spPr>
          <a:xfrm>
            <a:off x="457200" y="7955280"/>
            <a:ext cx="5852160" cy="329184"/>
          </a:xfrm>
          <a:prstGeom prst="rect">
            <a:avLst/>
          </a:prstGeom>
          <a:noFill/>
          <a:ln/>
        </p:spPr>
        <p:txBody>
          <a:bodyPr wrap="square" lIns="0" tIns="0" rIns="0" bIns="0" rtlCol="0" anchor="ctr"/>
          <a:lstStyle/>
          <a:p>
            <a:pPr indent="0" marL="0">
              <a:buNone/>
            </a:pPr>
            <a:r>
              <a:rPr lang="en-US" sz="750" b="1" dirty="0">
                <a:solidFill>
                  <a:srgbClr val="1F3D6B"/>
                </a:solidFill>
                <a:latin typeface="Arial" pitchFamily="34" charset="0"/>
                <a:ea typeface="Arial" pitchFamily="34" charset="-122"/>
                <a:cs typeface="Arial" pitchFamily="34" charset="-120"/>
              </a:rPr>
              <a:t>CIERRE:  </a:t>
            </a:r>
            <a:pPr indent="0" marL="0">
              <a:buNone/>
            </a:pPr>
            <a:r>
              <a:rPr lang="en-US" sz="750" dirty="0">
                <a:solidFill>
                  <a:srgbClr val="222222"/>
                </a:solidFill>
                <a:latin typeface="Arial" pitchFamily="34" charset="0"/>
                <a:ea typeface="Arial" pitchFamily="34" charset="-122"/>
                <a:cs typeface="Arial" pitchFamily="34" charset="-120"/>
              </a:rPr>
              <a:t>Focos verificados ____ / ____   ·   Tareas detenidas ____   ·   Hallazgos a SAP ____</a:t>
            </a:r>
            <a:endParaRPr lang="en-US" sz="750" dirty="0"/>
          </a:p>
        </p:txBody>
      </p:sp>
      <p:sp>
        <p:nvSpPr>
          <p:cNvPr id="52" name="Text 45"/>
          <p:cNvSpPr txBox="1"/>
          <p:nvPr/>
        </p:nvSpPr>
        <p:spPr>
          <a:xfrm>
            <a:off x="6400800" y="7955280"/>
            <a:ext cx="5349240" cy="329184"/>
          </a:xfrm>
          <a:prstGeom prst="rect">
            <a:avLst/>
          </a:prstGeom>
          <a:noFill/>
          <a:ln/>
        </p:spPr>
        <p:txBody>
          <a:bodyPr wrap="square" lIns="0" tIns="0" rIns="0" bIns="0" rtlCol="0" anchor="ctr"/>
          <a:lstStyle/>
          <a:p>
            <a:pPr algn="r" indent="0" marL="0">
              <a:buNone/>
            </a:pPr>
            <a:r>
              <a:rPr lang="en-US" sz="750" b="1" dirty="0">
                <a:solidFill>
                  <a:srgbClr val="1F3D6B"/>
                </a:solidFill>
                <a:latin typeface="Arial" pitchFamily="34" charset="0"/>
                <a:ea typeface="Arial" pitchFamily="34" charset="-122"/>
                <a:cs typeface="Arial" pitchFamily="34" charset="-120"/>
              </a:rPr>
              <a:t>Firma Inspector ITO: </a:t>
            </a:r>
            <a:pPr algn="r" indent="0" marL="0">
              <a:buNone/>
            </a:pPr>
            <a:r>
              <a:rPr lang="en-US" sz="750" dirty="0">
                <a:solidFill>
                  <a:srgbClr val="222222"/>
                </a:solidFill>
                <a:latin typeface="Arial" pitchFamily="34" charset="0"/>
                <a:ea typeface="Arial" pitchFamily="34" charset="-122"/>
                <a:cs typeface="Arial" pitchFamily="34" charset="-120"/>
              </a:rPr>
              <a:t>________________     </a:t>
            </a:r>
            <a:pPr algn="r" indent="0" marL="0">
              <a:buNone/>
            </a:pPr>
            <a:r>
              <a:rPr lang="en-US" sz="750" b="1" dirty="0">
                <a:solidFill>
                  <a:srgbClr val="1F3D6B"/>
                </a:solidFill>
                <a:latin typeface="Arial" pitchFamily="34" charset="0"/>
                <a:ea typeface="Arial" pitchFamily="34" charset="-122"/>
                <a:cs typeface="Arial" pitchFamily="34" charset="-120"/>
              </a:rPr>
              <a:t>Firma Supervisor EECC: </a:t>
            </a:r>
            <a:pPr algn="r" indent="0" marL="0">
              <a:buNone/>
            </a:pPr>
            <a:r>
              <a:rPr lang="en-US" sz="750" dirty="0">
                <a:solidFill>
                  <a:srgbClr val="222222"/>
                </a:solidFill>
                <a:latin typeface="Arial" pitchFamily="34" charset="0"/>
                <a:ea typeface="Arial" pitchFamily="34" charset="-122"/>
                <a:cs typeface="Arial" pitchFamily="34" charset="-120"/>
              </a:rPr>
              <a:t>________________</a:t>
            </a:r>
            <a:endParaRPr lang="en-US" sz="750" dirty="0"/>
          </a:p>
        </p:txBody>
      </p:sp>
      <p:sp>
        <p:nvSpPr>
          <p:cNvPr id="53" name="Shape 46"/>
          <p:cNvSpPr/>
          <p:nvPr/>
        </p:nvSpPr>
        <p:spPr>
          <a:xfrm>
            <a:off x="0" y="8385048"/>
            <a:ext cx="12191695" cy="347472"/>
          </a:xfrm>
          <a:prstGeom prst="rect">
            <a:avLst/>
          </a:prstGeom>
          <a:solidFill>
            <a:srgbClr val="1F3D6B"/>
          </a:solidFill>
          <a:ln w="12700">
            <a:solidFill>
              <a:srgbClr val="1F3D6B"/>
            </a:solidFill>
            <a:prstDash val="solid"/>
          </a:ln>
        </p:spPr>
      </p:sp>
      <p:sp>
        <p:nvSpPr>
          <p:cNvPr id="54" name="Text 47"/>
          <p:cNvSpPr txBox="1"/>
          <p:nvPr/>
        </p:nvSpPr>
        <p:spPr>
          <a:xfrm>
            <a:off x="365760" y="8385048"/>
            <a:ext cx="4206240" cy="347472"/>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NUESTRO COMPROMISO: CERO DAÑO A LAS PERSONAS</a:t>
            </a:r>
            <a:endParaRPr lang="en-US" sz="950" dirty="0"/>
          </a:p>
        </p:txBody>
      </p:sp>
      <p:sp>
        <p:nvSpPr>
          <p:cNvPr id="55" name="Text 48"/>
          <p:cNvSpPr txBox="1"/>
          <p:nvPr/>
        </p:nvSpPr>
        <p:spPr>
          <a:xfrm>
            <a:off x="4206240" y="8385048"/>
            <a:ext cx="3840480" cy="347472"/>
          </a:xfrm>
          <a:prstGeom prst="rect">
            <a:avLst/>
          </a:prstGeom>
          <a:noFill/>
          <a:ln/>
        </p:spPr>
        <p:txBody>
          <a:bodyPr wrap="square" lIns="0" tIns="0" rIns="0" bIns="0" rtlCol="0" anchor="ctr"/>
          <a:lstStyle/>
          <a:p>
            <a:pPr algn="ctr" indent="0" marL="0">
              <a:buNone/>
            </a:pPr>
            <a:r>
              <a:rPr lang="en-US" sz="800" b="1" dirty="0">
                <a:solidFill>
                  <a:srgbClr val="E53935"/>
                </a:solidFill>
                <a:latin typeface="Arial" pitchFamily="34" charset="0"/>
                <a:ea typeface="Arial" pitchFamily="34" charset="-122"/>
                <a:cs typeface="Arial" pitchFamily="34" charset="-120"/>
              </a:rPr>
              <a:t>▲▲  </a:t>
            </a:r>
            <a:pPr algn="ctr" indent="0" marL="0">
              <a:buNone/>
            </a:pPr>
            <a:r>
              <a:rPr lang="en-US" sz="800" b="1" dirty="0">
                <a:solidFill>
                  <a:srgbClr val="FFFFFF"/>
                </a:solidFill>
                <a:latin typeface="Arial" pitchFamily="34" charset="0"/>
                <a:ea typeface="Arial" pitchFamily="34" charset="-122"/>
                <a:cs typeface="Arial" pitchFamily="34" charset="-120"/>
              </a:rPr>
              <a:t>FORMATO ASSURANCE ITO · v1.0 · PLANTILLA</a:t>
            </a:r>
            <a:endParaRPr lang="en-US" sz="800" dirty="0"/>
          </a:p>
        </p:txBody>
      </p:sp>
      <p:sp>
        <p:nvSpPr>
          <p:cNvPr id="56" name="Text 49"/>
          <p:cNvSpPr txBox="1"/>
          <p:nvPr/>
        </p:nvSpPr>
        <p:spPr>
          <a:xfrm>
            <a:off x="7680960" y="8385048"/>
            <a:ext cx="4142232" cy="347472"/>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SEGURIDAD, SALUD, PERSONAS Y MEDIO AMBIENTE</a:t>
            </a:r>
            <a:endParaRPr lang="en-US" sz="950" dirty="0"/>
          </a:p>
        </p:txBody>
      </p:sp>
      <p:sp>
        <p:nvSpPr>
          <p:cNvPr id="57" name="Instrucciones IA" hidden="1"/>
          <p:cNvSpPr txBox="1"/>
          <p:nvPr/>
        </p:nvSpPr>
        <p:spPr>
          <a:xfrm>
            <a:off x="12648895" y="0"/>
            <a:ext cx="5486400" cy="8732520"/>
          </a:xfrm>
          <a:prstGeom prst="rect">
            <a:avLst/>
          </a:prstGeom>
          <a:noFill/>
          <a:ln/>
        </p:spPr>
        <p:txBody>
          <a:bodyPr wrap="square" lIns="0" tIns="0" rIns="0" bIns="0" rtlCol="0" anchor="t"/>
          <a:lstStyle/>
          <a:p>
            <a:pPr indent="0" marL="0">
              <a:buNone/>
            </a:pPr>
            <a:r>
              <a:rPr lang="en-US" sz="600" dirty="0">
                <a:solidFill>
                  <a:srgbClr val="222222"/>
                </a:solidFill>
                <a:latin typeface="Arial" pitchFamily="34" charset="0"/>
                <a:ea typeface="Arial" pitchFamily="34" charset="-122"/>
                <a:cs typeface="Arial" pitchFamily="34" charset="-120"/>
              </a:rPr>
              <a:t>INSTRUCCIONES PARA ASISTENTES IA – FORMATO ASSURANCE ITO v1.0</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OBJETIVO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Con el Excel de eventos de seguridad que entrega el usuario (CAAP, HAP, CBP, HBP), completar la lámina 1 "PLANTILLA" de este archivo con los focos prioritarios de verificación en terreno para el turno y período indicados.</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1. ENTRADAS Y DATOS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Identifica en el Excel las columnas de: ID del evento, tipo (CAAP/HAP/CBP/HBP), fecha, turno, empresa contratista (EECC), área/sector y descripción. Si existen, también acciones y estado.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Usa solo eventos del turno (1-3 o 2-4) y del período que indique el usuario. Si el turno o el período no están claros, pregunta antes de completar.</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Usa exclusivamente datos del Excel. Nunca inventes IDs, empresas, fechas, áreas ni eventos. Copia los IDs exactamente como aparecen.</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Si falta un dato necesario, escribe [DATO FALTANTE] en esa casilla e infórmalo al usuario.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No incluyas nombres de personas; usa el cargo o rol (trabajador, rigger, operador, supervisor).</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2. INDICADORES 14 DÍAS (franja "EVENTOS ÚLTIMOS 14 DÍAS")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Período: los 14 días que terminan en la fecha de corte indicada por el usuario (fecha de corte y los 13 días previos), según la columna de fecha del evento (en el Excel de eventos: "Fecha Evento", hoja "Export"). Escríbelo como "del DD al DD MES". Ej.: fecha de corte 23 SEP → período del 10 al 23 SEP (14 días, incluido el día de corte).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Total: todos los eventos del período. Por tipo, combina clasificación y potencialidad (columnas "Clasificación" y "Potencialidad"): CAAP = Cuasi accidente + Alto Potencial; HAP = Hallazgo + Alto Potencial; CBP = Cuasi accidente + Bajo Potencial; HBP = Hallazgo + Bajo Potencial. Si hay accidentes u otros tipos, inclúyelos en el Total e indícalos en tu resumen al usuario.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vs. 14 días anteriores: total de eventos de los 14 días inmediatamente previos al período, sin superponerse con él (en el ejemplo: del 27 AGO al 09 SEP), seguido de ▲ si el total actual es mayor, ▼ si es menor o = si es igual. Ej.: "19 ▲". Si el Excel no cubre ese período, escribe [DATO FALTANTE].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Verifica que CAAP + HAP + CBP + HBP (+ otros) = Total.</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3. SELECCIÓN DE FOCOS (4 a 6)</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Agrupa los eventos por riesgo (p. ej.: izaje, trabajo en altura/andamios, vehículos y equipos, energía eléctrica, excavaciones/zanjas, orden y aseo). Un foco = un riesgo.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Prioriza en este orden: CAAP &gt; HAP &gt; CBP &gt; HBP. A igual tipo: más eventos del mismo riesgo y, luego, más recientes.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Un tema de HBP con 3 o más eventos en el período puede ser foco propio (recurrente).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Ordena los focos de mayor a menor prioridad y numéralos 1, 2, 3…</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Si hay menos de 6 focos, elimina las filas sobrantes de la tabla.</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4. NIVEL / PRIORIDAD (primera columna)</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Estructura: número / "N1 · CRÍTICO" o "N2 · ALTO" / tipo del evento más grave del foco (CAAP, HAP, CBP o HBP).</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N1 · CRÍTICO (celda roja C62828): el foco incluye un CAAP o HAP, o involucra un riesgo crítico (izaje, trabajo en altura, energía eléctrica/energías peligrosas, vehículos o equipos móviles).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N2 · ALTO (celda naranja E67E22): el resto.</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5. FOCO DE ASSURANCE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Formato: "Tema del foco." en negrita + instrucción que empieza con un verbo ("Verificar…"): qué se revisa, dónde y bajo qué estándar. Máximo unos 350 caracteres.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Luego, en línea aparte, "Criterio de restricción:" (en negrita) + la condición en que se prohíbe o se detiene la tarea. Máximo unos 150 caracteres.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Redacta a partir de las brechas reales de los eventos. No cites números de estándares o procedimientos que no estén en el Excel.</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6. EVENTO / EVIDENCIA ORIGEN</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Formato fijo por evento: "[T1-3] TIPO ID – EECC:" (en negrita) + qué ocurrió, en una frase de hasta 120 caracteres.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Máximo 3 eventos por foco; elige los de mayor potencial. Si un evento aparece en ambos turnos, usa [T1-3/T2-4].</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Para temas recurrentes se permite: "[T1-3] N eventos HBP: descripción del patrón."</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7. HERRAMIENTA PREVENTIVA SGE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Herramientas unidas con "+". Usa las que figuren en el Excel o las ya usadas en este formato: GCC, CdP [tema] (p. ej. CdP Maniobras de Izaje, CdP Trabajos en Altura, CdP Operación de Vehículos Livianos), ASP, PTS, Gestión del Cambio, Desafío en Terreno, Inspección de Plataformas de Andamios, EdC Vehículo Liviano, Inspección de Equipos, Acompañamiento ASP.</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8. EVIDENCIA / REGISTRO ESPERADO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Registros concretos y verificables separados por "/", terminando siempre en "registro fotográfico".</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9. RECURRENTE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 eventos HBP — tema (n) · tema (n). Refuerzo transversal en todos los recorridos y al cierre de cada tarea."</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 = total de HBP del turno y período, incluidos los usados en los focos. Verifica la suma: los subtotales no pueden superar N.</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10. SÍNTESIS Y RECORRIDOS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Bloque AM y Bloque Mediodía: áreas reales tomadas del Excel + 3 o 4 controles, cada uno con el N° de foco entre paréntesis, p. ej. "Plan de izaje específico por maniobra (1)". Asigna al AM los focos de inicio de jornada (izaje, pre-uso de vehículos y equipos) y al Mediodía los de intervención (plataformas, instalaciones eléctricas, orden y aseo).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Bloque PM: mantén "Gestión SAP · CdP pendientes · Entrega de turno" y sus líneas fijas. En "Actualizar PTS con brechas de CdP:" indica las brechas que el Excel respalde; si no hay, elimina esa línea.</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Brechas principales / Controles críticos no negociables / Detener la tarea si…: máximo 5 viñetas de 1 línea (unos 50 caracteres) en cada recuadro, coherentes con los focos. Brechas = lo que falló. Controles = lo que no se negocia. Detener si = condición concreta de detención.</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11. ENCABEZADO, CIERRE Y FIRMAS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Título: "ASSURANCE TURNO 1-3" o "ASSURANCE TURNO 2-4". Fecha/Período: "DD al DD MES". Turno: marca ☒ en el que corresponde.</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Inspector ITO, Proyecto/EECC y Área/Sector: complétalos solo si el usuario los entrega; si no, deja la línea en blanco.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La franja CIERRE y las firmas se dejan en blanco.</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12. FORMATO (obligatorio)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No cambies estructura, columnas, colores, fuentes, íconos ni tamaño de la lámina.</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Reemplaza todo texto gris entre [corchetes] por contenido real en color de texto normal (negro, sin cursiva). No debe quedar ningún corchete, salvo [DATO FALTANTE] y las marcas de turno [T1-3]/[T2-4].</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Letra mínima 6 pt. Si el texto no cabe, resume; no reduzcas más la letra ni agrandes filas.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Antes de entregar: elimina la lámina 2 (instructivo). No modifiques ni muevas el cuadro de texto oculto "Instrucciones IA" de la lámina 1.</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Nombre del archivo: ASSURANCE_TURNO_[1-3 o 2-4]_[DD-DD]_[MES].pptx (ej.: ASSURANCE_TURNO_1-3_07-20_SEP.pptx).</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13. ENTREGA</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Si puedes editar archivos .pptx: entrega el archivo completado.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Si no puedes: entrega el contenido en texto, ordenado por sección y por fila de la plantilla (Encabezado; Indicadores 14 días; Foco 1 a 6 con sus 5 columnas; Recurrente; Bloques AM/Mediodía/PM; Brechas; Controles; Detener si), listo para copiar y pegar en cada casilla.</a:t>
            </a:r>
            <a:endParaRPr lang="en-US" sz="600" dirty="0"/>
          </a:p>
          <a:p>
            <a:pPr indent="0" marL="0">
              <a:buNone/>
            </a:pP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14. CONTROL DE CALIDAD (en tu respuesta al usuario, no dentro del archivo)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Al final de tu respuesta incluye un resumen breve con:</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total de eventos leídos y cuántos de cada tipo;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eventos usados en cada foco y los de alto potencial que quedaron fuera, con el motivo;</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 datos faltantes o inconsistentes y supuestos realizados.</a:t>
            </a:r>
            <a:endParaRPr lang="en-US" sz="600" dirty="0"/>
          </a:p>
          <a:p>
            <a:pPr indent="0" marL="0">
              <a:buNone/>
            </a:pPr>
            <a:r>
              <a:rPr lang="en-US" sz="600" dirty="0">
                <a:solidFill>
                  <a:srgbClr val="222222"/>
                </a:solidFill>
                <a:latin typeface="Arial" pitchFamily="34" charset="0"/>
                <a:ea typeface="Arial" pitchFamily="34" charset="-122"/>
                <a:cs typeface="Arial" pitchFamily="34" charset="-120"/>
              </a:rPr>
              <a:t>Antes de entregar, confirma que: cada ID existe en el Excel; cada foco tiene al menos un evento de origen; los conteos del Recurrente cuadran; y no quedan textos guía.</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65760" y="228600"/>
            <a:ext cx="1645920" cy="640080"/>
          </a:xfrm>
          <a:prstGeom prst="rect">
            <a:avLst/>
          </a:prstGeom>
        </p:spPr>
      </p:pic>
      <p:sp>
        <p:nvSpPr>
          <p:cNvPr id="3" name="Text 0"/>
          <p:cNvSpPr txBox="1"/>
          <p:nvPr/>
        </p:nvSpPr>
        <p:spPr>
          <a:xfrm>
            <a:off x="2194560" y="182880"/>
            <a:ext cx="7772400" cy="502920"/>
          </a:xfrm>
          <a:prstGeom prst="rect">
            <a:avLst/>
          </a:prstGeom>
          <a:noFill/>
          <a:ln/>
        </p:spPr>
        <p:txBody>
          <a:bodyPr wrap="square" lIns="0" tIns="0" rIns="0" bIns="0" rtlCol="0" anchor="ctr"/>
          <a:lstStyle/>
          <a:p>
            <a:pPr algn="ctr" indent="0" marL="0">
              <a:buNone/>
            </a:pPr>
            <a:r>
              <a:rPr lang="en-US" sz="2600" b="1" dirty="0">
                <a:solidFill>
                  <a:srgbClr val="1F3D6B"/>
                </a:solidFill>
                <a:latin typeface="Arial" pitchFamily="34" charset="0"/>
                <a:ea typeface="Arial" pitchFamily="34" charset="-122"/>
                <a:cs typeface="Arial" pitchFamily="34" charset="-120"/>
              </a:rPr>
              <a:t>INSTRUCTIVO DE LLENADO</a:t>
            </a:r>
            <a:endParaRPr lang="en-US" sz="2600" dirty="0"/>
          </a:p>
        </p:txBody>
      </p:sp>
      <p:sp>
        <p:nvSpPr>
          <p:cNvPr id="4" name="Text 1"/>
          <p:cNvSpPr txBox="1"/>
          <p:nvPr/>
        </p:nvSpPr>
        <p:spPr>
          <a:xfrm>
            <a:off x="2194560" y="685800"/>
            <a:ext cx="7772400" cy="256032"/>
          </a:xfrm>
          <a:prstGeom prst="rect">
            <a:avLst/>
          </a:prstGeom>
          <a:noFill/>
          <a:ln/>
        </p:spPr>
        <p:txBody>
          <a:bodyPr wrap="square" lIns="0" tIns="0" rIns="0" bIns="0" rtlCol="0" anchor="ctr"/>
          <a:lstStyle/>
          <a:p>
            <a:pPr algn="ctr" indent="0" marL="0">
              <a:buNone/>
            </a:pPr>
            <a:r>
              <a:rPr lang="en-US" sz="1150" b="1" dirty="0">
                <a:solidFill>
                  <a:srgbClr val="1F3D6B"/>
                </a:solidFill>
                <a:latin typeface="Arial" pitchFamily="34" charset="0"/>
                <a:ea typeface="Arial" pitchFamily="34" charset="-122"/>
                <a:cs typeface="Arial" pitchFamily="34" charset="-120"/>
              </a:rPr>
              <a:t>CÓMO COMPLETAR EL FORMATO ASSURANCE ITO CADA SEMANA</a:t>
            </a:r>
            <a:endParaRPr lang="en-US" sz="1150" dirty="0"/>
          </a:p>
        </p:txBody>
      </p:sp>
      <p:sp>
        <p:nvSpPr>
          <p:cNvPr id="5" name="Shape 2"/>
          <p:cNvSpPr/>
          <p:nvPr/>
        </p:nvSpPr>
        <p:spPr>
          <a:xfrm>
            <a:off x="365760" y="1188720"/>
            <a:ext cx="3749040" cy="1298448"/>
          </a:xfrm>
          <a:prstGeom prst="roundRect">
            <a:avLst>
              <a:gd name="adj" fmla="val 4225"/>
            </a:avLst>
          </a:prstGeom>
          <a:solidFill>
            <a:srgbClr val="F3F6FA"/>
          </a:solidFill>
          <a:ln w="9525">
            <a:solidFill>
              <a:srgbClr val="C9D3E0"/>
            </a:solidFill>
            <a:prstDash val="solid"/>
          </a:ln>
        </p:spPr>
      </p:sp>
      <p:sp>
        <p:nvSpPr>
          <p:cNvPr id="6" name="Shape 3"/>
          <p:cNvSpPr/>
          <p:nvPr/>
        </p:nvSpPr>
        <p:spPr>
          <a:xfrm>
            <a:off x="502920" y="1307592"/>
            <a:ext cx="329184" cy="329184"/>
          </a:xfrm>
          <a:prstGeom prst="ellipse">
            <a:avLst/>
          </a:prstGeom>
          <a:solidFill>
            <a:srgbClr val="1F3D6B"/>
          </a:solidFill>
          <a:ln w="12700">
            <a:solidFill>
              <a:srgbClr val="1F3D6B"/>
            </a:solidFill>
            <a:prstDash val="solid"/>
          </a:ln>
        </p:spPr>
      </p:sp>
      <p:sp>
        <p:nvSpPr>
          <p:cNvPr id="7" name="Text 4"/>
          <p:cNvSpPr txBox="1"/>
          <p:nvPr/>
        </p:nvSpPr>
        <p:spPr>
          <a:xfrm>
            <a:off x="502920" y="13075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5"/>
          <p:cNvSpPr txBox="1"/>
          <p:nvPr/>
        </p:nvSpPr>
        <p:spPr>
          <a:xfrm>
            <a:off x="932688" y="1307592"/>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ENCABEZADO</a:t>
            </a:r>
            <a:endParaRPr lang="en-US" sz="1050" dirty="0"/>
          </a:p>
        </p:txBody>
      </p:sp>
      <p:sp>
        <p:nvSpPr>
          <p:cNvPr id="9" name="Text 6"/>
          <p:cNvSpPr txBox="1"/>
          <p:nvPr/>
        </p:nvSpPr>
        <p:spPr>
          <a:xfrm>
            <a:off x="530352" y="1719072"/>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Título según turno (ASSURANCE TURNO 1-3 o 2-4). Completar período de vigencia (del __ al __), turno, Inspector ITO, Proyecto / EECC y Área.</a:t>
            </a:r>
            <a:endParaRPr lang="en-US" sz="930" dirty="0"/>
          </a:p>
        </p:txBody>
      </p:sp>
      <p:sp>
        <p:nvSpPr>
          <p:cNvPr id="10" name="Shape 7"/>
          <p:cNvSpPr/>
          <p:nvPr/>
        </p:nvSpPr>
        <p:spPr>
          <a:xfrm>
            <a:off x="4219956" y="1188720"/>
            <a:ext cx="3749040" cy="1298448"/>
          </a:xfrm>
          <a:prstGeom prst="roundRect">
            <a:avLst>
              <a:gd name="adj" fmla="val 4225"/>
            </a:avLst>
          </a:prstGeom>
          <a:solidFill>
            <a:srgbClr val="F3F6FA"/>
          </a:solidFill>
          <a:ln w="9525">
            <a:solidFill>
              <a:srgbClr val="C9D3E0"/>
            </a:solidFill>
            <a:prstDash val="solid"/>
          </a:ln>
        </p:spPr>
      </p:sp>
      <p:sp>
        <p:nvSpPr>
          <p:cNvPr id="11" name="Shape 8"/>
          <p:cNvSpPr/>
          <p:nvPr/>
        </p:nvSpPr>
        <p:spPr>
          <a:xfrm>
            <a:off x="4357116" y="1307592"/>
            <a:ext cx="329184" cy="329184"/>
          </a:xfrm>
          <a:prstGeom prst="ellipse">
            <a:avLst/>
          </a:prstGeom>
          <a:solidFill>
            <a:srgbClr val="1F3D6B"/>
          </a:solidFill>
          <a:ln w="12700">
            <a:solidFill>
              <a:srgbClr val="1F3D6B"/>
            </a:solidFill>
            <a:prstDash val="solid"/>
          </a:ln>
        </p:spPr>
      </p:sp>
      <p:sp>
        <p:nvSpPr>
          <p:cNvPr id="12" name="Text 9"/>
          <p:cNvSpPr txBox="1"/>
          <p:nvPr/>
        </p:nvSpPr>
        <p:spPr>
          <a:xfrm>
            <a:off x="4357116" y="13075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0"/>
          <p:cNvSpPr txBox="1"/>
          <p:nvPr/>
        </p:nvSpPr>
        <p:spPr>
          <a:xfrm>
            <a:off x="4786884" y="1307592"/>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INDICADORES 14 DÍAS</a:t>
            </a:r>
            <a:endParaRPr lang="en-US" sz="1050" dirty="0"/>
          </a:p>
        </p:txBody>
      </p:sp>
      <p:sp>
        <p:nvSpPr>
          <p:cNvPr id="14" name="Text 11"/>
          <p:cNvSpPr txBox="1"/>
          <p:nvPr/>
        </p:nvSpPr>
        <p:spPr>
          <a:xfrm>
            <a:off x="4384548" y="1719072"/>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Total de eventos y cantidad por tipo en los 14 días al cierre, comparado con los 14 días previos (▲ subió, ▼ bajó, = igual).</a:t>
            </a:r>
            <a:endParaRPr lang="en-US" sz="930" dirty="0"/>
          </a:p>
          <a:p>
            <a:pPr indent="0" marL="0">
              <a:buNone/>
            </a:pPr>
            <a:r>
              <a:rPr lang="en-US" sz="930" dirty="0">
                <a:solidFill>
                  <a:srgbClr val="222222"/>
                </a:solidFill>
                <a:latin typeface="Arial" pitchFamily="34" charset="0"/>
                <a:ea typeface="Arial" pitchFamily="34" charset="-122"/>
                <a:cs typeface="Arial" pitchFamily="34" charset="-120"/>
              </a:rPr>
              <a:t>Ej.: cierre 23 SEP → actual 10–23 SEP vs. anterior 27 AGO–09 SEP.</a:t>
            </a:r>
            <a:endParaRPr lang="en-US" sz="930" dirty="0"/>
          </a:p>
        </p:txBody>
      </p:sp>
      <p:sp>
        <p:nvSpPr>
          <p:cNvPr id="15" name="Shape 12"/>
          <p:cNvSpPr/>
          <p:nvPr/>
        </p:nvSpPr>
        <p:spPr>
          <a:xfrm>
            <a:off x="8074152" y="1188720"/>
            <a:ext cx="3749040" cy="1298448"/>
          </a:xfrm>
          <a:prstGeom prst="roundRect">
            <a:avLst>
              <a:gd name="adj" fmla="val 4225"/>
            </a:avLst>
          </a:prstGeom>
          <a:solidFill>
            <a:srgbClr val="F3F6FA"/>
          </a:solidFill>
          <a:ln w="9525">
            <a:solidFill>
              <a:srgbClr val="C9D3E0"/>
            </a:solidFill>
            <a:prstDash val="solid"/>
          </a:ln>
        </p:spPr>
      </p:sp>
      <p:sp>
        <p:nvSpPr>
          <p:cNvPr id="16" name="Shape 13"/>
          <p:cNvSpPr/>
          <p:nvPr/>
        </p:nvSpPr>
        <p:spPr>
          <a:xfrm>
            <a:off x="8211312" y="1307592"/>
            <a:ext cx="329184" cy="329184"/>
          </a:xfrm>
          <a:prstGeom prst="ellipse">
            <a:avLst/>
          </a:prstGeom>
          <a:solidFill>
            <a:srgbClr val="1F3D6B"/>
          </a:solidFill>
          <a:ln w="12700">
            <a:solidFill>
              <a:srgbClr val="1F3D6B"/>
            </a:solidFill>
            <a:prstDash val="solid"/>
          </a:ln>
        </p:spPr>
      </p:sp>
      <p:sp>
        <p:nvSpPr>
          <p:cNvPr id="17" name="Text 14"/>
          <p:cNvSpPr txBox="1"/>
          <p:nvPr/>
        </p:nvSpPr>
        <p:spPr>
          <a:xfrm>
            <a:off x="8211312" y="13075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txBox="1"/>
          <p:nvPr/>
        </p:nvSpPr>
        <p:spPr>
          <a:xfrm>
            <a:off x="8641080" y="1307592"/>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SELECCIÓN DE FOCOS</a:t>
            </a:r>
            <a:endParaRPr lang="en-US" sz="1050" dirty="0"/>
          </a:p>
        </p:txBody>
      </p:sp>
      <p:sp>
        <p:nvSpPr>
          <p:cNvPr id="19" name="Text 16"/>
          <p:cNvSpPr txBox="1"/>
          <p:nvPr/>
        </p:nvSpPr>
        <p:spPr>
          <a:xfrm>
            <a:off x="8238744" y="1719072"/>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Entre 4 y 6 focos, a partir de los eventos de los últimos 14 días (CAAP, HAP, CBP, HBP). Un foco = un riesgo: agrupar en un mismo foco los eventos del mismo riesgo. Priorizar los de alto potencial.</a:t>
            </a:r>
            <a:endParaRPr lang="en-US" sz="930" dirty="0"/>
          </a:p>
        </p:txBody>
      </p:sp>
      <p:sp>
        <p:nvSpPr>
          <p:cNvPr id="20" name="Shape 17"/>
          <p:cNvSpPr/>
          <p:nvPr/>
        </p:nvSpPr>
        <p:spPr>
          <a:xfrm>
            <a:off x="365760" y="2596896"/>
            <a:ext cx="3749040" cy="1298448"/>
          </a:xfrm>
          <a:prstGeom prst="roundRect">
            <a:avLst>
              <a:gd name="adj" fmla="val 4225"/>
            </a:avLst>
          </a:prstGeom>
          <a:solidFill>
            <a:srgbClr val="F3F6FA"/>
          </a:solidFill>
          <a:ln w="9525">
            <a:solidFill>
              <a:srgbClr val="C9D3E0"/>
            </a:solidFill>
            <a:prstDash val="solid"/>
          </a:ln>
        </p:spPr>
      </p:sp>
      <p:sp>
        <p:nvSpPr>
          <p:cNvPr id="21" name="Shape 18"/>
          <p:cNvSpPr/>
          <p:nvPr/>
        </p:nvSpPr>
        <p:spPr>
          <a:xfrm>
            <a:off x="502920" y="2715768"/>
            <a:ext cx="329184" cy="329184"/>
          </a:xfrm>
          <a:prstGeom prst="ellipse">
            <a:avLst/>
          </a:prstGeom>
          <a:solidFill>
            <a:srgbClr val="1F3D6B"/>
          </a:solidFill>
          <a:ln w="12700">
            <a:solidFill>
              <a:srgbClr val="1F3D6B"/>
            </a:solidFill>
            <a:prstDash val="solid"/>
          </a:ln>
        </p:spPr>
      </p:sp>
      <p:sp>
        <p:nvSpPr>
          <p:cNvPr id="22" name="Text 19"/>
          <p:cNvSpPr txBox="1"/>
          <p:nvPr/>
        </p:nvSpPr>
        <p:spPr>
          <a:xfrm>
            <a:off x="502920" y="2715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3" name="Text 20"/>
          <p:cNvSpPr txBox="1"/>
          <p:nvPr/>
        </p:nvSpPr>
        <p:spPr>
          <a:xfrm>
            <a:off x="932688" y="2715768"/>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NIVEL / PRIORIDAD</a:t>
            </a:r>
            <a:endParaRPr lang="en-US" sz="1050" dirty="0"/>
          </a:p>
        </p:txBody>
      </p:sp>
      <p:sp>
        <p:nvSpPr>
          <p:cNvPr id="24" name="Text 21"/>
          <p:cNvSpPr txBox="1"/>
          <p:nvPr/>
        </p:nvSpPr>
        <p:spPr>
          <a:xfrm>
            <a:off x="530352" y="3127248"/>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N° + nivel + tipo del evento más grave del foco. N1 · CRÍTICO = celda roja; N2 · ALTO = celda naranja. Ordenar de mayor a menor. Para cambiar color: clic en la celda › Diseño de tabla › Sombreado.</a:t>
            </a:r>
            <a:endParaRPr lang="en-US" sz="930" dirty="0"/>
          </a:p>
        </p:txBody>
      </p:sp>
      <p:sp>
        <p:nvSpPr>
          <p:cNvPr id="25" name="Shape 22"/>
          <p:cNvSpPr/>
          <p:nvPr/>
        </p:nvSpPr>
        <p:spPr>
          <a:xfrm>
            <a:off x="4219956" y="2596896"/>
            <a:ext cx="3749040" cy="1298448"/>
          </a:xfrm>
          <a:prstGeom prst="roundRect">
            <a:avLst>
              <a:gd name="adj" fmla="val 4225"/>
            </a:avLst>
          </a:prstGeom>
          <a:solidFill>
            <a:srgbClr val="F3F6FA"/>
          </a:solidFill>
          <a:ln w="9525">
            <a:solidFill>
              <a:srgbClr val="C9D3E0"/>
            </a:solidFill>
            <a:prstDash val="solid"/>
          </a:ln>
        </p:spPr>
      </p:sp>
      <p:sp>
        <p:nvSpPr>
          <p:cNvPr id="26" name="Shape 23"/>
          <p:cNvSpPr/>
          <p:nvPr/>
        </p:nvSpPr>
        <p:spPr>
          <a:xfrm>
            <a:off x="4357116" y="2715768"/>
            <a:ext cx="329184" cy="329184"/>
          </a:xfrm>
          <a:prstGeom prst="ellipse">
            <a:avLst/>
          </a:prstGeom>
          <a:solidFill>
            <a:srgbClr val="1F3D6B"/>
          </a:solidFill>
          <a:ln w="12700">
            <a:solidFill>
              <a:srgbClr val="1F3D6B"/>
            </a:solidFill>
            <a:prstDash val="solid"/>
          </a:ln>
        </p:spPr>
      </p:sp>
      <p:sp>
        <p:nvSpPr>
          <p:cNvPr id="27" name="Text 24"/>
          <p:cNvSpPr txBox="1"/>
          <p:nvPr/>
        </p:nvSpPr>
        <p:spPr>
          <a:xfrm>
            <a:off x="4357116" y="2715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8" name="Text 25"/>
          <p:cNvSpPr txBox="1"/>
          <p:nvPr/>
        </p:nvSpPr>
        <p:spPr>
          <a:xfrm>
            <a:off x="4786884" y="2715768"/>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FOCO DE ASSURANCE</a:t>
            </a:r>
            <a:endParaRPr lang="en-US" sz="1050" dirty="0"/>
          </a:p>
        </p:txBody>
      </p:sp>
      <p:sp>
        <p:nvSpPr>
          <p:cNvPr id="29" name="Text 26"/>
          <p:cNvSpPr txBox="1"/>
          <p:nvPr/>
        </p:nvSpPr>
        <p:spPr>
          <a:xfrm>
            <a:off x="4384548" y="3127248"/>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Tema en negrita + instrucción que parte con verbo ("Verificar…"): qué, dónde y bajo qué estándar (máx. 3 líneas). Cerrar con "Criterio de restricción": cuándo se prohíbe o se detiene la tarea (máx. 2 líneas).</a:t>
            </a:r>
            <a:endParaRPr lang="en-US" sz="930" dirty="0"/>
          </a:p>
        </p:txBody>
      </p:sp>
      <p:sp>
        <p:nvSpPr>
          <p:cNvPr id="30" name="Shape 27"/>
          <p:cNvSpPr/>
          <p:nvPr/>
        </p:nvSpPr>
        <p:spPr>
          <a:xfrm>
            <a:off x="8074152" y="2596896"/>
            <a:ext cx="3749040" cy="1298448"/>
          </a:xfrm>
          <a:prstGeom prst="roundRect">
            <a:avLst>
              <a:gd name="adj" fmla="val 4225"/>
            </a:avLst>
          </a:prstGeom>
          <a:solidFill>
            <a:srgbClr val="F3F6FA"/>
          </a:solidFill>
          <a:ln w="9525">
            <a:solidFill>
              <a:srgbClr val="C9D3E0"/>
            </a:solidFill>
            <a:prstDash val="solid"/>
          </a:ln>
        </p:spPr>
      </p:sp>
      <p:sp>
        <p:nvSpPr>
          <p:cNvPr id="31" name="Shape 28"/>
          <p:cNvSpPr/>
          <p:nvPr/>
        </p:nvSpPr>
        <p:spPr>
          <a:xfrm>
            <a:off x="8211312" y="2715768"/>
            <a:ext cx="329184" cy="329184"/>
          </a:xfrm>
          <a:prstGeom prst="ellipse">
            <a:avLst/>
          </a:prstGeom>
          <a:solidFill>
            <a:srgbClr val="1F3D6B"/>
          </a:solidFill>
          <a:ln w="12700">
            <a:solidFill>
              <a:srgbClr val="1F3D6B"/>
            </a:solidFill>
            <a:prstDash val="solid"/>
          </a:ln>
        </p:spPr>
      </p:sp>
      <p:sp>
        <p:nvSpPr>
          <p:cNvPr id="32" name="Text 29"/>
          <p:cNvSpPr txBox="1"/>
          <p:nvPr/>
        </p:nvSpPr>
        <p:spPr>
          <a:xfrm>
            <a:off x="8211312" y="2715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3" name="Text 30"/>
          <p:cNvSpPr txBox="1"/>
          <p:nvPr/>
        </p:nvSpPr>
        <p:spPr>
          <a:xfrm>
            <a:off x="8641080" y="2715768"/>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EVENTO / EVIDENCIA ORIGEN</a:t>
            </a:r>
            <a:endParaRPr lang="en-US" sz="1050" dirty="0"/>
          </a:p>
        </p:txBody>
      </p:sp>
      <p:sp>
        <p:nvSpPr>
          <p:cNvPr id="34" name="Text 31"/>
          <p:cNvSpPr txBox="1"/>
          <p:nvPr/>
        </p:nvSpPr>
        <p:spPr>
          <a:xfrm>
            <a:off x="8238744" y="3127248"/>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Formato fijo: [Turno] TIPO ID – EECC: qué ocurrió.</a:t>
            </a:r>
            <a:endParaRPr lang="en-US" sz="930" dirty="0"/>
          </a:p>
          <a:p>
            <a:pPr indent="0" marL="0">
              <a:buNone/>
            </a:pPr>
            <a:r>
              <a:rPr lang="en-US" sz="930" dirty="0">
                <a:solidFill>
                  <a:srgbClr val="222222"/>
                </a:solidFill>
                <a:latin typeface="Arial" pitchFamily="34" charset="0"/>
                <a:ea typeface="Arial" pitchFamily="34" charset="-122"/>
                <a:cs typeface="Arial" pitchFamily="34" charset="-120"/>
              </a:rPr>
              <a:t>Ej.: [T1-3] HAP 553767 – JEJ: camioneta con neumático dañado.</a:t>
            </a:r>
            <a:endParaRPr lang="en-US" sz="930" dirty="0"/>
          </a:p>
          <a:p>
            <a:pPr indent="0" marL="0">
              <a:buNone/>
            </a:pPr>
            <a:r>
              <a:rPr lang="en-US" sz="930" dirty="0">
                <a:solidFill>
                  <a:srgbClr val="222222"/>
                </a:solidFill>
                <a:latin typeface="Arial" pitchFamily="34" charset="0"/>
                <a:ea typeface="Arial" pitchFamily="34" charset="-122"/>
                <a:cs typeface="Arial" pitchFamily="34" charset="-120"/>
              </a:rPr>
              <a:t>Máx. 3 eventos por foco, 1–2 líneas cada uno.</a:t>
            </a:r>
            <a:endParaRPr lang="en-US" sz="930" dirty="0"/>
          </a:p>
        </p:txBody>
      </p:sp>
      <p:sp>
        <p:nvSpPr>
          <p:cNvPr id="35" name="Shape 32"/>
          <p:cNvSpPr/>
          <p:nvPr/>
        </p:nvSpPr>
        <p:spPr>
          <a:xfrm>
            <a:off x="365760" y="4005072"/>
            <a:ext cx="3749040" cy="1298448"/>
          </a:xfrm>
          <a:prstGeom prst="roundRect">
            <a:avLst>
              <a:gd name="adj" fmla="val 4225"/>
            </a:avLst>
          </a:prstGeom>
          <a:solidFill>
            <a:srgbClr val="F3F6FA"/>
          </a:solidFill>
          <a:ln w="9525">
            <a:solidFill>
              <a:srgbClr val="C9D3E0"/>
            </a:solidFill>
            <a:prstDash val="solid"/>
          </a:ln>
        </p:spPr>
      </p:sp>
      <p:sp>
        <p:nvSpPr>
          <p:cNvPr id="36" name="Shape 33"/>
          <p:cNvSpPr/>
          <p:nvPr/>
        </p:nvSpPr>
        <p:spPr>
          <a:xfrm>
            <a:off x="502920" y="4123944"/>
            <a:ext cx="329184" cy="329184"/>
          </a:xfrm>
          <a:prstGeom prst="ellipse">
            <a:avLst/>
          </a:prstGeom>
          <a:solidFill>
            <a:srgbClr val="1F3D6B"/>
          </a:solidFill>
          <a:ln w="12700">
            <a:solidFill>
              <a:srgbClr val="1F3D6B"/>
            </a:solidFill>
            <a:prstDash val="solid"/>
          </a:ln>
        </p:spPr>
      </p:sp>
      <p:sp>
        <p:nvSpPr>
          <p:cNvPr id="37" name="Text 34"/>
          <p:cNvSpPr txBox="1"/>
          <p:nvPr/>
        </p:nvSpPr>
        <p:spPr>
          <a:xfrm>
            <a:off x="502920" y="41239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38" name="Text 35"/>
          <p:cNvSpPr txBox="1"/>
          <p:nvPr/>
        </p:nvSpPr>
        <p:spPr>
          <a:xfrm>
            <a:off x="932688" y="4123944"/>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HERRAMIENTA PREVENTIVA SGE</a:t>
            </a:r>
            <a:endParaRPr lang="en-US" sz="1050" dirty="0"/>
          </a:p>
        </p:txBody>
      </p:sp>
      <p:sp>
        <p:nvSpPr>
          <p:cNvPr id="39" name="Text 36"/>
          <p:cNvSpPr txBox="1"/>
          <p:nvPr/>
        </p:nvSpPr>
        <p:spPr>
          <a:xfrm>
            <a:off x="530352" y="4535424"/>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Herramienta(s) del SGE con que se verifica el foco, unidas con "+".</a:t>
            </a:r>
            <a:endParaRPr lang="en-US" sz="930" dirty="0"/>
          </a:p>
          <a:p>
            <a:pPr indent="0" marL="0">
              <a:buNone/>
            </a:pPr>
            <a:r>
              <a:rPr lang="en-US" sz="930" dirty="0">
                <a:solidFill>
                  <a:srgbClr val="222222"/>
                </a:solidFill>
                <a:latin typeface="Arial" pitchFamily="34" charset="0"/>
                <a:ea typeface="Arial" pitchFamily="34" charset="-122"/>
                <a:cs typeface="Arial" pitchFamily="34" charset="-120"/>
              </a:rPr>
              <a:t>Ej.: GCC + CdP Maniobras de Izaje + ASP.</a:t>
            </a:r>
            <a:endParaRPr lang="en-US" sz="930" dirty="0"/>
          </a:p>
        </p:txBody>
      </p:sp>
      <p:sp>
        <p:nvSpPr>
          <p:cNvPr id="40" name="Shape 37"/>
          <p:cNvSpPr/>
          <p:nvPr/>
        </p:nvSpPr>
        <p:spPr>
          <a:xfrm>
            <a:off x="4219956" y="4005072"/>
            <a:ext cx="3749040" cy="1298448"/>
          </a:xfrm>
          <a:prstGeom prst="roundRect">
            <a:avLst>
              <a:gd name="adj" fmla="val 4225"/>
            </a:avLst>
          </a:prstGeom>
          <a:solidFill>
            <a:srgbClr val="F3F6FA"/>
          </a:solidFill>
          <a:ln w="9525">
            <a:solidFill>
              <a:srgbClr val="C9D3E0"/>
            </a:solidFill>
            <a:prstDash val="solid"/>
          </a:ln>
        </p:spPr>
      </p:sp>
      <p:sp>
        <p:nvSpPr>
          <p:cNvPr id="41" name="Shape 38"/>
          <p:cNvSpPr/>
          <p:nvPr/>
        </p:nvSpPr>
        <p:spPr>
          <a:xfrm>
            <a:off x="4357116" y="4123944"/>
            <a:ext cx="329184" cy="329184"/>
          </a:xfrm>
          <a:prstGeom prst="ellipse">
            <a:avLst/>
          </a:prstGeom>
          <a:solidFill>
            <a:srgbClr val="1F3D6B"/>
          </a:solidFill>
          <a:ln w="12700">
            <a:solidFill>
              <a:srgbClr val="1F3D6B"/>
            </a:solidFill>
            <a:prstDash val="solid"/>
          </a:ln>
        </p:spPr>
      </p:sp>
      <p:sp>
        <p:nvSpPr>
          <p:cNvPr id="42" name="Text 39"/>
          <p:cNvSpPr txBox="1"/>
          <p:nvPr/>
        </p:nvSpPr>
        <p:spPr>
          <a:xfrm>
            <a:off x="4357116" y="41239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43" name="Text 40"/>
          <p:cNvSpPr txBox="1"/>
          <p:nvPr/>
        </p:nvSpPr>
        <p:spPr>
          <a:xfrm>
            <a:off x="4786884" y="4123944"/>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EVIDENCIA / REGISTRO ESPERADO</a:t>
            </a:r>
            <a:endParaRPr lang="en-US" sz="1050" dirty="0"/>
          </a:p>
        </p:txBody>
      </p:sp>
      <p:sp>
        <p:nvSpPr>
          <p:cNvPr id="44" name="Text 41"/>
          <p:cNvSpPr txBox="1"/>
          <p:nvPr/>
        </p:nvSpPr>
        <p:spPr>
          <a:xfrm>
            <a:off x="4384548" y="4535424"/>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Registro concreto y verificable que debe quedar, separado por "/". Incluir siempre registro fotográfico.</a:t>
            </a:r>
            <a:endParaRPr lang="en-US" sz="930" dirty="0"/>
          </a:p>
          <a:p>
            <a:pPr indent="0" marL="0">
              <a:buNone/>
            </a:pPr>
            <a:r>
              <a:rPr lang="en-US" sz="930" dirty="0">
                <a:solidFill>
                  <a:srgbClr val="222222"/>
                </a:solidFill>
                <a:latin typeface="Arial" pitchFamily="34" charset="0"/>
                <a:ea typeface="Arial" pitchFamily="34" charset="-122"/>
                <a:cs typeface="Arial" pitchFamily="34" charset="-120"/>
              </a:rPr>
              <a:t>Ej.: Área segregada / radio operativa / registro fotográfico.</a:t>
            </a:r>
            <a:endParaRPr lang="en-US" sz="930" dirty="0"/>
          </a:p>
        </p:txBody>
      </p:sp>
      <p:sp>
        <p:nvSpPr>
          <p:cNvPr id="45" name="Shape 42"/>
          <p:cNvSpPr/>
          <p:nvPr/>
        </p:nvSpPr>
        <p:spPr>
          <a:xfrm>
            <a:off x="8074152" y="4005072"/>
            <a:ext cx="3749040" cy="1298448"/>
          </a:xfrm>
          <a:prstGeom prst="roundRect">
            <a:avLst>
              <a:gd name="adj" fmla="val 4225"/>
            </a:avLst>
          </a:prstGeom>
          <a:solidFill>
            <a:srgbClr val="F3F6FA"/>
          </a:solidFill>
          <a:ln w="9525">
            <a:solidFill>
              <a:srgbClr val="C9D3E0"/>
            </a:solidFill>
            <a:prstDash val="solid"/>
          </a:ln>
        </p:spPr>
      </p:sp>
      <p:sp>
        <p:nvSpPr>
          <p:cNvPr id="46" name="Shape 43"/>
          <p:cNvSpPr/>
          <p:nvPr/>
        </p:nvSpPr>
        <p:spPr>
          <a:xfrm>
            <a:off x="8211312" y="4123944"/>
            <a:ext cx="329184" cy="329184"/>
          </a:xfrm>
          <a:prstGeom prst="ellipse">
            <a:avLst/>
          </a:prstGeom>
          <a:solidFill>
            <a:srgbClr val="1F3D6B"/>
          </a:solidFill>
          <a:ln w="12700">
            <a:solidFill>
              <a:srgbClr val="1F3D6B"/>
            </a:solidFill>
            <a:prstDash val="solid"/>
          </a:ln>
        </p:spPr>
      </p:sp>
      <p:sp>
        <p:nvSpPr>
          <p:cNvPr id="47" name="Text 44"/>
          <p:cNvSpPr txBox="1"/>
          <p:nvPr/>
        </p:nvSpPr>
        <p:spPr>
          <a:xfrm>
            <a:off x="8211312" y="41239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9</a:t>
            </a:r>
            <a:endParaRPr lang="en-US" sz="1100" dirty="0"/>
          </a:p>
        </p:txBody>
      </p:sp>
      <p:sp>
        <p:nvSpPr>
          <p:cNvPr id="48" name="Text 45"/>
          <p:cNvSpPr txBox="1"/>
          <p:nvPr/>
        </p:nvSpPr>
        <p:spPr>
          <a:xfrm>
            <a:off x="8641080" y="4123944"/>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RECURRENTE</a:t>
            </a:r>
            <a:endParaRPr lang="en-US" sz="1050" dirty="0"/>
          </a:p>
        </p:txBody>
      </p:sp>
      <p:sp>
        <p:nvSpPr>
          <p:cNvPr id="49" name="Text 46"/>
          <p:cNvSpPr txBox="1"/>
          <p:nvPr/>
        </p:nvSpPr>
        <p:spPr>
          <a:xfrm>
            <a:off x="8238744" y="4535424"/>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Total de eventos HBP del período y los temas más repetidos con su cantidad.</a:t>
            </a:r>
            <a:endParaRPr lang="en-US" sz="930" dirty="0"/>
          </a:p>
          <a:p>
            <a:pPr indent="0" marL="0">
              <a:buNone/>
            </a:pPr>
            <a:r>
              <a:rPr lang="en-US" sz="930" dirty="0">
                <a:solidFill>
                  <a:srgbClr val="222222"/>
                </a:solidFill>
                <a:latin typeface="Arial" pitchFamily="34" charset="0"/>
                <a:ea typeface="Arial" pitchFamily="34" charset="-122"/>
                <a:cs typeface="Arial" pitchFamily="34" charset="-120"/>
              </a:rPr>
              <a:t>Ej.: 7 eventos HBP — acopio deficiente (4) · extensiones sin pasacable (3).</a:t>
            </a:r>
            <a:endParaRPr lang="en-US" sz="930" dirty="0"/>
          </a:p>
        </p:txBody>
      </p:sp>
      <p:sp>
        <p:nvSpPr>
          <p:cNvPr id="50" name="Shape 47"/>
          <p:cNvSpPr/>
          <p:nvPr/>
        </p:nvSpPr>
        <p:spPr>
          <a:xfrm>
            <a:off x="365760" y="5413248"/>
            <a:ext cx="3749040" cy="1298448"/>
          </a:xfrm>
          <a:prstGeom prst="roundRect">
            <a:avLst>
              <a:gd name="adj" fmla="val 4225"/>
            </a:avLst>
          </a:prstGeom>
          <a:solidFill>
            <a:srgbClr val="F3F6FA"/>
          </a:solidFill>
          <a:ln w="9525">
            <a:solidFill>
              <a:srgbClr val="C9D3E0"/>
            </a:solidFill>
            <a:prstDash val="solid"/>
          </a:ln>
        </p:spPr>
      </p:sp>
      <p:sp>
        <p:nvSpPr>
          <p:cNvPr id="51" name="Shape 48"/>
          <p:cNvSpPr/>
          <p:nvPr/>
        </p:nvSpPr>
        <p:spPr>
          <a:xfrm>
            <a:off x="502920" y="5532120"/>
            <a:ext cx="329184" cy="329184"/>
          </a:xfrm>
          <a:prstGeom prst="ellipse">
            <a:avLst/>
          </a:prstGeom>
          <a:solidFill>
            <a:srgbClr val="1F3D6B"/>
          </a:solidFill>
          <a:ln w="12700">
            <a:solidFill>
              <a:srgbClr val="1F3D6B"/>
            </a:solidFill>
            <a:prstDash val="solid"/>
          </a:ln>
        </p:spPr>
      </p:sp>
      <p:sp>
        <p:nvSpPr>
          <p:cNvPr id="52" name="Text 49"/>
          <p:cNvSpPr txBox="1"/>
          <p:nvPr/>
        </p:nvSpPr>
        <p:spPr>
          <a:xfrm>
            <a:off x="502920" y="55321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10</a:t>
            </a:r>
            <a:endParaRPr lang="en-US" sz="1100" dirty="0"/>
          </a:p>
        </p:txBody>
      </p:sp>
      <p:sp>
        <p:nvSpPr>
          <p:cNvPr id="53" name="Text 50"/>
          <p:cNvSpPr txBox="1"/>
          <p:nvPr/>
        </p:nvSpPr>
        <p:spPr>
          <a:xfrm>
            <a:off x="932688" y="5532120"/>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RECORRIDOS AM · MEDIODÍA · PM</a:t>
            </a:r>
            <a:endParaRPr lang="en-US" sz="1050" dirty="0"/>
          </a:p>
        </p:txBody>
      </p:sp>
      <p:sp>
        <p:nvSpPr>
          <p:cNvPr id="54" name="Text 51"/>
          <p:cNvSpPr txBox="1"/>
          <p:nvPr/>
        </p:nvSpPr>
        <p:spPr>
          <a:xfrm>
            <a:off x="530352" y="5943600"/>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Por bloque: áreas a recorrer y 3–4 controles con el N° de foco entre paréntesis. El bloque PM se reserva para gestión SAP, CdP pendientes, actualización de PTS y entrega de turno.</a:t>
            </a:r>
            <a:endParaRPr lang="en-US" sz="930" dirty="0"/>
          </a:p>
        </p:txBody>
      </p:sp>
      <p:sp>
        <p:nvSpPr>
          <p:cNvPr id="55" name="Shape 52"/>
          <p:cNvSpPr/>
          <p:nvPr/>
        </p:nvSpPr>
        <p:spPr>
          <a:xfrm>
            <a:off x="4219956" y="5413248"/>
            <a:ext cx="3749040" cy="1298448"/>
          </a:xfrm>
          <a:prstGeom prst="roundRect">
            <a:avLst>
              <a:gd name="adj" fmla="val 4225"/>
            </a:avLst>
          </a:prstGeom>
          <a:solidFill>
            <a:srgbClr val="F3F6FA"/>
          </a:solidFill>
          <a:ln w="9525">
            <a:solidFill>
              <a:srgbClr val="C9D3E0"/>
            </a:solidFill>
            <a:prstDash val="solid"/>
          </a:ln>
        </p:spPr>
      </p:sp>
      <p:sp>
        <p:nvSpPr>
          <p:cNvPr id="56" name="Shape 53"/>
          <p:cNvSpPr/>
          <p:nvPr/>
        </p:nvSpPr>
        <p:spPr>
          <a:xfrm>
            <a:off x="4357116" y="5532120"/>
            <a:ext cx="329184" cy="329184"/>
          </a:xfrm>
          <a:prstGeom prst="ellipse">
            <a:avLst/>
          </a:prstGeom>
          <a:solidFill>
            <a:srgbClr val="1F3D6B"/>
          </a:solidFill>
          <a:ln w="12700">
            <a:solidFill>
              <a:srgbClr val="1F3D6B"/>
            </a:solidFill>
            <a:prstDash val="solid"/>
          </a:ln>
        </p:spPr>
      </p:sp>
      <p:sp>
        <p:nvSpPr>
          <p:cNvPr id="57" name="Text 54"/>
          <p:cNvSpPr txBox="1"/>
          <p:nvPr/>
        </p:nvSpPr>
        <p:spPr>
          <a:xfrm>
            <a:off x="4357116" y="55321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11</a:t>
            </a:r>
            <a:endParaRPr lang="en-US" sz="1100" dirty="0"/>
          </a:p>
        </p:txBody>
      </p:sp>
      <p:sp>
        <p:nvSpPr>
          <p:cNvPr id="58" name="Text 55"/>
          <p:cNvSpPr txBox="1"/>
          <p:nvPr/>
        </p:nvSpPr>
        <p:spPr>
          <a:xfrm>
            <a:off x="4786884" y="5532120"/>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BRECHAS · CONTROLES · DETENER SI</a:t>
            </a:r>
            <a:endParaRPr lang="en-US" sz="1050" dirty="0"/>
          </a:p>
        </p:txBody>
      </p:sp>
      <p:sp>
        <p:nvSpPr>
          <p:cNvPr id="59" name="Text 56"/>
          <p:cNvSpPr txBox="1"/>
          <p:nvPr/>
        </p:nvSpPr>
        <p:spPr>
          <a:xfrm>
            <a:off x="4384548" y="5943600"/>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Máx. 5 viñetas de 1 línea por recuadro. Brechas = lo que falló. Controles = lo que no se negocia. Detener si = condición concreta de detención.</a:t>
            </a:r>
            <a:endParaRPr lang="en-US" sz="930" dirty="0"/>
          </a:p>
        </p:txBody>
      </p:sp>
      <p:sp>
        <p:nvSpPr>
          <p:cNvPr id="60" name="Shape 57"/>
          <p:cNvSpPr/>
          <p:nvPr/>
        </p:nvSpPr>
        <p:spPr>
          <a:xfrm>
            <a:off x="8074152" y="5413248"/>
            <a:ext cx="3749040" cy="1298448"/>
          </a:xfrm>
          <a:prstGeom prst="roundRect">
            <a:avLst>
              <a:gd name="adj" fmla="val 4225"/>
            </a:avLst>
          </a:prstGeom>
          <a:solidFill>
            <a:srgbClr val="F3F6FA"/>
          </a:solidFill>
          <a:ln w="9525">
            <a:solidFill>
              <a:srgbClr val="C9D3E0"/>
            </a:solidFill>
            <a:prstDash val="solid"/>
          </a:ln>
        </p:spPr>
      </p:sp>
      <p:sp>
        <p:nvSpPr>
          <p:cNvPr id="61" name="Shape 58"/>
          <p:cNvSpPr/>
          <p:nvPr/>
        </p:nvSpPr>
        <p:spPr>
          <a:xfrm>
            <a:off x="8211312" y="5532120"/>
            <a:ext cx="329184" cy="329184"/>
          </a:xfrm>
          <a:prstGeom prst="ellipse">
            <a:avLst/>
          </a:prstGeom>
          <a:solidFill>
            <a:srgbClr val="1F3D6B"/>
          </a:solidFill>
          <a:ln w="12700">
            <a:solidFill>
              <a:srgbClr val="1F3D6B"/>
            </a:solidFill>
            <a:prstDash val="solid"/>
          </a:ln>
        </p:spPr>
      </p:sp>
      <p:sp>
        <p:nvSpPr>
          <p:cNvPr id="62" name="Text 59"/>
          <p:cNvSpPr txBox="1"/>
          <p:nvPr/>
        </p:nvSpPr>
        <p:spPr>
          <a:xfrm>
            <a:off x="8211312" y="55321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12</a:t>
            </a:r>
            <a:endParaRPr lang="en-US" sz="1100" dirty="0"/>
          </a:p>
        </p:txBody>
      </p:sp>
      <p:sp>
        <p:nvSpPr>
          <p:cNvPr id="63" name="Text 60"/>
          <p:cNvSpPr txBox="1"/>
          <p:nvPr/>
        </p:nvSpPr>
        <p:spPr>
          <a:xfrm>
            <a:off x="8641080" y="5532120"/>
            <a:ext cx="3063240" cy="329184"/>
          </a:xfrm>
          <a:prstGeom prst="rect">
            <a:avLst/>
          </a:prstGeom>
          <a:noFill/>
          <a:ln/>
        </p:spPr>
        <p:txBody>
          <a:bodyPr wrap="square" lIns="0" tIns="0" rIns="0" bIns="0" rtlCol="0" anchor="ctr"/>
          <a:lstStyle/>
          <a:p>
            <a:pPr indent="0" marL="0">
              <a:buNone/>
            </a:pPr>
            <a:r>
              <a:rPr lang="en-US" sz="1050" b="1" dirty="0">
                <a:solidFill>
                  <a:srgbClr val="1F3D6B"/>
                </a:solidFill>
                <a:latin typeface="Arial" pitchFamily="34" charset="0"/>
                <a:ea typeface="Arial" pitchFamily="34" charset="-122"/>
                <a:cs typeface="Arial" pitchFamily="34" charset="-120"/>
              </a:rPr>
              <a:t>CIERRE Y FIRMAS</a:t>
            </a:r>
            <a:endParaRPr lang="en-US" sz="1050" dirty="0"/>
          </a:p>
        </p:txBody>
      </p:sp>
      <p:sp>
        <p:nvSpPr>
          <p:cNvPr id="64" name="Text 61"/>
          <p:cNvSpPr txBox="1"/>
          <p:nvPr/>
        </p:nvSpPr>
        <p:spPr>
          <a:xfrm>
            <a:off x="8238744" y="5943600"/>
            <a:ext cx="3447288" cy="713232"/>
          </a:xfrm>
          <a:prstGeom prst="rect">
            <a:avLst/>
          </a:prstGeom>
          <a:noFill/>
          <a:ln/>
        </p:spPr>
        <p:txBody>
          <a:bodyPr wrap="square" lIns="0" tIns="0" rIns="0" bIns="0" rtlCol="0" anchor="t"/>
          <a:lstStyle/>
          <a:p>
            <a:pPr indent="0" marL="0">
              <a:buNone/>
            </a:pPr>
            <a:r>
              <a:rPr lang="en-US" sz="930" dirty="0">
                <a:solidFill>
                  <a:srgbClr val="222222"/>
                </a:solidFill>
                <a:latin typeface="Arial" pitchFamily="34" charset="0"/>
                <a:ea typeface="Arial" pitchFamily="34" charset="-122"/>
                <a:cs typeface="Arial" pitchFamily="34" charset="-120"/>
              </a:rPr>
              <a:t>Lo completa el Inspector ITO al terminar el turno: focos verificados, tareas detenidas y hallazgos subidos a SAP. Firman ITO y Supervisor EECC.</a:t>
            </a:r>
            <a:endParaRPr lang="en-US" sz="930" dirty="0"/>
          </a:p>
        </p:txBody>
      </p:sp>
      <p:sp>
        <p:nvSpPr>
          <p:cNvPr id="65" name="Shape 62"/>
          <p:cNvSpPr/>
          <p:nvPr/>
        </p:nvSpPr>
        <p:spPr>
          <a:xfrm>
            <a:off x="365760" y="6839712"/>
            <a:ext cx="11457432" cy="1435608"/>
          </a:xfrm>
          <a:prstGeom prst="roundRect">
            <a:avLst>
              <a:gd name="adj" fmla="val 3822"/>
            </a:avLst>
          </a:prstGeom>
          <a:solidFill>
            <a:srgbClr val="FDF1F1"/>
          </a:solidFill>
          <a:ln w="12700">
            <a:solidFill>
              <a:srgbClr val="C62828"/>
            </a:solidFill>
            <a:prstDash val="solid"/>
          </a:ln>
        </p:spPr>
      </p:sp>
      <p:sp>
        <p:nvSpPr>
          <p:cNvPr id="66" name="Text 63"/>
          <p:cNvSpPr txBox="1"/>
          <p:nvPr/>
        </p:nvSpPr>
        <p:spPr>
          <a:xfrm>
            <a:off x="548640" y="6912864"/>
            <a:ext cx="2743200" cy="274320"/>
          </a:xfrm>
          <a:prstGeom prst="rect">
            <a:avLst/>
          </a:prstGeom>
          <a:noFill/>
          <a:ln/>
        </p:spPr>
        <p:txBody>
          <a:bodyPr wrap="square" lIns="0" tIns="0" rIns="0" bIns="0" rtlCol="0" anchor="ctr"/>
          <a:lstStyle/>
          <a:p>
            <a:pPr indent="0" marL="0">
              <a:buNone/>
            </a:pPr>
            <a:r>
              <a:rPr lang="en-US" sz="1050" b="1" dirty="0">
                <a:solidFill>
                  <a:srgbClr val="C62828"/>
                </a:solidFill>
                <a:latin typeface="Arial" pitchFamily="34" charset="0"/>
                <a:ea typeface="Arial" pitchFamily="34" charset="-122"/>
                <a:cs typeface="Arial" pitchFamily="34" charset="-120"/>
              </a:rPr>
              <a:t>REGLAS GENERALES</a:t>
            </a:r>
            <a:endParaRPr lang="en-US" sz="1050" dirty="0"/>
          </a:p>
        </p:txBody>
      </p:sp>
      <p:sp>
        <p:nvSpPr>
          <p:cNvPr id="67" name="Text 64"/>
          <p:cNvSpPr txBox="1"/>
          <p:nvPr/>
        </p:nvSpPr>
        <p:spPr>
          <a:xfrm>
            <a:off x="548640" y="7223760"/>
            <a:ext cx="11064240" cy="978408"/>
          </a:xfrm>
          <a:prstGeom prst="rect">
            <a:avLst/>
          </a:prstGeom>
          <a:noFill/>
          <a:ln/>
        </p:spPr>
        <p:txBody>
          <a:bodyPr wrap="square" lIns="0" tIns="0" rIns="0" bIns="0" rtlCol="0" anchor="t"/>
          <a:lstStyle/>
          <a:p>
            <a:pPr marL="152400" indent="-152400">
              <a:spcAft>
                <a:spcPts val="200"/>
              </a:spcAft>
              <a:buSzPct val="100000"/>
              <a:buChar char="•"/>
            </a:pPr>
            <a:r>
              <a:rPr lang="en-US" sz="930" dirty="0">
                <a:solidFill>
                  <a:srgbClr val="222222"/>
                </a:solidFill>
                <a:latin typeface="Arial" pitchFamily="34" charset="0"/>
                <a:ea typeface="Arial" pitchFamily="34" charset="-122"/>
                <a:cs typeface="Arial" pitchFamily="34" charset="-120"/>
              </a:rPr>
              <a:t>No modificar columnas, colores, orden de secciones ni tamaño de la lámina.</a:t>
            </a:r>
            <a:endParaRPr lang="en-US" sz="930" dirty="0"/>
          </a:p>
          <a:p>
            <a:pPr marL="152400" indent="-152400">
              <a:spcAft>
                <a:spcPts val="200"/>
              </a:spcAft>
              <a:buSzPct val="100000"/>
              <a:buChar char="•"/>
            </a:pPr>
            <a:r>
              <a:rPr lang="en-US" sz="930" dirty="0">
                <a:solidFill>
                  <a:srgbClr val="222222"/>
                </a:solidFill>
                <a:latin typeface="Arial" pitchFamily="34" charset="0"/>
                <a:ea typeface="Arial" pitchFamily="34" charset="-122"/>
                <a:cs typeface="Arial" pitchFamily="34" charset="-120"/>
              </a:rPr>
              <a:t>Reemplazar todo texto gris entre [corchetes]; el formato publicado no debe tener corchetes ni texto gris.</a:t>
            </a:r>
            <a:endParaRPr lang="en-US" sz="930" dirty="0"/>
          </a:p>
          <a:p>
            <a:pPr marL="152400" indent="-152400">
              <a:spcAft>
                <a:spcPts val="200"/>
              </a:spcAft>
              <a:buSzPct val="100000"/>
              <a:buChar char="•"/>
            </a:pPr>
            <a:r>
              <a:rPr lang="en-US" sz="930" dirty="0">
                <a:solidFill>
                  <a:srgbClr val="222222"/>
                </a:solidFill>
                <a:latin typeface="Arial" pitchFamily="34" charset="0"/>
                <a:ea typeface="Arial" pitchFamily="34" charset="-122"/>
                <a:cs typeface="Arial" pitchFamily="34" charset="-120"/>
              </a:rPr>
              <a:t>Si el texto no cabe, resumir: letra mínima 6 pt. Si hay menos de 6 focos, eliminar la fila sobrante (clic derecho › Eliminar fila).</a:t>
            </a:r>
            <a:endParaRPr lang="en-US" sz="930" dirty="0"/>
          </a:p>
          <a:p>
            <a:pPr marL="152400" indent="-152400">
              <a:spcAft>
                <a:spcPts val="200"/>
              </a:spcAft>
              <a:buSzPct val="100000"/>
              <a:buChar char="•"/>
            </a:pPr>
            <a:r>
              <a:rPr lang="en-US" sz="930" dirty="0">
                <a:solidFill>
                  <a:srgbClr val="222222"/>
                </a:solidFill>
                <a:latin typeface="Arial" pitchFamily="34" charset="0"/>
                <a:ea typeface="Arial" pitchFamily="34" charset="-122"/>
                <a:cs typeface="Arial" pitchFamily="34" charset="-120"/>
              </a:rPr>
              <a:t>Nombre de archivo: ASSURANCE_TURNO_[1-3 ó 2-4]_[DD-DD]_[MES].pptx  (ej.: ASSURANCE_TURNO_1-3_07-20_SEP.pptx).</a:t>
            </a:r>
            <a:endParaRPr lang="en-US" sz="930" dirty="0"/>
          </a:p>
          <a:p>
            <a:pPr marL="152400" indent="-152400">
              <a:spcAft>
                <a:spcPts val="200"/>
              </a:spcAft>
              <a:buSzPct val="100000"/>
              <a:buChar char="•"/>
            </a:pPr>
            <a:r>
              <a:rPr lang="en-US" sz="930" dirty="0">
                <a:solidFill>
                  <a:srgbClr val="222222"/>
                </a:solidFill>
                <a:latin typeface="Arial" pitchFamily="34" charset="0"/>
                <a:ea typeface="Arial" pitchFamily="34" charset="-122"/>
                <a:cs typeface="Arial" pitchFamily="34" charset="-120"/>
              </a:rPr>
              <a:t>Para publicar: dejar solo la lámina PLANTILLA completada y eliminar este instructivo.</a:t>
            </a:r>
            <a:endParaRPr lang="en-US" sz="930" dirty="0"/>
          </a:p>
        </p:txBody>
      </p:sp>
      <p:sp>
        <p:nvSpPr>
          <p:cNvPr id="68" name="Shape 65"/>
          <p:cNvSpPr/>
          <p:nvPr/>
        </p:nvSpPr>
        <p:spPr>
          <a:xfrm>
            <a:off x="0" y="8385048"/>
            <a:ext cx="12191695" cy="347472"/>
          </a:xfrm>
          <a:prstGeom prst="rect">
            <a:avLst/>
          </a:prstGeom>
          <a:solidFill>
            <a:srgbClr val="1F3D6B"/>
          </a:solidFill>
          <a:ln w="12700">
            <a:solidFill>
              <a:srgbClr val="1F3D6B"/>
            </a:solidFill>
            <a:prstDash val="solid"/>
          </a:ln>
        </p:spPr>
      </p:sp>
      <p:sp>
        <p:nvSpPr>
          <p:cNvPr id="69" name="Text 66"/>
          <p:cNvSpPr txBox="1"/>
          <p:nvPr/>
        </p:nvSpPr>
        <p:spPr>
          <a:xfrm>
            <a:off x="365760" y="8385048"/>
            <a:ext cx="4206240" cy="347472"/>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NUESTRO COMPROMISO: CERO DAÑO A LAS PERSONAS</a:t>
            </a:r>
            <a:endParaRPr lang="en-US" sz="950" dirty="0"/>
          </a:p>
        </p:txBody>
      </p:sp>
      <p:sp>
        <p:nvSpPr>
          <p:cNvPr id="70" name="Text 67"/>
          <p:cNvSpPr txBox="1"/>
          <p:nvPr/>
        </p:nvSpPr>
        <p:spPr>
          <a:xfrm>
            <a:off x="4206240" y="8385048"/>
            <a:ext cx="3840480" cy="347472"/>
          </a:xfrm>
          <a:prstGeom prst="rect">
            <a:avLst/>
          </a:prstGeom>
          <a:noFill/>
          <a:ln/>
        </p:spPr>
        <p:txBody>
          <a:bodyPr wrap="square" lIns="0" tIns="0" rIns="0" bIns="0" rtlCol="0" anchor="ctr"/>
          <a:lstStyle/>
          <a:p>
            <a:pPr algn="ctr" indent="0" marL="0">
              <a:buNone/>
            </a:pPr>
            <a:r>
              <a:rPr lang="en-US" sz="800" b="1" dirty="0">
                <a:solidFill>
                  <a:srgbClr val="E53935"/>
                </a:solidFill>
                <a:latin typeface="Arial" pitchFamily="34" charset="0"/>
                <a:ea typeface="Arial" pitchFamily="34" charset="-122"/>
                <a:cs typeface="Arial" pitchFamily="34" charset="-120"/>
              </a:rPr>
              <a:t>▲▲  </a:t>
            </a:r>
            <a:pPr algn="ctr" indent="0" marL="0">
              <a:buNone/>
            </a:pPr>
            <a:r>
              <a:rPr lang="en-US" sz="800" b="1" dirty="0">
                <a:solidFill>
                  <a:srgbClr val="FFFFFF"/>
                </a:solidFill>
                <a:latin typeface="Arial" pitchFamily="34" charset="0"/>
                <a:ea typeface="Arial" pitchFamily="34" charset="-122"/>
                <a:cs typeface="Arial" pitchFamily="34" charset="-120"/>
              </a:rPr>
              <a:t>FORMATO ASSURANCE ITO · v1.0 · INSTRUCTIVO</a:t>
            </a:r>
            <a:endParaRPr lang="en-US" sz="800" dirty="0"/>
          </a:p>
        </p:txBody>
      </p:sp>
      <p:sp>
        <p:nvSpPr>
          <p:cNvPr id="71" name="Text 68"/>
          <p:cNvSpPr txBox="1"/>
          <p:nvPr/>
        </p:nvSpPr>
        <p:spPr>
          <a:xfrm>
            <a:off x="7680960" y="8385048"/>
            <a:ext cx="4142232" cy="347472"/>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SEGURIDAD, SALUD, PERSONAS Y MEDIO AMBIENTE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Formato Assurance ITO</dc:title>
  <dc:subject>PptxGenJS Presentation</dc:subject>
  <dc:creator>PptxGenJS</dc:creator>
  <cp:lastModifiedBy>PptxGenJS</cp:lastModifiedBy>
  <cp:revision>1</cp:revision>
  <dcterms:created xsi:type="dcterms:W3CDTF">2026-09-23T18:41:07Z</dcterms:created>
  <dcterms:modified xsi:type="dcterms:W3CDTF">2026-09-23T18:41:07Z</dcterms:modified>
</cp:coreProperties>
</file>