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8732520"/>
  <p:notesSz cx="873252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INSTRUCCIONES PARA ASISTENTES IA – FORMATO ASSURANCE ITO v1.0
OBJETIVO
Con el Excel de eventos de seguridad que entrega el usuario (CAAP, HAP, CBP, HBP), completar la lámina 1 "PLANTILLA" de este archivo con los focos prioritarios de verificación en terreno para el turno y período indicados. La lámina 3 "EJEMPLO" muestra el resultado esperado: úsala como referencia de largo, tono y formato.
1. ENTRADAS Y DATOS
- Identifica en el Excel las columnas de: ID del evento, tipo (CAAP/HAP/CBP/HBP), fecha, turno, empresa contratista (EECC), área/sector y descripción. Si existen, también acciones y estado.
- Usa solo eventos del turno (1-3 o 2-4) y del período que indique el usuario. Si el turno o el período no están claros, pregunta antes de completar.
- Usa exclusivamente datos del Excel. Nunca inventes IDs, empresas, fechas, áreas ni eventos. Copia los IDs exactamente como aparecen.
- Si falta un dato necesario, escribe [DATO FALTANTE] en esa casilla e infórmalo al usuario.
- No incluyas nombres de personas; usa el cargo o rol (trabajador, rigger, operador, supervisor).
2. SELECCIÓN DE FOCOS (4 a 6)
- Agrupa los eventos por riesgo (p. ej.: izaje, trabajo en altura/andamios, vehículos y equipos, energía eléctrica, excavaciones/zanjas, orden y aseo). Un foco = un riesgo.
- Prioriza en este orden: CAAP &gt; HAP &gt; CBP &gt; HBP. A igual tipo: más eventos del mismo riesgo y, luego, más recientes.
- Un tema de HBP con 3 o más eventos en el período puede ser foco propio (recurrente).
- Ordena los focos de mayor a menor prioridad y numéralos 1, 2, 3…
- Si hay menos de 6 focos, elimina las filas sobrantes de la tabla.
3. NIVEL / PRIORIDAD (primera columna)
- Estructura: número / "N1 · CRÍTICO" o "N2 · ALTO" / tipo del evento más grave del foco (CAAP, HAP, CBP o HBP).
- N1 · CRÍTICO (celda roja C62828): el foco incluye un CAAP o HAP, o involucra un riesgo crítico (izaje, trabajo en altura, energía eléctrica/energías peligrosas, vehículos o equipos móviles).
- N2 · ALTO (celda naranja E67E22): el resto.
4. FOCO DE ASSURANCE
- Formato: "Tema del foco." en negrita + instrucción que empieza con un verbo ("Verificar…"): qué se revisa, dónde y bajo qué estándar. Máximo unos 350 caracteres.
- Luego, en línea aparte, "Criterio de restricción:" (en negrita) + la condición en que se prohíbe o se detiene la tarea. Máximo unos 150 caracteres.
- Redacta a partir de las brechas reales de los eventos. No cites números de estándares o procedimientos que no estén en el Excel.
5. EVENTO / EVIDENCIA ORIGEN
- Formato fijo por evento: "[T1-3] TIPO ID – EECC:" (en negrita) + qué ocurrió, en una frase de hasta 120 caracteres.
- Máximo 3 eventos por foco; elige los de mayor potencial. Si un evento aparece en ambos turnos, usa [T1-3/T2-4].
- Para temas recurrentes se permite: "[T1-3] N eventos HBP: descripción del patrón."
6. HERRAMIENTA PREVENTIVA SGE
- Herramientas unidas con "+". Usa las que figuren en el Excel o las ya usadas en este formato: GCC, CdP [tema] (p. ej. CdP Maniobras de Izaje, CdP Trabajos en Altura, CdP Operación de Vehículos Livianos), ASP, PTS, Gestión del Cambio, Desafío en Terreno, Inspección de Plataformas de Andamios, EdC Vehículo Liviano, Inspección de Equipos, Acompañamiento ASP.
7. EVIDENCIA / REGISTRO ESPERADO
- Registros concretos y verificables separados por "/", terminando siempre en "registro fotográfico".
8. VERIFICACIÓN EN TERRENO
- No la modifiques: deja "☐ C ☐ NC ☐ NA / Obs.:" en blanco. La completa el Inspector ITO en terreno.
9. RECURRENTE
- "N eventos HBP — tema (n) · tema (n). Refuerzo transversal en todos los recorridos y al cierre de cada tarea."
- N = total de HBP del turno y período, incluidos los usados en los focos. Verifica la suma: los subtotales no pueden superar N.
10. SÍNTESIS Y RECORRIDOS
- Bloque AM y Bloque Mediodía: áreas reales tomadas del Excel + 3 o 4 controles, cada uno con el N° de foco entre paréntesis, p. ej. "Plan de izaje específico por maniobra (1)". Asigna al AM los focos de inicio de jornada (izaje, pre-uso de vehículos y equipos) y al Mediodía los de intervención (plataformas, instalaciones eléctricas, orden y aseo).
- Bloque PM: mantén "Gestión SAP · CdP pendientes · Entrega de turno" y sus líneas fijas. En "Actualizar PTS con brechas de CdP:" indica las brechas que el Excel respalde; si no hay, elimina esa línea.
- Brechas principales / Controles críticos no negociables / Detener la tarea si…: máximo 5 viñetas de 1 línea (unos 50 caracteres) en cada recuadro, coherentes con los focos. Brechas = lo que falló. Controles = lo que no se negocia. Detener si = condición concreta de detención.
11. ENCABEZADO, CIERRE Y FIRMAS
- Título: "ASSURANCE TURNO 1-3" o "ASSURANCE TURNO 2-4". Fecha/Período: "DD al DD MES". Turno: marca ☒ en el que corresponde.
- Inspector ITO, Proyecto/EECC y Área/Sector: complétalos solo si el usuario los entrega; si no, deja la línea en blanco.
- La franja CIERRE y las firmas se dejan en blanco.
12. FORMATO (obligatorio)
- No cambies estructura, columnas, colores, fuentes, íconos ni tamaño de la lámina.
- Reemplaza todo texto gris entre [corchetes] por contenido real en color de texto normal (negro, sin cursiva). No debe quedar ningún corchete, salvo [DATO FALTANTE] y las marcas de turno [T1-3]/[T2-4].
- Letra mínima 6 pt. Si el texto no cabe, resume; no reduzcas más la letra ni agrandes filas.
- Antes de entregar: elimina la lámina 2 (instructivo), la lámina 3 (ejemplo) y esta lámina oculta, y borra las notas del orador de la lámina 1.
- Nombre del archivo: ASSURANCE_TURNO_[1-3 o 2-4]_[DD-DD]_[MES].pptx (ej.: ASSURANCE_TURNO_1-3_07-20_SEP.pptx).
13. ENTREGA
- Si puedes editar archivos .pptx: entrega el archivo completado.
- Si no puedes: entrega el contenido en texto, ordenado por sección y por fila de la plantilla (Encabezado; Foco 1 a 6 con sus 5 columnas; Recurrente; Bloques AM/Mediodía/PM; Brechas; Controles; Detener si), listo para copiar y pegar en cada casilla.
14. CONTROL DE CALIDAD (en tu respuesta al usuario, no dentro del archivo)
Al final de tu respuesta incluye un resumen breve con:
- total de eventos leídos y cuántos de cada tipo;
- eventos usados en cada foco y los de alto potencial que quedaron fuera, con el motivo;
- datos faltantes o inconsistentes y supuestos realizados.
Antes de entregar, confirma que: cada ID existe en el Excel; cada foco tiene al menos un evento de origen; los conteos del Recurrente cuadran; y no quedan textos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6949440" cy="502920"/>
          </a:xfrm>
          <a:prstGeom prst="rect">
            <a:avLst/>
          </a:prstGeom>
          <a:noFill/>
          <a:ln/>
        </p:spPr>
        <p:txBody>
          <a:bodyPr wrap="square" lIns="0" tIns="0" rIns="0" bIns="0" rtlCol="0" anchor="ctr"/>
          <a:lstStyle/>
          <a:p>
            <a:pPr algn="ctr" indent="0" marL="0">
              <a:buNone/>
            </a:pPr>
            <a:r>
              <a:rPr lang="en-US" sz="2400" b="1" dirty="0">
                <a:solidFill>
                  <a:srgbClr val="1F3D6B"/>
                </a:solidFill>
                <a:latin typeface="Arial" pitchFamily="34" charset="0"/>
                <a:ea typeface="Arial" pitchFamily="34" charset="-122"/>
                <a:cs typeface="Arial" pitchFamily="34" charset="-120"/>
              </a:rPr>
              <a:t>ASSURANCE TURNO [1-3 / 2-4]</a:t>
            </a:r>
            <a:endParaRPr lang="en-US" sz="2400" dirty="0"/>
          </a:p>
        </p:txBody>
      </p:sp>
      <p:sp>
        <p:nvSpPr>
          <p:cNvPr id="4" name="Text 1"/>
          <p:cNvSpPr txBox="1"/>
          <p:nvPr/>
        </p:nvSpPr>
        <p:spPr>
          <a:xfrm>
            <a:off x="2194560" y="685800"/>
            <a:ext cx="694944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FOCOS PRIORITARIOS DE VERIFICACIÓN EN TERRENO – ITO</a:t>
            </a:r>
            <a:endParaRPr lang="en-US" sz="1150" dirty="0"/>
          </a:p>
        </p:txBody>
      </p:sp>
      <p:sp>
        <p:nvSpPr>
          <p:cNvPr id="5" name="Text 2"/>
          <p:cNvSpPr txBox="1"/>
          <p:nvPr/>
        </p:nvSpPr>
        <p:spPr>
          <a:xfrm>
            <a:off x="9144000" y="12801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FECHA / PERÍODO:</a:t>
            </a:r>
            <a:endParaRPr lang="en-US" sz="800" dirty="0"/>
          </a:p>
        </p:txBody>
      </p:sp>
      <p:sp>
        <p:nvSpPr>
          <p:cNvPr id="6" name="Text 3"/>
          <p:cNvSpPr txBox="1"/>
          <p:nvPr/>
        </p:nvSpPr>
        <p:spPr>
          <a:xfrm>
            <a:off x="10424160" y="128016"/>
            <a:ext cx="1417320" cy="182880"/>
          </a:xfrm>
          <a:prstGeom prst="rect">
            <a:avLst/>
          </a:prstGeom>
          <a:noFill/>
          <a:ln/>
        </p:spPr>
        <p:txBody>
          <a:bodyPr wrap="square" lIns="0" tIns="0" rIns="0" bIns="0" rtlCol="0" anchor="ctr"/>
          <a:lstStyle/>
          <a:p>
            <a:pPr indent="0" marL="0">
              <a:buNone/>
            </a:pPr>
            <a:r>
              <a:rPr lang="en-US" sz="800" i="1" dirty="0">
                <a:solidFill>
                  <a:srgbClr val="7A8594"/>
                </a:solidFill>
                <a:latin typeface="Arial" pitchFamily="34" charset="0"/>
                <a:ea typeface="Arial" pitchFamily="34" charset="-122"/>
                <a:cs typeface="Arial" pitchFamily="34" charset="-120"/>
              </a:rPr>
              <a:t>[del __ al __ / MES]</a:t>
            </a:r>
            <a:endParaRPr lang="en-US" sz="800" dirty="0"/>
          </a:p>
        </p:txBody>
      </p:sp>
      <p:sp>
        <p:nvSpPr>
          <p:cNvPr id="7" name="Text 4"/>
          <p:cNvSpPr txBox="1"/>
          <p:nvPr/>
        </p:nvSpPr>
        <p:spPr>
          <a:xfrm>
            <a:off x="9144000" y="31089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TURNO:</a:t>
            </a:r>
            <a:endParaRPr lang="en-US" sz="800" dirty="0"/>
          </a:p>
        </p:txBody>
      </p:sp>
      <p:sp>
        <p:nvSpPr>
          <p:cNvPr id="8" name="Text 5"/>
          <p:cNvSpPr txBox="1"/>
          <p:nvPr/>
        </p:nvSpPr>
        <p:spPr>
          <a:xfrm>
            <a:off x="10424160" y="31089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 1-3     ☐ 2-4</a:t>
            </a:r>
            <a:endParaRPr lang="en-US" sz="800" dirty="0"/>
          </a:p>
        </p:txBody>
      </p:sp>
      <p:sp>
        <p:nvSpPr>
          <p:cNvPr id="9" name="Text 6"/>
          <p:cNvSpPr txBox="1"/>
          <p:nvPr/>
        </p:nvSpPr>
        <p:spPr>
          <a:xfrm>
            <a:off x="9144000" y="49377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INSPECTOR ITO:</a:t>
            </a:r>
            <a:endParaRPr lang="en-US" sz="800" dirty="0"/>
          </a:p>
        </p:txBody>
      </p:sp>
      <p:sp>
        <p:nvSpPr>
          <p:cNvPr id="10" name="Text 7"/>
          <p:cNvSpPr txBox="1"/>
          <p:nvPr/>
        </p:nvSpPr>
        <p:spPr>
          <a:xfrm>
            <a:off x="10424160" y="49377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1" name="Text 8"/>
          <p:cNvSpPr txBox="1"/>
          <p:nvPr/>
        </p:nvSpPr>
        <p:spPr>
          <a:xfrm>
            <a:off x="9144000" y="67665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PROYECTO / EECC:</a:t>
            </a:r>
            <a:endParaRPr lang="en-US" sz="800" dirty="0"/>
          </a:p>
        </p:txBody>
      </p:sp>
      <p:sp>
        <p:nvSpPr>
          <p:cNvPr id="12" name="Text 9"/>
          <p:cNvSpPr txBox="1"/>
          <p:nvPr/>
        </p:nvSpPr>
        <p:spPr>
          <a:xfrm>
            <a:off x="10424160" y="67665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3" name="Text 10"/>
          <p:cNvSpPr txBox="1"/>
          <p:nvPr/>
        </p:nvSpPr>
        <p:spPr>
          <a:xfrm>
            <a:off x="9144000" y="85953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ÁREA / SECTOR:</a:t>
            </a:r>
            <a:endParaRPr lang="en-US" sz="800" dirty="0"/>
          </a:p>
        </p:txBody>
      </p:sp>
      <p:sp>
        <p:nvSpPr>
          <p:cNvPr id="14" name="Text 11"/>
          <p:cNvSpPr txBox="1"/>
          <p:nvPr/>
        </p:nvSpPr>
        <p:spPr>
          <a:xfrm>
            <a:off x="10424160" y="85953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5" name="Text 12"/>
          <p:cNvSpPr txBox="1"/>
          <p:nvPr/>
        </p:nvSpPr>
        <p:spPr>
          <a:xfrm>
            <a:off x="365760" y="1097280"/>
            <a:ext cx="777240" cy="201168"/>
          </a:xfrm>
          <a:prstGeom prst="rect">
            <a:avLst/>
          </a:prstGeom>
          <a:solidFill>
            <a:srgbClr val="C62828"/>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N1 · CRÍTICO</a:t>
            </a:r>
            <a:endParaRPr lang="en-US" sz="700" dirty="0"/>
          </a:p>
        </p:txBody>
      </p:sp>
      <p:sp>
        <p:nvSpPr>
          <p:cNvPr id="16" name="Text 13"/>
          <p:cNvSpPr txBox="1"/>
          <p:nvPr/>
        </p:nvSpPr>
        <p:spPr>
          <a:xfrm>
            <a:off x="1207008" y="1097280"/>
            <a:ext cx="777240" cy="201168"/>
          </a:xfrm>
          <a:prstGeom prst="rect">
            <a:avLst/>
          </a:prstGeom>
          <a:solidFill>
            <a:srgbClr val="E67E22"/>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N2 · ALTO</a:t>
            </a:r>
            <a:endParaRPr lang="en-US" sz="700" dirty="0"/>
          </a:p>
        </p:txBody>
      </p:sp>
      <p:sp>
        <p:nvSpPr>
          <p:cNvPr id="17" name="Text 14"/>
          <p:cNvSpPr txBox="1"/>
          <p:nvPr/>
        </p:nvSpPr>
        <p:spPr>
          <a:xfrm>
            <a:off x="2103120" y="1097280"/>
            <a:ext cx="9720072" cy="201168"/>
          </a:xfrm>
          <a:prstGeom prst="rect">
            <a:avLst/>
          </a:prstGeom>
          <a:noFill/>
          <a:ln/>
        </p:spPr>
        <p:txBody>
          <a:bodyPr wrap="square" lIns="0" tIns="0" rIns="0" bIns="0" rtlCol="0" anchor="ctr"/>
          <a:lstStyle/>
          <a:p>
            <a:pPr indent="0" marL="0">
              <a:buNone/>
            </a:pPr>
            <a:r>
              <a:rPr lang="en-US" sz="700" b="1" dirty="0">
                <a:solidFill>
                  <a:srgbClr val="1F3D6B"/>
                </a:solidFill>
                <a:latin typeface="Arial" pitchFamily="34" charset="0"/>
                <a:ea typeface="Arial" pitchFamily="34" charset="-122"/>
                <a:cs typeface="Arial" pitchFamily="34" charset="-120"/>
              </a:rPr>
              <a:t>Evento origen:  </a:t>
            </a:r>
            <a:pPr indent="0" marL="0">
              <a:buNone/>
            </a:pPr>
            <a:r>
              <a:rPr lang="en-US" sz="700" b="1" dirty="0">
                <a:solidFill>
                  <a:srgbClr val="222222"/>
                </a:solidFill>
                <a:latin typeface="Arial" pitchFamily="34" charset="0"/>
                <a:ea typeface="Arial" pitchFamily="34" charset="-122"/>
                <a:cs typeface="Arial" pitchFamily="34" charset="-120"/>
              </a:rPr>
              <a:t>CAAP</a:t>
            </a:r>
            <a:pPr indent="0" marL="0">
              <a:buNone/>
            </a:pPr>
            <a:r>
              <a:rPr lang="en-US" sz="700" dirty="0">
                <a:solidFill>
                  <a:srgbClr val="222222"/>
                </a:solidFill>
                <a:latin typeface="Arial" pitchFamily="34" charset="0"/>
                <a:ea typeface="Arial" pitchFamily="34" charset="-122"/>
                <a:cs typeface="Arial" pitchFamily="34" charset="-120"/>
              </a:rPr>
              <a:t> cuasi accidente alto pot.  ·  </a:t>
            </a:r>
            <a:pPr indent="0" marL="0">
              <a:buNone/>
            </a:pPr>
            <a:r>
              <a:rPr lang="en-US" sz="700" b="1" dirty="0">
                <a:solidFill>
                  <a:srgbClr val="222222"/>
                </a:solidFill>
                <a:latin typeface="Arial" pitchFamily="34" charset="0"/>
                <a:ea typeface="Arial" pitchFamily="34" charset="-122"/>
                <a:cs typeface="Arial" pitchFamily="34" charset="-120"/>
              </a:rPr>
              <a:t>HAP</a:t>
            </a:r>
            <a:pPr indent="0" marL="0">
              <a:buNone/>
            </a:pPr>
            <a:r>
              <a:rPr lang="en-US" sz="700" dirty="0">
                <a:solidFill>
                  <a:srgbClr val="222222"/>
                </a:solidFill>
                <a:latin typeface="Arial" pitchFamily="34" charset="0"/>
                <a:ea typeface="Arial" pitchFamily="34" charset="-122"/>
                <a:cs typeface="Arial" pitchFamily="34" charset="-120"/>
              </a:rPr>
              <a:t> hallazgo alto pot.  ·  </a:t>
            </a:r>
            <a:pPr indent="0" marL="0">
              <a:buNone/>
            </a:pPr>
            <a:r>
              <a:rPr lang="en-US" sz="700" b="1" dirty="0">
                <a:solidFill>
                  <a:srgbClr val="222222"/>
                </a:solidFill>
                <a:latin typeface="Arial" pitchFamily="34" charset="0"/>
                <a:ea typeface="Arial" pitchFamily="34" charset="-122"/>
                <a:cs typeface="Arial" pitchFamily="34" charset="-120"/>
              </a:rPr>
              <a:t>CBP</a:t>
            </a:r>
            <a:pPr indent="0" marL="0">
              <a:buNone/>
            </a:pPr>
            <a:r>
              <a:rPr lang="en-US" sz="700" dirty="0">
                <a:solidFill>
                  <a:srgbClr val="222222"/>
                </a:solidFill>
                <a:latin typeface="Arial" pitchFamily="34" charset="0"/>
                <a:ea typeface="Arial" pitchFamily="34" charset="-122"/>
                <a:cs typeface="Arial" pitchFamily="34" charset="-120"/>
              </a:rPr>
              <a:t> cuasi accidente bajo pot.  ·  </a:t>
            </a:r>
            <a:pPr indent="0" marL="0">
              <a:buNone/>
            </a:pPr>
            <a:r>
              <a:rPr lang="en-US" sz="700" b="1" dirty="0">
                <a:solidFill>
                  <a:srgbClr val="222222"/>
                </a:solidFill>
                <a:latin typeface="Arial" pitchFamily="34" charset="0"/>
                <a:ea typeface="Arial" pitchFamily="34" charset="-122"/>
                <a:cs typeface="Arial" pitchFamily="34" charset="-120"/>
              </a:rPr>
              <a:t>HBP</a:t>
            </a:r>
            <a:pPr indent="0" marL="0">
              <a:buNone/>
            </a:pPr>
            <a:r>
              <a:rPr lang="en-US" sz="700" dirty="0">
                <a:solidFill>
                  <a:srgbClr val="222222"/>
                </a:solidFill>
                <a:latin typeface="Arial" pitchFamily="34" charset="0"/>
                <a:ea typeface="Arial" pitchFamily="34" charset="-122"/>
                <a:cs typeface="Arial" pitchFamily="34" charset="-120"/>
              </a:rPr>
              <a:t> hallazgo bajo pot.  ·  </a:t>
            </a:r>
            <a:pPr indent="0" marL="0">
              <a:buNone/>
            </a:pPr>
            <a:r>
              <a:rPr lang="en-US" sz="700" b="1" dirty="0">
                <a:solidFill>
                  <a:srgbClr val="222222"/>
                </a:solidFill>
                <a:latin typeface="Arial" pitchFamily="34" charset="0"/>
                <a:ea typeface="Arial" pitchFamily="34" charset="-122"/>
                <a:cs typeface="Arial" pitchFamily="34" charset="-120"/>
              </a:rPr>
              <a:t>[T1-3] / [T2-4]</a:t>
            </a:r>
            <a:pPr indent="0" marL="0">
              <a:buNone/>
            </a:pPr>
            <a:r>
              <a:rPr lang="en-US" sz="700" dirty="0">
                <a:solidFill>
                  <a:srgbClr val="222222"/>
                </a:solidFill>
                <a:latin typeface="Arial" pitchFamily="34" charset="0"/>
                <a:ea typeface="Arial" pitchFamily="34" charset="-122"/>
                <a:cs typeface="Arial" pitchFamily="34" charset="-120"/>
              </a:rPr>
              <a:t> turno que lo reportó  ·  </a:t>
            </a:r>
            <a:pPr indent="0" marL="0">
              <a:buNone/>
            </a:pPr>
            <a:r>
              <a:rPr lang="en-US" sz="700" b="1" dirty="0">
                <a:solidFill>
                  <a:srgbClr val="222222"/>
                </a:solidFill>
                <a:latin typeface="Arial" pitchFamily="34" charset="0"/>
                <a:ea typeface="Arial" pitchFamily="34" charset="-122"/>
                <a:cs typeface="Arial" pitchFamily="34" charset="-120"/>
              </a:rPr>
              <a:t>Verificación:</a:t>
            </a:r>
            <a:pPr indent="0" marL="0">
              <a:buNone/>
            </a:pPr>
            <a:r>
              <a:rPr lang="en-US" sz="700" dirty="0">
                <a:solidFill>
                  <a:srgbClr val="222222"/>
                </a:solidFill>
                <a:latin typeface="Arial" pitchFamily="34" charset="0"/>
                <a:ea typeface="Arial" pitchFamily="34" charset="-122"/>
                <a:cs typeface="Arial" pitchFamily="34" charset="-120"/>
              </a:rPr>
              <a:t> C cumple · NC no cumple · NA no aplica</a:t>
            </a:r>
            <a:endParaRPr lang="en-US"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65760" y="1371600"/>
          <a:ext cx="9143771" cy="914400"/>
        </p:xfrm>
        <a:graphic>
          <a:graphicData uri="http://schemas.openxmlformats.org/drawingml/2006/table">
            <a:tbl>
              <a:tblPr/>
              <a:tblGrid>
                <a:gridCol w="960120"/>
                <a:gridCol w="3657600"/>
                <a:gridCol w="2560320"/>
                <a:gridCol w="1508760"/>
                <a:gridCol w="1536192"/>
                <a:gridCol w="1234440"/>
              </a:tblGrid>
              <a:tr h="310896">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NIVEL / PRIORIDAD</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FOCO DE ASSURANCE (INSTRUCCIÓN OPERACIONAL Y CRITERIO DE RESTRICCIÓN)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EVENTO / EVIDENCIA ORIGEN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HERRAMIENTA PREVENTIVA SGE</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EVIDENCIA / REGISTRO ESPERADO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VERIFICACIÓN EN TERRENO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bl>
          </a:graphicData>
        </a:graphic>
      </p:graphicFrame>
      <p:sp>
        <p:nvSpPr>
          <p:cNvPr id="19" name="Text 15"/>
          <p:cNvSpPr txBox="1"/>
          <p:nvPr/>
        </p:nvSpPr>
        <p:spPr>
          <a:xfrm>
            <a:off x="365760" y="5797296"/>
            <a:ext cx="960120" cy="292608"/>
          </a:xfrm>
          <a:prstGeom prst="rect">
            <a:avLst/>
          </a:prstGeom>
          <a:solidFill>
            <a:srgbClr val="155A63"/>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RECURRENTE</a:t>
            </a:r>
            <a:endParaRPr lang="en-US" sz="750" dirty="0"/>
          </a:p>
        </p:txBody>
      </p:sp>
      <p:sp>
        <p:nvSpPr>
          <p:cNvPr id="20" name="Shape 16"/>
          <p:cNvSpPr/>
          <p:nvPr/>
        </p:nvSpPr>
        <p:spPr>
          <a:xfrm>
            <a:off x="1325880" y="5797296"/>
            <a:ext cx="10497312" cy="292608"/>
          </a:xfrm>
          <a:prstGeom prst="rect">
            <a:avLst/>
          </a:prstGeom>
          <a:solidFill>
            <a:srgbClr val="17707A"/>
          </a:solidFill>
          <a:ln w="12700">
            <a:solidFill>
              <a:srgbClr val="17707A"/>
            </a:solidFill>
            <a:prstDash val="solid"/>
          </a:ln>
        </p:spPr>
      </p:sp>
      <p:sp>
        <p:nvSpPr>
          <p:cNvPr id="21" name="Text 17"/>
          <p:cNvSpPr txBox="1"/>
          <p:nvPr/>
        </p:nvSpPr>
        <p:spPr>
          <a:xfrm>
            <a:off x="1417320" y="5797296"/>
            <a:ext cx="10314432" cy="292608"/>
          </a:xfrm>
          <a:prstGeom prst="rect">
            <a:avLst/>
          </a:prstGeom>
          <a:noFill/>
          <a:ln/>
        </p:spPr>
        <p:txBody>
          <a:bodyPr wrap="square" lIns="0" tIns="0" rIns="0" bIns="0" rtlCol="0" anchor="ctr"/>
          <a:lstStyle/>
          <a:p>
            <a:pPr indent="0" marL="0">
              <a:buNone/>
            </a:pPr>
            <a:r>
              <a:rPr lang="en-US" sz="700" b="1" i="1" dirty="0">
                <a:solidFill>
                  <a:srgbClr val="FFFFFF"/>
                </a:solidFill>
                <a:latin typeface="Arial" pitchFamily="34" charset="0"/>
                <a:ea typeface="Arial" pitchFamily="34" charset="-122"/>
                <a:cs typeface="Arial" pitchFamily="34" charset="-120"/>
              </a:rPr>
              <a:t>[N°] eventos HBP — </a:t>
            </a:r>
            <a:pPr indent="0" marL="0">
              <a:buNone/>
            </a:pPr>
            <a:r>
              <a:rPr lang="en-US" sz="700" i="1" dirty="0">
                <a:solidFill>
                  <a:srgbClr val="FFFFFF"/>
                </a:solidFill>
                <a:latin typeface="Arial" pitchFamily="34" charset="0"/>
                <a:ea typeface="Arial" pitchFamily="34" charset="-122"/>
                <a:cs typeface="Arial" pitchFamily="34" charset="-120"/>
              </a:rPr>
              <a:t>[tema más repetido (cantidad)] · [tema (cantidad)]. Refuerzo transversal en todos los recorridos y al cierre de cada tarea.</a:t>
            </a:r>
            <a:endParaRPr lang="en-US" sz="700" dirty="0"/>
          </a:p>
        </p:txBody>
      </p:sp>
      <p:sp>
        <p:nvSpPr>
          <p:cNvPr id="22" name="Shape 18"/>
          <p:cNvSpPr/>
          <p:nvPr/>
        </p:nvSpPr>
        <p:spPr>
          <a:xfrm>
            <a:off x="365760" y="6181344"/>
            <a:ext cx="6172200" cy="219456"/>
          </a:xfrm>
          <a:prstGeom prst="rect">
            <a:avLst/>
          </a:prstGeom>
          <a:solidFill>
            <a:srgbClr val="1F3D6B"/>
          </a:solidFill>
          <a:ln w="12700">
            <a:solidFill>
              <a:srgbClr val="1F3D6B"/>
            </a:solidFill>
            <a:prstDash val="solid"/>
          </a:ln>
        </p:spPr>
      </p:sp>
      <p:sp>
        <p:nvSpPr>
          <p:cNvPr id="23" name="Text 19"/>
          <p:cNvSpPr txBox="1"/>
          <p:nvPr/>
        </p:nvSpPr>
        <p:spPr>
          <a:xfrm>
            <a:off x="457200" y="6181344"/>
            <a:ext cx="5989320" cy="219456"/>
          </a:xfrm>
          <a:prstGeom prst="rect">
            <a:avLst/>
          </a:prstGeom>
          <a:noFill/>
          <a:ln/>
        </p:spPr>
        <p:txBody>
          <a:bodyPr wrap="square" lIns="0" tIns="0" rIns="0" bIns="0" rtlCol="0" anchor="ctr"/>
          <a:lstStyle/>
          <a:p>
            <a:pPr indent="0" marL="0">
              <a:buNone/>
            </a:pPr>
            <a:r>
              <a:rPr lang="en-US" sz="750" b="1" dirty="0">
                <a:solidFill>
                  <a:srgbClr val="FFFFFF"/>
                </a:solidFill>
                <a:latin typeface="Arial" pitchFamily="34" charset="0"/>
                <a:ea typeface="Arial" pitchFamily="34" charset="-122"/>
                <a:cs typeface="Arial" pitchFamily="34" charset="-120"/>
              </a:rPr>
              <a:t>SÍNTESIS DE TENDENCIAS Y RECOMENDACIÓN DE RECORRIDOS – SUPERVISOR ITO</a:t>
            </a:r>
            <a:endParaRPr lang="en-US" sz="750" dirty="0"/>
          </a:p>
        </p:txBody>
      </p:sp>
      <p:pic>
        <p:nvPicPr>
          <p:cNvPr id="24" name="Image 1" descr="preencoded.png">    </p:cNvPr>
          <p:cNvPicPr>
            <a:picLocks noChangeAspect="1"/>
          </p:cNvPicPr>
          <p:nvPr/>
        </p:nvPicPr>
        <p:blipFill>
          <a:blip r:embed="rId2"/>
          <a:stretch>
            <a:fillRect/>
          </a:stretch>
        </p:blipFill>
        <p:spPr>
          <a:xfrm>
            <a:off x="438912" y="6473952"/>
            <a:ext cx="219456" cy="219456"/>
          </a:xfrm>
          <a:prstGeom prst="rect">
            <a:avLst/>
          </a:prstGeom>
        </p:spPr>
      </p:pic>
      <p:sp>
        <p:nvSpPr>
          <p:cNvPr id="25" name="Text 20"/>
          <p:cNvSpPr txBox="1"/>
          <p:nvPr/>
        </p:nvSpPr>
        <p:spPr>
          <a:xfrm>
            <a:off x="6949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AM · INICIO DE TURNO</a:t>
            </a:r>
            <a:endParaRPr lang="en-US" sz="730" dirty="0"/>
          </a:p>
        </p:txBody>
      </p:sp>
      <p:sp>
        <p:nvSpPr>
          <p:cNvPr id="26" name="Text 21"/>
          <p:cNvSpPr txBox="1"/>
          <p:nvPr/>
        </p:nvSpPr>
        <p:spPr>
          <a:xfrm>
            <a:off x="438912" y="6729984"/>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al inicio del turno]</a:t>
            </a:r>
            <a:endParaRPr lang="en-US" sz="650" dirty="0"/>
          </a:p>
        </p:txBody>
      </p:sp>
      <p:sp>
        <p:nvSpPr>
          <p:cNvPr id="27" name="Text 22"/>
          <p:cNvSpPr txBox="1"/>
          <p:nvPr/>
        </p:nvSpPr>
        <p:spPr>
          <a:xfrm>
            <a:off x="4389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28" name="Shape 23"/>
          <p:cNvSpPr/>
          <p:nvPr/>
        </p:nvSpPr>
        <p:spPr>
          <a:xfrm>
            <a:off x="2423160" y="6501384"/>
            <a:ext cx="9144" cy="1316736"/>
          </a:xfrm>
          <a:prstGeom prst="rect">
            <a:avLst/>
          </a:prstGeom>
          <a:solidFill>
            <a:srgbClr val="C9D3E0"/>
          </a:solidFill>
          <a:ln w="12700">
            <a:solidFill>
              <a:srgbClr val="C9D3E0"/>
            </a:solidFill>
            <a:prstDash val="solid"/>
          </a:ln>
        </p:spPr>
      </p:sp>
      <p:pic>
        <p:nvPicPr>
          <p:cNvPr id="29" name="Image 2" descr="preencoded.png">    </p:cNvPr>
          <p:cNvPicPr>
            <a:picLocks noChangeAspect="1"/>
          </p:cNvPicPr>
          <p:nvPr/>
        </p:nvPicPr>
        <p:blipFill>
          <a:blip r:embed="rId3"/>
          <a:stretch>
            <a:fillRect/>
          </a:stretch>
        </p:blipFill>
        <p:spPr>
          <a:xfrm>
            <a:off x="2496312" y="6473952"/>
            <a:ext cx="219456" cy="219456"/>
          </a:xfrm>
          <a:prstGeom prst="rect">
            <a:avLst/>
          </a:prstGeom>
        </p:spPr>
      </p:pic>
      <p:sp>
        <p:nvSpPr>
          <p:cNvPr id="30" name="Text 24"/>
          <p:cNvSpPr txBox="1"/>
          <p:nvPr/>
        </p:nvSpPr>
        <p:spPr>
          <a:xfrm>
            <a:off x="27523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MEDIODÍA · INTERVENCIÓN</a:t>
            </a:r>
            <a:endParaRPr lang="en-US" sz="730" dirty="0"/>
          </a:p>
        </p:txBody>
      </p:sp>
      <p:sp>
        <p:nvSpPr>
          <p:cNvPr id="31" name="Text 25"/>
          <p:cNvSpPr txBox="1"/>
          <p:nvPr/>
        </p:nvSpPr>
        <p:spPr>
          <a:xfrm>
            <a:off x="2496312" y="6729984"/>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 mediodía]</a:t>
            </a:r>
            <a:endParaRPr lang="en-US" sz="650" dirty="0"/>
          </a:p>
        </p:txBody>
      </p:sp>
      <p:sp>
        <p:nvSpPr>
          <p:cNvPr id="32" name="Text 26"/>
          <p:cNvSpPr txBox="1"/>
          <p:nvPr/>
        </p:nvSpPr>
        <p:spPr>
          <a:xfrm>
            <a:off x="24963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33" name="Shape 27"/>
          <p:cNvSpPr/>
          <p:nvPr/>
        </p:nvSpPr>
        <p:spPr>
          <a:xfrm>
            <a:off x="4480560" y="6501384"/>
            <a:ext cx="9144" cy="1316736"/>
          </a:xfrm>
          <a:prstGeom prst="rect">
            <a:avLst/>
          </a:prstGeom>
          <a:solidFill>
            <a:srgbClr val="C9D3E0"/>
          </a:solidFill>
          <a:ln w="12700">
            <a:solidFill>
              <a:srgbClr val="C9D3E0"/>
            </a:solidFill>
            <a:prstDash val="solid"/>
          </a:ln>
        </p:spPr>
      </p:sp>
      <p:pic>
        <p:nvPicPr>
          <p:cNvPr id="34" name="Image 3" descr="preencoded.png">    </p:cNvPr>
          <p:cNvPicPr>
            <a:picLocks noChangeAspect="1"/>
          </p:cNvPicPr>
          <p:nvPr/>
        </p:nvPicPr>
        <p:blipFill>
          <a:blip r:embed="rId4"/>
          <a:stretch>
            <a:fillRect/>
          </a:stretch>
        </p:blipFill>
        <p:spPr>
          <a:xfrm>
            <a:off x="4553712" y="6473952"/>
            <a:ext cx="219456" cy="219456"/>
          </a:xfrm>
          <a:prstGeom prst="rect">
            <a:avLst/>
          </a:prstGeom>
        </p:spPr>
      </p:pic>
      <p:sp>
        <p:nvSpPr>
          <p:cNvPr id="35" name="Text 28"/>
          <p:cNvSpPr txBox="1"/>
          <p:nvPr/>
        </p:nvSpPr>
        <p:spPr>
          <a:xfrm>
            <a:off x="48097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PM · CIERRE DE JORNADA</a:t>
            </a:r>
            <a:endParaRPr lang="en-US" sz="730" dirty="0"/>
          </a:p>
        </p:txBody>
      </p:sp>
      <p:sp>
        <p:nvSpPr>
          <p:cNvPr id="36" name="Text 29"/>
          <p:cNvSpPr txBox="1"/>
          <p:nvPr/>
        </p:nvSpPr>
        <p:spPr>
          <a:xfrm>
            <a:off x="45537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Gestión SAP · CdP pendientes · Entrega de turno</a:t>
            </a:r>
            <a:endParaRPr lang="en-US" sz="650" dirty="0"/>
          </a:p>
        </p:txBody>
      </p:sp>
      <p:sp>
        <p:nvSpPr>
          <p:cNvPr id="37" name="Text 30"/>
          <p:cNvSpPr txBox="1"/>
          <p:nvPr/>
        </p:nvSpPr>
        <p:spPr>
          <a:xfrm>
            <a:off x="45537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Actualizar PTS con brechas de CdP: [cuáles]</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Registrar hallazgos en SAP</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Informar recurrentes en entrega de turno</a:t>
            </a:r>
            <a:endParaRPr lang="en-US" sz="680" dirty="0"/>
          </a:p>
        </p:txBody>
      </p:sp>
      <p:sp>
        <p:nvSpPr>
          <p:cNvPr id="38" name="Shape 31"/>
          <p:cNvSpPr/>
          <p:nvPr/>
        </p:nvSpPr>
        <p:spPr>
          <a:xfrm>
            <a:off x="6675120" y="6181344"/>
            <a:ext cx="1655064" cy="1682496"/>
          </a:xfrm>
          <a:prstGeom prst="roundRect">
            <a:avLst>
              <a:gd name="adj" fmla="val 3315"/>
            </a:avLst>
          </a:prstGeom>
          <a:solidFill>
            <a:srgbClr val="FDF1F1"/>
          </a:solidFill>
          <a:ln w="12700">
            <a:solidFill>
              <a:srgbClr val="C62828"/>
            </a:solidFill>
            <a:prstDash val="solid"/>
          </a:ln>
        </p:spPr>
      </p:sp>
      <p:sp>
        <p:nvSpPr>
          <p:cNvPr id="39" name="Text 32"/>
          <p:cNvSpPr txBox="1"/>
          <p:nvPr/>
        </p:nvSpPr>
        <p:spPr>
          <a:xfrm>
            <a:off x="6748272" y="6217920"/>
            <a:ext cx="1508760" cy="310896"/>
          </a:xfrm>
          <a:prstGeom prst="rect">
            <a:avLst/>
          </a:prstGeom>
          <a:noFill/>
          <a:ln/>
        </p:spPr>
        <p:txBody>
          <a:bodyPr wrap="square" lIns="0" tIns="0" rIns="0" bIns="0" rtlCol="0" anchor="ctr"/>
          <a:lstStyle/>
          <a:p>
            <a:pPr algn="ctr" indent="0" marL="0">
              <a:buNone/>
            </a:pPr>
            <a:r>
              <a:rPr lang="en-US" sz="730" b="1" dirty="0">
                <a:solidFill>
                  <a:srgbClr val="C62828"/>
                </a:solidFill>
                <a:latin typeface="Arial" pitchFamily="34" charset="0"/>
                <a:ea typeface="Arial" pitchFamily="34" charset="-122"/>
                <a:cs typeface="Arial" pitchFamily="34" charset="-120"/>
              </a:rPr>
              <a:t>BRECHAS PRINCIPALES</a:t>
            </a:r>
            <a:endParaRPr lang="en-US" sz="730" dirty="0"/>
          </a:p>
        </p:txBody>
      </p:sp>
      <p:sp>
        <p:nvSpPr>
          <p:cNvPr id="40" name="Text 33"/>
          <p:cNvSpPr txBox="1"/>
          <p:nvPr/>
        </p:nvSpPr>
        <p:spPr>
          <a:xfrm>
            <a:off x="6748272"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1: lo que falló]</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5]</a:t>
            </a:r>
            <a:endParaRPr lang="en-US" sz="680" dirty="0"/>
          </a:p>
        </p:txBody>
      </p:sp>
      <p:sp>
        <p:nvSpPr>
          <p:cNvPr id="41" name="Shape 34"/>
          <p:cNvSpPr/>
          <p:nvPr/>
        </p:nvSpPr>
        <p:spPr>
          <a:xfrm>
            <a:off x="8421624" y="6181344"/>
            <a:ext cx="1655064" cy="1682496"/>
          </a:xfrm>
          <a:prstGeom prst="roundRect">
            <a:avLst>
              <a:gd name="adj" fmla="val 3315"/>
            </a:avLst>
          </a:prstGeom>
          <a:solidFill>
            <a:srgbClr val="EEF3FA"/>
          </a:solidFill>
          <a:ln w="12700">
            <a:solidFill>
              <a:srgbClr val="1F3D6B"/>
            </a:solidFill>
            <a:prstDash val="solid"/>
          </a:ln>
        </p:spPr>
      </p:sp>
      <p:sp>
        <p:nvSpPr>
          <p:cNvPr id="42" name="Text 35"/>
          <p:cNvSpPr txBox="1"/>
          <p:nvPr/>
        </p:nvSpPr>
        <p:spPr>
          <a:xfrm>
            <a:off x="8494776" y="6217920"/>
            <a:ext cx="1508760" cy="310896"/>
          </a:xfrm>
          <a:prstGeom prst="rect">
            <a:avLst/>
          </a:prstGeom>
          <a:noFill/>
          <a:ln/>
        </p:spPr>
        <p:txBody>
          <a:bodyPr wrap="square" lIns="0" tIns="0" rIns="0" bIns="0" rtlCol="0" anchor="ctr"/>
          <a:lstStyle/>
          <a:p>
            <a:pPr algn="ctr" indent="0" marL="0">
              <a:buNone/>
            </a:pPr>
            <a:r>
              <a:rPr lang="en-US" sz="730" b="1" dirty="0">
                <a:solidFill>
                  <a:srgbClr val="1F3D6B"/>
                </a:solidFill>
                <a:latin typeface="Arial" pitchFamily="34" charset="0"/>
                <a:ea typeface="Arial" pitchFamily="34" charset="-122"/>
                <a:cs typeface="Arial" pitchFamily="34" charset="-120"/>
              </a:rPr>
              <a:t>CONTROLES CRÍTICOS NO NEGOCIABLES</a:t>
            </a:r>
            <a:endParaRPr lang="en-US" sz="730" dirty="0"/>
          </a:p>
        </p:txBody>
      </p:sp>
      <p:sp>
        <p:nvSpPr>
          <p:cNvPr id="43" name="Text 36"/>
          <p:cNvSpPr txBox="1"/>
          <p:nvPr/>
        </p:nvSpPr>
        <p:spPr>
          <a:xfrm>
            <a:off x="8494776"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1: lo que no se negocia]</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5]</a:t>
            </a:r>
            <a:endParaRPr lang="en-US" sz="680" dirty="0"/>
          </a:p>
        </p:txBody>
      </p:sp>
      <p:sp>
        <p:nvSpPr>
          <p:cNvPr id="44" name="Shape 37"/>
          <p:cNvSpPr/>
          <p:nvPr/>
        </p:nvSpPr>
        <p:spPr>
          <a:xfrm>
            <a:off x="10168128" y="6181344"/>
            <a:ext cx="1655064" cy="1682496"/>
          </a:xfrm>
          <a:prstGeom prst="roundRect">
            <a:avLst>
              <a:gd name="adj" fmla="val 3315"/>
            </a:avLst>
          </a:prstGeom>
          <a:solidFill>
            <a:srgbClr val="FDF5EC"/>
          </a:solidFill>
          <a:ln w="12700">
            <a:solidFill>
              <a:srgbClr val="B35C00"/>
            </a:solidFill>
            <a:prstDash val="solid"/>
          </a:ln>
        </p:spPr>
      </p:sp>
      <p:sp>
        <p:nvSpPr>
          <p:cNvPr id="45" name="Text 38"/>
          <p:cNvSpPr txBox="1"/>
          <p:nvPr/>
        </p:nvSpPr>
        <p:spPr>
          <a:xfrm>
            <a:off x="10241280" y="6217920"/>
            <a:ext cx="1508760" cy="310896"/>
          </a:xfrm>
          <a:prstGeom prst="rect">
            <a:avLst/>
          </a:prstGeom>
          <a:noFill/>
          <a:ln/>
        </p:spPr>
        <p:txBody>
          <a:bodyPr wrap="square" lIns="0" tIns="0" rIns="0" bIns="0" rtlCol="0" anchor="ctr"/>
          <a:lstStyle/>
          <a:p>
            <a:pPr algn="ctr" indent="0" marL="0">
              <a:buNone/>
            </a:pPr>
            <a:r>
              <a:rPr lang="en-US" sz="730" b="1" dirty="0">
                <a:solidFill>
                  <a:srgbClr val="B35C00"/>
                </a:solidFill>
                <a:latin typeface="Arial" pitchFamily="34" charset="0"/>
                <a:ea typeface="Arial" pitchFamily="34" charset="-122"/>
                <a:cs typeface="Arial" pitchFamily="34" charset="-120"/>
              </a:rPr>
              <a:t>DETENER LA TAREA SI…</a:t>
            </a:r>
            <a:endParaRPr lang="en-US" sz="730" dirty="0"/>
          </a:p>
        </p:txBody>
      </p:sp>
      <p:sp>
        <p:nvSpPr>
          <p:cNvPr id="46" name="Text 39"/>
          <p:cNvSpPr txBox="1"/>
          <p:nvPr/>
        </p:nvSpPr>
        <p:spPr>
          <a:xfrm>
            <a:off x="10241280"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1 de detención]</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5]</a:t>
            </a:r>
            <a:endParaRPr lang="en-US" sz="680" dirty="0"/>
          </a:p>
        </p:txBody>
      </p:sp>
      <p:sp>
        <p:nvSpPr>
          <p:cNvPr id="47" name="Shape 40"/>
          <p:cNvSpPr/>
          <p:nvPr/>
        </p:nvSpPr>
        <p:spPr>
          <a:xfrm>
            <a:off x="365760" y="7936992"/>
            <a:ext cx="11457432" cy="329184"/>
          </a:xfrm>
          <a:prstGeom prst="rect">
            <a:avLst/>
          </a:prstGeom>
          <a:solidFill>
            <a:srgbClr val="F3F6FA"/>
          </a:solidFill>
          <a:ln w="9525">
            <a:solidFill>
              <a:srgbClr val="C9D3E0"/>
            </a:solidFill>
            <a:prstDash val="solid"/>
          </a:ln>
        </p:spPr>
      </p:sp>
      <p:sp>
        <p:nvSpPr>
          <p:cNvPr id="48" name="Text 41"/>
          <p:cNvSpPr txBox="1"/>
          <p:nvPr/>
        </p:nvSpPr>
        <p:spPr>
          <a:xfrm>
            <a:off x="457200" y="7936992"/>
            <a:ext cx="5852160" cy="329184"/>
          </a:xfrm>
          <a:prstGeom prst="rect">
            <a:avLst/>
          </a:prstGeom>
          <a:noFill/>
          <a:ln/>
        </p:spPr>
        <p:txBody>
          <a:bodyPr wrap="square" lIns="0" tIns="0" rIns="0" bIns="0" rtlCol="0" anchor="ctr"/>
          <a:lstStyle/>
          <a:p>
            <a:pPr indent="0" marL="0">
              <a:buNone/>
            </a:pPr>
            <a:r>
              <a:rPr lang="en-US" sz="750" b="1" dirty="0">
                <a:solidFill>
                  <a:srgbClr val="1F3D6B"/>
                </a:solidFill>
                <a:latin typeface="Arial" pitchFamily="34" charset="0"/>
                <a:ea typeface="Arial" pitchFamily="34" charset="-122"/>
                <a:cs typeface="Arial" pitchFamily="34" charset="-120"/>
              </a:rPr>
              <a:t>CIERRE:  </a:t>
            </a:r>
            <a:pPr indent="0" marL="0">
              <a:buNone/>
            </a:pPr>
            <a:r>
              <a:rPr lang="en-US" sz="750" dirty="0">
                <a:solidFill>
                  <a:srgbClr val="222222"/>
                </a:solidFill>
                <a:latin typeface="Arial" pitchFamily="34" charset="0"/>
                <a:ea typeface="Arial" pitchFamily="34" charset="-122"/>
                <a:cs typeface="Arial" pitchFamily="34" charset="-120"/>
              </a:rPr>
              <a:t>Focos verificados ____ / ____   ·   % cumplimiento ______   ·   Tareas detenidas ____   ·   Hallazgos a SAP ____</a:t>
            </a:r>
            <a:endParaRPr lang="en-US" sz="750" dirty="0"/>
          </a:p>
        </p:txBody>
      </p:sp>
      <p:sp>
        <p:nvSpPr>
          <p:cNvPr id="49" name="Text 42"/>
          <p:cNvSpPr txBox="1"/>
          <p:nvPr/>
        </p:nvSpPr>
        <p:spPr>
          <a:xfrm>
            <a:off x="6400800" y="7936992"/>
            <a:ext cx="5349240" cy="329184"/>
          </a:xfrm>
          <a:prstGeom prst="rect">
            <a:avLst/>
          </a:prstGeom>
          <a:noFill/>
          <a:ln/>
        </p:spPr>
        <p:txBody>
          <a:bodyPr wrap="square" lIns="0" tIns="0" rIns="0" bIns="0" rtlCol="0" anchor="ctr"/>
          <a:lstStyle/>
          <a:p>
            <a:pPr algn="r" indent="0" marL="0">
              <a:buNone/>
            </a:pPr>
            <a:r>
              <a:rPr lang="en-US" sz="750" b="1" dirty="0">
                <a:solidFill>
                  <a:srgbClr val="1F3D6B"/>
                </a:solidFill>
                <a:latin typeface="Arial" pitchFamily="34" charset="0"/>
                <a:ea typeface="Arial" pitchFamily="34" charset="-122"/>
                <a:cs typeface="Arial" pitchFamily="34" charset="-120"/>
              </a:rPr>
              <a:t>Firma Inspector ITO: </a:t>
            </a:r>
            <a:pPr algn="r" indent="0" marL="0">
              <a:buNone/>
            </a:pPr>
            <a:r>
              <a:rPr lang="en-US" sz="750" dirty="0">
                <a:solidFill>
                  <a:srgbClr val="222222"/>
                </a:solidFill>
                <a:latin typeface="Arial" pitchFamily="34" charset="0"/>
                <a:ea typeface="Arial" pitchFamily="34" charset="-122"/>
                <a:cs typeface="Arial" pitchFamily="34" charset="-120"/>
              </a:rPr>
              <a:t>________________     </a:t>
            </a:r>
            <a:pPr algn="r" indent="0" marL="0">
              <a:buNone/>
            </a:pPr>
            <a:r>
              <a:rPr lang="en-US" sz="750" b="1" dirty="0">
                <a:solidFill>
                  <a:srgbClr val="1F3D6B"/>
                </a:solidFill>
                <a:latin typeface="Arial" pitchFamily="34" charset="0"/>
                <a:ea typeface="Arial" pitchFamily="34" charset="-122"/>
                <a:cs typeface="Arial" pitchFamily="34" charset="-120"/>
              </a:rPr>
              <a:t>Firma Supervisor EECC: </a:t>
            </a:r>
            <a:pPr algn="r" indent="0" marL="0">
              <a:buNone/>
            </a:pPr>
            <a:r>
              <a:rPr lang="en-US" sz="750" dirty="0">
                <a:solidFill>
                  <a:srgbClr val="222222"/>
                </a:solidFill>
                <a:latin typeface="Arial" pitchFamily="34" charset="0"/>
                <a:ea typeface="Arial" pitchFamily="34" charset="-122"/>
                <a:cs typeface="Arial" pitchFamily="34" charset="-120"/>
              </a:rPr>
              <a:t>________________</a:t>
            </a:r>
            <a:endParaRPr lang="en-US" sz="750" dirty="0"/>
          </a:p>
        </p:txBody>
      </p:sp>
      <p:sp>
        <p:nvSpPr>
          <p:cNvPr id="50" name="Shape 43"/>
          <p:cNvSpPr/>
          <p:nvPr/>
        </p:nvSpPr>
        <p:spPr>
          <a:xfrm>
            <a:off x="0" y="8385048"/>
            <a:ext cx="12191695" cy="347472"/>
          </a:xfrm>
          <a:prstGeom prst="rect">
            <a:avLst/>
          </a:prstGeom>
          <a:solidFill>
            <a:srgbClr val="1F3D6B"/>
          </a:solidFill>
          <a:ln w="12700">
            <a:solidFill>
              <a:srgbClr val="1F3D6B"/>
            </a:solidFill>
            <a:prstDash val="solid"/>
          </a:ln>
        </p:spPr>
      </p:sp>
      <p:sp>
        <p:nvSpPr>
          <p:cNvPr id="51" name="Text 44"/>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52" name="Text 45"/>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PLANTILLA</a:t>
            </a:r>
            <a:endParaRPr lang="en-US" sz="800" dirty="0"/>
          </a:p>
        </p:txBody>
      </p:sp>
      <p:sp>
        <p:nvSpPr>
          <p:cNvPr id="53" name="Text 46"/>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7772400" cy="502920"/>
          </a:xfrm>
          <a:prstGeom prst="rect">
            <a:avLst/>
          </a:prstGeom>
          <a:noFill/>
          <a:ln/>
        </p:spPr>
        <p:txBody>
          <a:bodyPr wrap="square" lIns="0" tIns="0" rIns="0" bIns="0" rtlCol="0" anchor="ctr"/>
          <a:lstStyle/>
          <a:p>
            <a:pPr algn="ctr" indent="0" marL="0">
              <a:buNone/>
            </a:pPr>
            <a:r>
              <a:rPr lang="en-US" sz="2600" b="1" dirty="0">
                <a:solidFill>
                  <a:srgbClr val="1F3D6B"/>
                </a:solidFill>
                <a:latin typeface="Arial" pitchFamily="34" charset="0"/>
                <a:ea typeface="Arial" pitchFamily="34" charset="-122"/>
                <a:cs typeface="Arial" pitchFamily="34" charset="-120"/>
              </a:rPr>
              <a:t>INSTRUCTIVO DE LLENADO</a:t>
            </a:r>
            <a:endParaRPr lang="en-US" sz="2600" dirty="0"/>
          </a:p>
        </p:txBody>
      </p:sp>
      <p:sp>
        <p:nvSpPr>
          <p:cNvPr id="4" name="Text 1"/>
          <p:cNvSpPr txBox="1"/>
          <p:nvPr/>
        </p:nvSpPr>
        <p:spPr>
          <a:xfrm>
            <a:off x="2194560" y="685800"/>
            <a:ext cx="777240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CÓMO COMPLETAR EL FORMATO ASSURANCE ITO CADA SEMANA</a:t>
            </a:r>
            <a:endParaRPr lang="en-US" sz="1150" dirty="0"/>
          </a:p>
        </p:txBody>
      </p:sp>
      <p:sp>
        <p:nvSpPr>
          <p:cNvPr id="5" name="Shape 2"/>
          <p:cNvSpPr/>
          <p:nvPr/>
        </p:nvSpPr>
        <p:spPr>
          <a:xfrm>
            <a:off x="365760" y="1188720"/>
            <a:ext cx="3749040" cy="1298448"/>
          </a:xfrm>
          <a:prstGeom prst="roundRect">
            <a:avLst>
              <a:gd name="adj" fmla="val 4225"/>
            </a:avLst>
          </a:prstGeom>
          <a:solidFill>
            <a:srgbClr val="F3F6FA"/>
          </a:solidFill>
          <a:ln w="9525">
            <a:solidFill>
              <a:srgbClr val="C9D3E0"/>
            </a:solidFill>
            <a:prstDash val="solid"/>
          </a:ln>
        </p:spPr>
      </p:sp>
      <p:sp>
        <p:nvSpPr>
          <p:cNvPr id="6" name="Shape 3"/>
          <p:cNvSpPr/>
          <p:nvPr/>
        </p:nvSpPr>
        <p:spPr>
          <a:xfrm>
            <a:off x="502920" y="1307592"/>
            <a:ext cx="329184" cy="329184"/>
          </a:xfrm>
          <a:prstGeom prst="ellipse">
            <a:avLst/>
          </a:prstGeom>
          <a:solidFill>
            <a:srgbClr val="1F3D6B"/>
          </a:solidFill>
          <a:ln w="12700">
            <a:solidFill>
              <a:srgbClr val="1F3D6B"/>
            </a:solidFill>
            <a:prstDash val="solid"/>
          </a:ln>
        </p:spPr>
      </p:sp>
      <p:sp>
        <p:nvSpPr>
          <p:cNvPr id="7" name="Text 4"/>
          <p:cNvSpPr txBox="1"/>
          <p:nvPr/>
        </p:nvSpPr>
        <p:spPr>
          <a:xfrm>
            <a:off x="502920"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8" name="Text 5"/>
          <p:cNvSpPr txBox="1"/>
          <p:nvPr/>
        </p:nvSpPr>
        <p:spPr>
          <a:xfrm>
            <a:off x="932688"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ENCABEZADO</a:t>
            </a:r>
            <a:endParaRPr lang="en-US" sz="1050" dirty="0"/>
          </a:p>
        </p:txBody>
      </p:sp>
      <p:sp>
        <p:nvSpPr>
          <p:cNvPr id="9" name="Text 6"/>
          <p:cNvSpPr txBox="1"/>
          <p:nvPr/>
        </p:nvSpPr>
        <p:spPr>
          <a:xfrm>
            <a:off x="530352"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Título según turno (ASSURANCE TURNO 1-3 o 2-4). Completar período de vigencia (del __ al __), turno, Inspector ITO, Proyecto / EECC y Área.</a:t>
            </a:r>
            <a:endParaRPr lang="en-US" sz="930" dirty="0"/>
          </a:p>
        </p:txBody>
      </p:sp>
      <p:sp>
        <p:nvSpPr>
          <p:cNvPr id="10" name="Shape 7"/>
          <p:cNvSpPr/>
          <p:nvPr/>
        </p:nvSpPr>
        <p:spPr>
          <a:xfrm>
            <a:off x="4219956" y="1188720"/>
            <a:ext cx="3749040" cy="1298448"/>
          </a:xfrm>
          <a:prstGeom prst="roundRect">
            <a:avLst>
              <a:gd name="adj" fmla="val 4225"/>
            </a:avLst>
          </a:prstGeom>
          <a:solidFill>
            <a:srgbClr val="F3F6FA"/>
          </a:solidFill>
          <a:ln w="9525">
            <a:solidFill>
              <a:srgbClr val="C9D3E0"/>
            </a:solidFill>
            <a:prstDash val="solid"/>
          </a:ln>
        </p:spPr>
      </p:sp>
      <p:sp>
        <p:nvSpPr>
          <p:cNvPr id="11" name="Shape 8"/>
          <p:cNvSpPr/>
          <p:nvPr/>
        </p:nvSpPr>
        <p:spPr>
          <a:xfrm>
            <a:off x="4357116" y="1307592"/>
            <a:ext cx="329184" cy="329184"/>
          </a:xfrm>
          <a:prstGeom prst="ellipse">
            <a:avLst/>
          </a:prstGeom>
          <a:solidFill>
            <a:srgbClr val="1F3D6B"/>
          </a:solidFill>
          <a:ln w="12700">
            <a:solidFill>
              <a:srgbClr val="1F3D6B"/>
            </a:solidFill>
            <a:prstDash val="solid"/>
          </a:ln>
        </p:spPr>
      </p:sp>
      <p:sp>
        <p:nvSpPr>
          <p:cNvPr id="12" name="Text 9"/>
          <p:cNvSpPr txBox="1"/>
          <p:nvPr/>
        </p:nvSpPr>
        <p:spPr>
          <a:xfrm>
            <a:off x="4357116"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4786884"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SELECCIÓN DE FOCOS</a:t>
            </a:r>
            <a:endParaRPr lang="en-US" sz="1050" dirty="0"/>
          </a:p>
        </p:txBody>
      </p:sp>
      <p:sp>
        <p:nvSpPr>
          <p:cNvPr id="14" name="Text 11"/>
          <p:cNvSpPr txBox="1"/>
          <p:nvPr/>
        </p:nvSpPr>
        <p:spPr>
          <a:xfrm>
            <a:off x="4384548"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Entre 4 y 6 focos, a partir de los eventos del período anterior (CAAP, HAP, CBP, HBP). Un foco = un riesgo: agrupar en un mismo foco los eventos del mismo riesgo. Priorizar los de alto potencial.</a:t>
            </a:r>
            <a:endParaRPr lang="en-US" sz="930" dirty="0"/>
          </a:p>
        </p:txBody>
      </p:sp>
      <p:sp>
        <p:nvSpPr>
          <p:cNvPr id="15" name="Shape 12"/>
          <p:cNvSpPr/>
          <p:nvPr/>
        </p:nvSpPr>
        <p:spPr>
          <a:xfrm>
            <a:off x="8074152" y="1188720"/>
            <a:ext cx="3749040" cy="1298448"/>
          </a:xfrm>
          <a:prstGeom prst="roundRect">
            <a:avLst>
              <a:gd name="adj" fmla="val 4225"/>
            </a:avLst>
          </a:prstGeom>
          <a:solidFill>
            <a:srgbClr val="F3F6FA"/>
          </a:solidFill>
          <a:ln w="9525">
            <a:solidFill>
              <a:srgbClr val="C9D3E0"/>
            </a:solidFill>
            <a:prstDash val="solid"/>
          </a:ln>
        </p:spPr>
      </p:sp>
      <p:sp>
        <p:nvSpPr>
          <p:cNvPr id="16" name="Shape 13"/>
          <p:cNvSpPr/>
          <p:nvPr/>
        </p:nvSpPr>
        <p:spPr>
          <a:xfrm>
            <a:off x="8211312" y="1307592"/>
            <a:ext cx="329184" cy="329184"/>
          </a:xfrm>
          <a:prstGeom prst="ellipse">
            <a:avLst/>
          </a:prstGeom>
          <a:solidFill>
            <a:srgbClr val="1F3D6B"/>
          </a:solidFill>
          <a:ln w="12700">
            <a:solidFill>
              <a:srgbClr val="1F3D6B"/>
            </a:solidFill>
            <a:prstDash val="solid"/>
          </a:ln>
        </p:spPr>
      </p:sp>
      <p:sp>
        <p:nvSpPr>
          <p:cNvPr id="17" name="Text 14"/>
          <p:cNvSpPr txBox="1"/>
          <p:nvPr/>
        </p:nvSpPr>
        <p:spPr>
          <a:xfrm>
            <a:off x="8211312"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8" name="Text 15"/>
          <p:cNvSpPr txBox="1"/>
          <p:nvPr/>
        </p:nvSpPr>
        <p:spPr>
          <a:xfrm>
            <a:off x="8641080"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NIVEL / PRIORIDAD</a:t>
            </a:r>
            <a:endParaRPr lang="en-US" sz="1050" dirty="0"/>
          </a:p>
        </p:txBody>
      </p:sp>
      <p:sp>
        <p:nvSpPr>
          <p:cNvPr id="19" name="Text 16"/>
          <p:cNvSpPr txBox="1"/>
          <p:nvPr/>
        </p:nvSpPr>
        <p:spPr>
          <a:xfrm>
            <a:off x="8238744"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N° + nivel + tipo del evento más grave del foco. N1 · CRÍTICO = celda roja; N2 · ALTO = celda naranja. Ordenar de mayor a menor. Para cambiar color: clic en la celda › Diseño de tabla › Sombreado.</a:t>
            </a:r>
            <a:endParaRPr lang="en-US" sz="930" dirty="0"/>
          </a:p>
        </p:txBody>
      </p:sp>
      <p:sp>
        <p:nvSpPr>
          <p:cNvPr id="20" name="Shape 17"/>
          <p:cNvSpPr/>
          <p:nvPr/>
        </p:nvSpPr>
        <p:spPr>
          <a:xfrm>
            <a:off x="365760" y="2596896"/>
            <a:ext cx="3749040" cy="1298448"/>
          </a:xfrm>
          <a:prstGeom prst="roundRect">
            <a:avLst>
              <a:gd name="adj" fmla="val 4225"/>
            </a:avLst>
          </a:prstGeom>
          <a:solidFill>
            <a:srgbClr val="F3F6FA"/>
          </a:solidFill>
          <a:ln w="9525">
            <a:solidFill>
              <a:srgbClr val="C9D3E0"/>
            </a:solidFill>
            <a:prstDash val="solid"/>
          </a:ln>
        </p:spPr>
      </p:sp>
      <p:sp>
        <p:nvSpPr>
          <p:cNvPr id="21" name="Shape 18"/>
          <p:cNvSpPr/>
          <p:nvPr/>
        </p:nvSpPr>
        <p:spPr>
          <a:xfrm>
            <a:off x="502920" y="2715768"/>
            <a:ext cx="329184" cy="329184"/>
          </a:xfrm>
          <a:prstGeom prst="ellipse">
            <a:avLst/>
          </a:prstGeom>
          <a:solidFill>
            <a:srgbClr val="1F3D6B"/>
          </a:solidFill>
          <a:ln w="12700">
            <a:solidFill>
              <a:srgbClr val="1F3D6B"/>
            </a:solidFill>
            <a:prstDash val="solid"/>
          </a:ln>
        </p:spPr>
      </p:sp>
      <p:sp>
        <p:nvSpPr>
          <p:cNvPr id="22" name="Text 19"/>
          <p:cNvSpPr txBox="1"/>
          <p:nvPr/>
        </p:nvSpPr>
        <p:spPr>
          <a:xfrm>
            <a:off x="502920"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3" name="Text 20"/>
          <p:cNvSpPr txBox="1"/>
          <p:nvPr/>
        </p:nvSpPr>
        <p:spPr>
          <a:xfrm>
            <a:off x="932688"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FOCO DE ASSURANCE</a:t>
            </a:r>
            <a:endParaRPr lang="en-US" sz="1050" dirty="0"/>
          </a:p>
        </p:txBody>
      </p:sp>
      <p:sp>
        <p:nvSpPr>
          <p:cNvPr id="24" name="Text 21"/>
          <p:cNvSpPr txBox="1"/>
          <p:nvPr/>
        </p:nvSpPr>
        <p:spPr>
          <a:xfrm>
            <a:off x="530352"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Tema en negrita + instrucción que parte con verbo ("Verificar…"): qué, dónde y bajo qué estándar (máx. 3 líneas). Cerrar con "Criterio de restricción": cuándo se prohíbe o se detiene la tarea (máx. 2 líneas).</a:t>
            </a:r>
            <a:endParaRPr lang="en-US" sz="930" dirty="0"/>
          </a:p>
        </p:txBody>
      </p:sp>
      <p:sp>
        <p:nvSpPr>
          <p:cNvPr id="25" name="Shape 22"/>
          <p:cNvSpPr/>
          <p:nvPr/>
        </p:nvSpPr>
        <p:spPr>
          <a:xfrm>
            <a:off x="4219956" y="2596896"/>
            <a:ext cx="3749040" cy="1298448"/>
          </a:xfrm>
          <a:prstGeom prst="roundRect">
            <a:avLst>
              <a:gd name="adj" fmla="val 4225"/>
            </a:avLst>
          </a:prstGeom>
          <a:solidFill>
            <a:srgbClr val="F3F6FA"/>
          </a:solidFill>
          <a:ln w="9525">
            <a:solidFill>
              <a:srgbClr val="C9D3E0"/>
            </a:solidFill>
            <a:prstDash val="solid"/>
          </a:ln>
        </p:spPr>
      </p:sp>
      <p:sp>
        <p:nvSpPr>
          <p:cNvPr id="26" name="Shape 23"/>
          <p:cNvSpPr/>
          <p:nvPr/>
        </p:nvSpPr>
        <p:spPr>
          <a:xfrm>
            <a:off x="4357116" y="2715768"/>
            <a:ext cx="329184" cy="329184"/>
          </a:xfrm>
          <a:prstGeom prst="ellipse">
            <a:avLst/>
          </a:prstGeom>
          <a:solidFill>
            <a:srgbClr val="1F3D6B"/>
          </a:solidFill>
          <a:ln w="12700">
            <a:solidFill>
              <a:srgbClr val="1F3D6B"/>
            </a:solidFill>
            <a:prstDash val="solid"/>
          </a:ln>
        </p:spPr>
      </p:sp>
      <p:sp>
        <p:nvSpPr>
          <p:cNvPr id="27" name="Text 24"/>
          <p:cNvSpPr txBox="1"/>
          <p:nvPr/>
        </p:nvSpPr>
        <p:spPr>
          <a:xfrm>
            <a:off x="4357116"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28" name="Text 25"/>
          <p:cNvSpPr txBox="1"/>
          <p:nvPr/>
        </p:nvSpPr>
        <p:spPr>
          <a:xfrm>
            <a:off x="4786884"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EVENTO / EVIDENCIA ORIGEN</a:t>
            </a:r>
            <a:endParaRPr lang="en-US" sz="1050" dirty="0"/>
          </a:p>
        </p:txBody>
      </p:sp>
      <p:sp>
        <p:nvSpPr>
          <p:cNvPr id="29" name="Text 26"/>
          <p:cNvSpPr txBox="1"/>
          <p:nvPr/>
        </p:nvSpPr>
        <p:spPr>
          <a:xfrm>
            <a:off x="4384548"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Formato fijo: [Turno] TIPO ID – EECC: qué ocurrió.</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[T1-3] HAP 553767 – JEJ: camioneta con neumático dañado.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Máx. 3 eventos por foco, 1–2 líneas cada uno.</a:t>
            </a:r>
            <a:endParaRPr lang="en-US" sz="930" dirty="0"/>
          </a:p>
        </p:txBody>
      </p:sp>
      <p:sp>
        <p:nvSpPr>
          <p:cNvPr id="30" name="Shape 27"/>
          <p:cNvSpPr/>
          <p:nvPr/>
        </p:nvSpPr>
        <p:spPr>
          <a:xfrm>
            <a:off x="8074152" y="2596896"/>
            <a:ext cx="3749040" cy="1298448"/>
          </a:xfrm>
          <a:prstGeom prst="roundRect">
            <a:avLst>
              <a:gd name="adj" fmla="val 4225"/>
            </a:avLst>
          </a:prstGeom>
          <a:solidFill>
            <a:srgbClr val="F3F6FA"/>
          </a:solidFill>
          <a:ln w="9525">
            <a:solidFill>
              <a:srgbClr val="C9D3E0"/>
            </a:solidFill>
            <a:prstDash val="solid"/>
          </a:ln>
        </p:spPr>
      </p:sp>
      <p:sp>
        <p:nvSpPr>
          <p:cNvPr id="31" name="Shape 28"/>
          <p:cNvSpPr/>
          <p:nvPr/>
        </p:nvSpPr>
        <p:spPr>
          <a:xfrm>
            <a:off x="8211312" y="2715768"/>
            <a:ext cx="329184" cy="329184"/>
          </a:xfrm>
          <a:prstGeom prst="ellipse">
            <a:avLst/>
          </a:prstGeom>
          <a:solidFill>
            <a:srgbClr val="1F3D6B"/>
          </a:solidFill>
          <a:ln w="12700">
            <a:solidFill>
              <a:srgbClr val="1F3D6B"/>
            </a:solidFill>
            <a:prstDash val="solid"/>
          </a:ln>
        </p:spPr>
      </p:sp>
      <p:sp>
        <p:nvSpPr>
          <p:cNvPr id="32" name="Text 29"/>
          <p:cNvSpPr txBox="1"/>
          <p:nvPr/>
        </p:nvSpPr>
        <p:spPr>
          <a:xfrm>
            <a:off x="8211312"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33" name="Text 30"/>
          <p:cNvSpPr txBox="1"/>
          <p:nvPr/>
        </p:nvSpPr>
        <p:spPr>
          <a:xfrm>
            <a:off x="8641080"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HERRAMIENTA PREVENTIVA SGE</a:t>
            </a:r>
            <a:endParaRPr lang="en-US" sz="1050" dirty="0"/>
          </a:p>
        </p:txBody>
      </p:sp>
      <p:sp>
        <p:nvSpPr>
          <p:cNvPr id="34" name="Text 31"/>
          <p:cNvSpPr txBox="1"/>
          <p:nvPr/>
        </p:nvSpPr>
        <p:spPr>
          <a:xfrm>
            <a:off x="8238744"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Herramienta(s) del SGE con que se verifica el foco, unidas con "+".</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GCC + CdP Maniobras de Izaje + ASP.</a:t>
            </a:r>
            <a:endParaRPr lang="en-US" sz="930" dirty="0"/>
          </a:p>
        </p:txBody>
      </p:sp>
      <p:sp>
        <p:nvSpPr>
          <p:cNvPr id="35" name="Shape 32"/>
          <p:cNvSpPr/>
          <p:nvPr/>
        </p:nvSpPr>
        <p:spPr>
          <a:xfrm>
            <a:off x="365760" y="4005072"/>
            <a:ext cx="3749040" cy="1298448"/>
          </a:xfrm>
          <a:prstGeom prst="roundRect">
            <a:avLst>
              <a:gd name="adj" fmla="val 4225"/>
            </a:avLst>
          </a:prstGeom>
          <a:solidFill>
            <a:srgbClr val="F3F6FA"/>
          </a:solidFill>
          <a:ln w="9525">
            <a:solidFill>
              <a:srgbClr val="C9D3E0"/>
            </a:solidFill>
            <a:prstDash val="solid"/>
          </a:ln>
        </p:spPr>
      </p:sp>
      <p:sp>
        <p:nvSpPr>
          <p:cNvPr id="36" name="Shape 33"/>
          <p:cNvSpPr/>
          <p:nvPr/>
        </p:nvSpPr>
        <p:spPr>
          <a:xfrm>
            <a:off x="502920" y="4123944"/>
            <a:ext cx="329184" cy="329184"/>
          </a:xfrm>
          <a:prstGeom prst="ellipse">
            <a:avLst/>
          </a:prstGeom>
          <a:solidFill>
            <a:srgbClr val="1F3D6B"/>
          </a:solidFill>
          <a:ln w="12700">
            <a:solidFill>
              <a:srgbClr val="1F3D6B"/>
            </a:solidFill>
            <a:prstDash val="solid"/>
          </a:ln>
        </p:spPr>
      </p:sp>
      <p:sp>
        <p:nvSpPr>
          <p:cNvPr id="37" name="Text 34"/>
          <p:cNvSpPr txBox="1"/>
          <p:nvPr/>
        </p:nvSpPr>
        <p:spPr>
          <a:xfrm>
            <a:off x="502920"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38" name="Text 35"/>
          <p:cNvSpPr txBox="1"/>
          <p:nvPr/>
        </p:nvSpPr>
        <p:spPr>
          <a:xfrm>
            <a:off x="932688"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EVIDENCIA / REGISTRO ESPERADO</a:t>
            </a:r>
            <a:endParaRPr lang="en-US" sz="1050" dirty="0"/>
          </a:p>
        </p:txBody>
      </p:sp>
      <p:sp>
        <p:nvSpPr>
          <p:cNvPr id="39" name="Text 36"/>
          <p:cNvSpPr txBox="1"/>
          <p:nvPr/>
        </p:nvSpPr>
        <p:spPr>
          <a:xfrm>
            <a:off x="530352"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Registro concreto y verificable que debe quedar, separado por "/". Incluir siempre registro fotográfico.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Área segregada / radio operativa / registro fotográfico.</a:t>
            </a:r>
            <a:endParaRPr lang="en-US" sz="930" dirty="0"/>
          </a:p>
        </p:txBody>
      </p:sp>
      <p:sp>
        <p:nvSpPr>
          <p:cNvPr id="40" name="Shape 37"/>
          <p:cNvSpPr/>
          <p:nvPr/>
        </p:nvSpPr>
        <p:spPr>
          <a:xfrm>
            <a:off x="4219956" y="4005072"/>
            <a:ext cx="3749040" cy="1298448"/>
          </a:xfrm>
          <a:prstGeom prst="roundRect">
            <a:avLst>
              <a:gd name="adj" fmla="val 4225"/>
            </a:avLst>
          </a:prstGeom>
          <a:solidFill>
            <a:srgbClr val="F3F6FA"/>
          </a:solidFill>
          <a:ln w="9525">
            <a:solidFill>
              <a:srgbClr val="C9D3E0"/>
            </a:solidFill>
            <a:prstDash val="solid"/>
          </a:ln>
        </p:spPr>
      </p:sp>
      <p:sp>
        <p:nvSpPr>
          <p:cNvPr id="41" name="Shape 38"/>
          <p:cNvSpPr/>
          <p:nvPr/>
        </p:nvSpPr>
        <p:spPr>
          <a:xfrm>
            <a:off x="4357116" y="4123944"/>
            <a:ext cx="329184" cy="329184"/>
          </a:xfrm>
          <a:prstGeom prst="ellipse">
            <a:avLst/>
          </a:prstGeom>
          <a:solidFill>
            <a:srgbClr val="1F3D6B"/>
          </a:solidFill>
          <a:ln w="12700">
            <a:solidFill>
              <a:srgbClr val="1F3D6B"/>
            </a:solidFill>
            <a:prstDash val="solid"/>
          </a:ln>
        </p:spPr>
      </p:sp>
      <p:sp>
        <p:nvSpPr>
          <p:cNvPr id="42" name="Text 39"/>
          <p:cNvSpPr txBox="1"/>
          <p:nvPr/>
        </p:nvSpPr>
        <p:spPr>
          <a:xfrm>
            <a:off x="4357116"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43" name="Text 40"/>
          <p:cNvSpPr txBox="1"/>
          <p:nvPr/>
        </p:nvSpPr>
        <p:spPr>
          <a:xfrm>
            <a:off x="4786884"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VERIFICACIÓN EN TERRENO</a:t>
            </a:r>
            <a:endParaRPr lang="en-US" sz="1050" dirty="0"/>
          </a:p>
        </p:txBody>
      </p:sp>
      <p:sp>
        <p:nvSpPr>
          <p:cNvPr id="44" name="Text 41"/>
          <p:cNvSpPr txBox="1"/>
          <p:nvPr/>
        </p:nvSpPr>
        <p:spPr>
          <a:xfrm>
            <a:off x="4384548"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Se deja en blanco al preparar el formato. El Inspector ITO marca en terreno C (cumple), NC (no cumple) o NA (no aplica); si es NC, anota la observación.</a:t>
            </a:r>
            <a:endParaRPr lang="en-US" sz="930" dirty="0"/>
          </a:p>
        </p:txBody>
      </p:sp>
      <p:sp>
        <p:nvSpPr>
          <p:cNvPr id="45" name="Shape 42"/>
          <p:cNvSpPr/>
          <p:nvPr/>
        </p:nvSpPr>
        <p:spPr>
          <a:xfrm>
            <a:off x="8074152" y="4005072"/>
            <a:ext cx="3749040" cy="1298448"/>
          </a:xfrm>
          <a:prstGeom prst="roundRect">
            <a:avLst>
              <a:gd name="adj" fmla="val 4225"/>
            </a:avLst>
          </a:prstGeom>
          <a:solidFill>
            <a:srgbClr val="F3F6FA"/>
          </a:solidFill>
          <a:ln w="9525">
            <a:solidFill>
              <a:srgbClr val="C9D3E0"/>
            </a:solidFill>
            <a:prstDash val="solid"/>
          </a:ln>
        </p:spPr>
      </p:sp>
      <p:sp>
        <p:nvSpPr>
          <p:cNvPr id="46" name="Shape 43"/>
          <p:cNvSpPr/>
          <p:nvPr/>
        </p:nvSpPr>
        <p:spPr>
          <a:xfrm>
            <a:off x="8211312" y="4123944"/>
            <a:ext cx="329184" cy="329184"/>
          </a:xfrm>
          <a:prstGeom prst="ellipse">
            <a:avLst/>
          </a:prstGeom>
          <a:solidFill>
            <a:srgbClr val="1F3D6B"/>
          </a:solidFill>
          <a:ln w="12700">
            <a:solidFill>
              <a:srgbClr val="1F3D6B"/>
            </a:solidFill>
            <a:prstDash val="solid"/>
          </a:ln>
        </p:spPr>
      </p:sp>
      <p:sp>
        <p:nvSpPr>
          <p:cNvPr id="47" name="Text 44"/>
          <p:cNvSpPr txBox="1"/>
          <p:nvPr/>
        </p:nvSpPr>
        <p:spPr>
          <a:xfrm>
            <a:off x="8211312"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9</a:t>
            </a:r>
            <a:endParaRPr lang="en-US" sz="1100" dirty="0"/>
          </a:p>
        </p:txBody>
      </p:sp>
      <p:sp>
        <p:nvSpPr>
          <p:cNvPr id="48" name="Text 45"/>
          <p:cNvSpPr txBox="1"/>
          <p:nvPr/>
        </p:nvSpPr>
        <p:spPr>
          <a:xfrm>
            <a:off x="8641080"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RECURRENTE</a:t>
            </a:r>
            <a:endParaRPr lang="en-US" sz="1050" dirty="0"/>
          </a:p>
        </p:txBody>
      </p:sp>
      <p:sp>
        <p:nvSpPr>
          <p:cNvPr id="49" name="Text 46"/>
          <p:cNvSpPr txBox="1"/>
          <p:nvPr/>
        </p:nvSpPr>
        <p:spPr>
          <a:xfrm>
            <a:off x="8238744"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Total de eventos HBP del período y los temas más repetidos con su cantidad.</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7 eventos HBP — acopio deficiente (4) · extensiones sin pasacable (3).</a:t>
            </a:r>
            <a:endParaRPr lang="en-US" sz="930" dirty="0"/>
          </a:p>
        </p:txBody>
      </p:sp>
      <p:sp>
        <p:nvSpPr>
          <p:cNvPr id="50" name="Shape 47"/>
          <p:cNvSpPr/>
          <p:nvPr/>
        </p:nvSpPr>
        <p:spPr>
          <a:xfrm>
            <a:off x="365760" y="5413248"/>
            <a:ext cx="3749040" cy="1298448"/>
          </a:xfrm>
          <a:prstGeom prst="roundRect">
            <a:avLst>
              <a:gd name="adj" fmla="val 4225"/>
            </a:avLst>
          </a:prstGeom>
          <a:solidFill>
            <a:srgbClr val="F3F6FA"/>
          </a:solidFill>
          <a:ln w="9525">
            <a:solidFill>
              <a:srgbClr val="C9D3E0"/>
            </a:solidFill>
            <a:prstDash val="solid"/>
          </a:ln>
        </p:spPr>
      </p:sp>
      <p:sp>
        <p:nvSpPr>
          <p:cNvPr id="51" name="Shape 48"/>
          <p:cNvSpPr/>
          <p:nvPr/>
        </p:nvSpPr>
        <p:spPr>
          <a:xfrm>
            <a:off x="502920" y="5532120"/>
            <a:ext cx="329184" cy="329184"/>
          </a:xfrm>
          <a:prstGeom prst="ellipse">
            <a:avLst/>
          </a:prstGeom>
          <a:solidFill>
            <a:srgbClr val="1F3D6B"/>
          </a:solidFill>
          <a:ln w="12700">
            <a:solidFill>
              <a:srgbClr val="1F3D6B"/>
            </a:solidFill>
            <a:prstDash val="solid"/>
          </a:ln>
        </p:spPr>
      </p:sp>
      <p:sp>
        <p:nvSpPr>
          <p:cNvPr id="52" name="Text 49"/>
          <p:cNvSpPr txBox="1"/>
          <p:nvPr/>
        </p:nvSpPr>
        <p:spPr>
          <a:xfrm>
            <a:off x="502920"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10</a:t>
            </a:r>
            <a:endParaRPr lang="en-US" sz="1100" dirty="0"/>
          </a:p>
        </p:txBody>
      </p:sp>
      <p:sp>
        <p:nvSpPr>
          <p:cNvPr id="53" name="Text 50"/>
          <p:cNvSpPr txBox="1"/>
          <p:nvPr/>
        </p:nvSpPr>
        <p:spPr>
          <a:xfrm>
            <a:off x="932688"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RECORRIDOS AM · MEDIODÍA · PM</a:t>
            </a:r>
            <a:endParaRPr lang="en-US" sz="1050" dirty="0"/>
          </a:p>
        </p:txBody>
      </p:sp>
      <p:sp>
        <p:nvSpPr>
          <p:cNvPr id="54" name="Text 51"/>
          <p:cNvSpPr txBox="1"/>
          <p:nvPr/>
        </p:nvSpPr>
        <p:spPr>
          <a:xfrm>
            <a:off x="530352"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Por bloque: áreas a recorrer y 3–4 controles con el N° de foco entre paréntesis. El bloque PM se reserva para gestión SAP, CdP pendientes, actualización de PTS y entrega de turno.</a:t>
            </a:r>
            <a:endParaRPr lang="en-US" sz="930" dirty="0"/>
          </a:p>
        </p:txBody>
      </p:sp>
      <p:sp>
        <p:nvSpPr>
          <p:cNvPr id="55" name="Shape 52"/>
          <p:cNvSpPr/>
          <p:nvPr/>
        </p:nvSpPr>
        <p:spPr>
          <a:xfrm>
            <a:off x="4219956" y="5413248"/>
            <a:ext cx="3749040" cy="1298448"/>
          </a:xfrm>
          <a:prstGeom prst="roundRect">
            <a:avLst>
              <a:gd name="adj" fmla="val 4225"/>
            </a:avLst>
          </a:prstGeom>
          <a:solidFill>
            <a:srgbClr val="F3F6FA"/>
          </a:solidFill>
          <a:ln w="9525">
            <a:solidFill>
              <a:srgbClr val="C9D3E0"/>
            </a:solidFill>
            <a:prstDash val="solid"/>
          </a:ln>
        </p:spPr>
      </p:sp>
      <p:sp>
        <p:nvSpPr>
          <p:cNvPr id="56" name="Shape 53"/>
          <p:cNvSpPr/>
          <p:nvPr/>
        </p:nvSpPr>
        <p:spPr>
          <a:xfrm>
            <a:off x="4357116" y="5532120"/>
            <a:ext cx="329184" cy="329184"/>
          </a:xfrm>
          <a:prstGeom prst="ellipse">
            <a:avLst/>
          </a:prstGeom>
          <a:solidFill>
            <a:srgbClr val="1F3D6B"/>
          </a:solidFill>
          <a:ln w="12700">
            <a:solidFill>
              <a:srgbClr val="1F3D6B"/>
            </a:solidFill>
            <a:prstDash val="solid"/>
          </a:ln>
        </p:spPr>
      </p:sp>
      <p:sp>
        <p:nvSpPr>
          <p:cNvPr id="57" name="Text 54"/>
          <p:cNvSpPr txBox="1"/>
          <p:nvPr/>
        </p:nvSpPr>
        <p:spPr>
          <a:xfrm>
            <a:off x="4357116"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11</a:t>
            </a:r>
            <a:endParaRPr lang="en-US" sz="1100" dirty="0"/>
          </a:p>
        </p:txBody>
      </p:sp>
      <p:sp>
        <p:nvSpPr>
          <p:cNvPr id="58" name="Text 55"/>
          <p:cNvSpPr txBox="1"/>
          <p:nvPr/>
        </p:nvSpPr>
        <p:spPr>
          <a:xfrm>
            <a:off x="4786884"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BRECHAS · CONTROLES · DETENER SI</a:t>
            </a:r>
            <a:endParaRPr lang="en-US" sz="1050" dirty="0"/>
          </a:p>
        </p:txBody>
      </p:sp>
      <p:sp>
        <p:nvSpPr>
          <p:cNvPr id="59" name="Text 56"/>
          <p:cNvSpPr txBox="1"/>
          <p:nvPr/>
        </p:nvSpPr>
        <p:spPr>
          <a:xfrm>
            <a:off x="4384548"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Máx. 5 viñetas de 1 línea por recuadro. Brechas = lo que falló. Controles = lo que no se negocia. Detener si = condición concreta de detención.</a:t>
            </a:r>
            <a:endParaRPr lang="en-US" sz="930" dirty="0"/>
          </a:p>
        </p:txBody>
      </p:sp>
      <p:sp>
        <p:nvSpPr>
          <p:cNvPr id="60" name="Shape 57"/>
          <p:cNvSpPr/>
          <p:nvPr/>
        </p:nvSpPr>
        <p:spPr>
          <a:xfrm>
            <a:off x="8074152" y="5413248"/>
            <a:ext cx="3749040" cy="1298448"/>
          </a:xfrm>
          <a:prstGeom prst="roundRect">
            <a:avLst>
              <a:gd name="adj" fmla="val 4225"/>
            </a:avLst>
          </a:prstGeom>
          <a:solidFill>
            <a:srgbClr val="F3F6FA"/>
          </a:solidFill>
          <a:ln w="9525">
            <a:solidFill>
              <a:srgbClr val="C9D3E0"/>
            </a:solidFill>
            <a:prstDash val="solid"/>
          </a:ln>
        </p:spPr>
      </p:sp>
      <p:sp>
        <p:nvSpPr>
          <p:cNvPr id="61" name="Shape 58"/>
          <p:cNvSpPr/>
          <p:nvPr/>
        </p:nvSpPr>
        <p:spPr>
          <a:xfrm>
            <a:off x="8211312" y="5532120"/>
            <a:ext cx="329184" cy="329184"/>
          </a:xfrm>
          <a:prstGeom prst="ellipse">
            <a:avLst/>
          </a:prstGeom>
          <a:solidFill>
            <a:srgbClr val="1F3D6B"/>
          </a:solidFill>
          <a:ln w="12700">
            <a:solidFill>
              <a:srgbClr val="1F3D6B"/>
            </a:solidFill>
            <a:prstDash val="solid"/>
          </a:ln>
        </p:spPr>
      </p:sp>
      <p:sp>
        <p:nvSpPr>
          <p:cNvPr id="62" name="Text 59"/>
          <p:cNvSpPr txBox="1"/>
          <p:nvPr/>
        </p:nvSpPr>
        <p:spPr>
          <a:xfrm>
            <a:off x="8211312"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12</a:t>
            </a:r>
            <a:endParaRPr lang="en-US" sz="1100" dirty="0"/>
          </a:p>
        </p:txBody>
      </p:sp>
      <p:sp>
        <p:nvSpPr>
          <p:cNvPr id="63" name="Text 60"/>
          <p:cNvSpPr txBox="1"/>
          <p:nvPr/>
        </p:nvSpPr>
        <p:spPr>
          <a:xfrm>
            <a:off x="8641080"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CIERRE Y FIRMAS</a:t>
            </a:r>
            <a:endParaRPr lang="en-US" sz="1050" dirty="0"/>
          </a:p>
        </p:txBody>
      </p:sp>
      <p:sp>
        <p:nvSpPr>
          <p:cNvPr id="64" name="Text 61"/>
          <p:cNvSpPr txBox="1"/>
          <p:nvPr/>
        </p:nvSpPr>
        <p:spPr>
          <a:xfrm>
            <a:off x="8238744"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Lo completa el Inspector ITO al terminar el turno: focos verificados, % cumplimiento (focos C ÷ focos aplicables), tareas detenidas y hallazgos subidos a SAP. Firman ITO y Supervisor EECC.</a:t>
            </a:r>
            <a:endParaRPr lang="en-US" sz="930" dirty="0"/>
          </a:p>
        </p:txBody>
      </p:sp>
      <p:sp>
        <p:nvSpPr>
          <p:cNvPr id="65" name="Shape 62"/>
          <p:cNvSpPr/>
          <p:nvPr/>
        </p:nvSpPr>
        <p:spPr>
          <a:xfrm>
            <a:off x="365760" y="6839712"/>
            <a:ext cx="11457432" cy="1435608"/>
          </a:xfrm>
          <a:prstGeom prst="roundRect">
            <a:avLst>
              <a:gd name="adj" fmla="val 3822"/>
            </a:avLst>
          </a:prstGeom>
          <a:solidFill>
            <a:srgbClr val="FDF1F1"/>
          </a:solidFill>
          <a:ln w="12700">
            <a:solidFill>
              <a:srgbClr val="C62828"/>
            </a:solidFill>
            <a:prstDash val="solid"/>
          </a:ln>
        </p:spPr>
      </p:sp>
      <p:sp>
        <p:nvSpPr>
          <p:cNvPr id="66" name="Text 63"/>
          <p:cNvSpPr txBox="1"/>
          <p:nvPr/>
        </p:nvSpPr>
        <p:spPr>
          <a:xfrm>
            <a:off x="548640" y="6912864"/>
            <a:ext cx="2743200" cy="274320"/>
          </a:xfrm>
          <a:prstGeom prst="rect">
            <a:avLst/>
          </a:prstGeom>
          <a:noFill/>
          <a:ln/>
        </p:spPr>
        <p:txBody>
          <a:bodyPr wrap="square" lIns="0" tIns="0" rIns="0" bIns="0" rtlCol="0" anchor="ctr"/>
          <a:lstStyle/>
          <a:p>
            <a:pPr indent="0" marL="0">
              <a:buNone/>
            </a:pPr>
            <a:r>
              <a:rPr lang="en-US" sz="1050" b="1" dirty="0">
                <a:solidFill>
                  <a:srgbClr val="C62828"/>
                </a:solidFill>
                <a:latin typeface="Arial" pitchFamily="34" charset="0"/>
                <a:ea typeface="Arial" pitchFamily="34" charset="-122"/>
                <a:cs typeface="Arial" pitchFamily="34" charset="-120"/>
              </a:rPr>
              <a:t>REGLAS GENERALES</a:t>
            </a:r>
            <a:endParaRPr lang="en-US" sz="1050" dirty="0"/>
          </a:p>
        </p:txBody>
      </p:sp>
      <p:sp>
        <p:nvSpPr>
          <p:cNvPr id="67" name="Text 64"/>
          <p:cNvSpPr txBox="1"/>
          <p:nvPr/>
        </p:nvSpPr>
        <p:spPr>
          <a:xfrm>
            <a:off x="548640" y="7223760"/>
            <a:ext cx="11064240" cy="978408"/>
          </a:xfrm>
          <a:prstGeom prst="rect">
            <a:avLst/>
          </a:prstGeom>
          <a:noFill/>
          <a:ln/>
        </p:spPr>
        <p:txBody>
          <a:bodyPr wrap="square" lIns="0" tIns="0" rIns="0" bIns="0" rtlCol="0" anchor="t"/>
          <a:lstStyle/>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 modificar columnas, colores, orden de secciones ni tamaño de la lámina.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Reemplazar todo texto gris entre [corchetes]; el formato publicado no debe tener corchetes ni texto gris.</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Si el texto no cabe, resumir: letra mínima 6 pt. Si hay menos de 6 focos, eliminar la fila sobrante (clic derecho › Eliminar fila).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Nombre de archivo: ASSURANCE_TURNO_[1-3 ó 2-4]_[DD-DD]_[MES].pptx  (ej.: ASSURANCE_TURNO_1-3_07-20_SEP.pptx).</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Para publicar: dejar solo la lámina PLANTILLA completada; eliminar el instructivo y el ejemplo.</a:t>
            </a:r>
            <a:endParaRPr lang="en-US" sz="930" dirty="0"/>
          </a:p>
        </p:txBody>
      </p:sp>
      <p:sp>
        <p:nvSpPr>
          <p:cNvPr id="68" name="Shape 65"/>
          <p:cNvSpPr/>
          <p:nvPr/>
        </p:nvSpPr>
        <p:spPr>
          <a:xfrm>
            <a:off x="0" y="8385048"/>
            <a:ext cx="12191695" cy="347472"/>
          </a:xfrm>
          <a:prstGeom prst="rect">
            <a:avLst/>
          </a:prstGeom>
          <a:solidFill>
            <a:srgbClr val="1F3D6B"/>
          </a:solidFill>
          <a:ln w="12700">
            <a:solidFill>
              <a:srgbClr val="1F3D6B"/>
            </a:solidFill>
            <a:prstDash val="solid"/>
          </a:ln>
        </p:spPr>
      </p:sp>
      <p:sp>
        <p:nvSpPr>
          <p:cNvPr id="69" name="Text 66"/>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70" name="Text 67"/>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INSTRUCTIVO</a:t>
            </a:r>
            <a:endParaRPr lang="en-US" sz="800" dirty="0"/>
          </a:p>
        </p:txBody>
      </p:sp>
      <p:sp>
        <p:nvSpPr>
          <p:cNvPr id="71" name="Text 68"/>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6949440" cy="502920"/>
          </a:xfrm>
          <a:prstGeom prst="rect">
            <a:avLst/>
          </a:prstGeom>
          <a:noFill/>
          <a:ln/>
        </p:spPr>
        <p:txBody>
          <a:bodyPr wrap="square" lIns="0" tIns="0" rIns="0" bIns="0" rtlCol="0" anchor="ctr"/>
          <a:lstStyle/>
          <a:p>
            <a:pPr algn="ctr" indent="0" marL="0">
              <a:buNone/>
            </a:pPr>
            <a:r>
              <a:rPr lang="en-US" sz="2400" b="1" dirty="0">
                <a:solidFill>
                  <a:srgbClr val="1F3D6B"/>
                </a:solidFill>
                <a:latin typeface="Arial" pitchFamily="34" charset="0"/>
                <a:ea typeface="Arial" pitchFamily="34" charset="-122"/>
                <a:cs typeface="Arial" pitchFamily="34" charset="-120"/>
              </a:rPr>
              <a:t>ASSURANCE TURNO 1-3 / 2-4</a:t>
            </a:r>
            <a:endParaRPr lang="en-US" sz="2400" dirty="0"/>
          </a:p>
        </p:txBody>
      </p:sp>
      <p:sp>
        <p:nvSpPr>
          <p:cNvPr id="4" name="Text 1"/>
          <p:cNvSpPr txBox="1"/>
          <p:nvPr/>
        </p:nvSpPr>
        <p:spPr>
          <a:xfrm>
            <a:off x="2194560" y="685800"/>
            <a:ext cx="694944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FOCOS PRIORITARIOS DE VERIFICACIÓN EN TERRENO – ITO</a:t>
            </a:r>
            <a:endParaRPr lang="en-US" sz="1150" dirty="0"/>
          </a:p>
        </p:txBody>
      </p:sp>
      <p:sp>
        <p:nvSpPr>
          <p:cNvPr id="5" name="Text 2"/>
          <p:cNvSpPr txBox="1"/>
          <p:nvPr/>
        </p:nvSpPr>
        <p:spPr>
          <a:xfrm>
            <a:off x="9144000" y="12801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FECHA / PERÍODO:</a:t>
            </a:r>
            <a:endParaRPr lang="en-US" sz="800" dirty="0"/>
          </a:p>
        </p:txBody>
      </p:sp>
      <p:sp>
        <p:nvSpPr>
          <p:cNvPr id="6" name="Text 3"/>
          <p:cNvSpPr txBox="1"/>
          <p:nvPr/>
        </p:nvSpPr>
        <p:spPr>
          <a:xfrm>
            <a:off x="10424160" y="12801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07 al 20 SEP</a:t>
            </a:r>
            <a:endParaRPr lang="en-US" sz="800" dirty="0"/>
          </a:p>
        </p:txBody>
      </p:sp>
      <p:sp>
        <p:nvSpPr>
          <p:cNvPr id="7" name="Text 4"/>
          <p:cNvSpPr txBox="1"/>
          <p:nvPr/>
        </p:nvSpPr>
        <p:spPr>
          <a:xfrm>
            <a:off x="9144000" y="31089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TURNO:</a:t>
            </a:r>
            <a:endParaRPr lang="en-US" sz="800" dirty="0"/>
          </a:p>
        </p:txBody>
      </p:sp>
      <p:sp>
        <p:nvSpPr>
          <p:cNvPr id="8" name="Text 5"/>
          <p:cNvSpPr txBox="1"/>
          <p:nvPr/>
        </p:nvSpPr>
        <p:spPr>
          <a:xfrm>
            <a:off x="10424160" y="31089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 1-3     ☐ 2-4</a:t>
            </a:r>
            <a:endParaRPr lang="en-US" sz="800" dirty="0"/>
          </a:p>
        </p:txBody>
      </p:sp>
      <p:sp>
        <p:nvSpPr>
          <p:cNvPr id="9" name="Text 6"/>
          <p:cNvSpPr txBox="1"/>
          <p:nvPr/>
        </p:nvSpPr>
        <p:spPr>
          <a:xfrm>
            <a:off x="9144000" y="49377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INSPECTOR ITO:</a:t>
            </a:r>
            <a:endParaRPr lang="en-US" sz="800" dirty="0"/>
          </a:p>
        </p:txBody>
      </p:sp>
      <p:sp>
        <p:nvSpPr>
          <p:cNvPr id="10" name="Text 7"/>
          <p:cNvSpPr txBox="1"/>
          <p:nvPr/>
        </p:nvSpPr>
        <p:spPr>
          <a:xfrm>
            <a:off x="10424160" y="49377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1" name="Text 8"/>
          <p:cNvSpPr txBox="1"/>
          <p:nvPr/>
        </p:nvSpPr>
        <p:spPr>
          <a:xfrm>
            <a:off x="9144000" y="67665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PROYECTO / EECC:</a:t>
            </a:r>
            <a:endParaRPr lang="en-US" sz="800" dirty="0"/>
          </a:p>
        </p:txBody>
      </p:sp>
      <p:sp>
        <p:nvSpPr>
          <p:cNvPr id="12" name="Text 9"/>
          <p:cNvSpPr txBox="1"/>
          <p:nvPr/>
        </p:nvSpPr>
        <p:spPr>
          <a:xfrm>
            <a:off x="10424160" y="67665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3" name="Text 10"/>
          <p:cNvSpPr txBox="1"/>
          <p:nvPr/>
        </p:nvSpPr>
        <p:spPr>
          <a:xfrm>
            <a:off x="9144000" y="85953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ÁREA / SECTOR:</a:t>
            </a:r>
            <a:endParaRPr lang="en-US" sz="800" dirty="0"/>
          </a:p>
        </p:txBody>
      </p:sp>
      <p:sp>
        <p:nvSpPr>
          <p:cNvPr id="14" name="Text 11"/>
          <p:cNvSpPr txBox="1"/>
          <p:nvPr/>
        </p:nvSpPr>
        <p:spPr>
          <a:xfrm>
            <a:off x="10424160" y="85953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5" name="Text 12"/>
          <p:cNvSpPr txBox="1"/>
          <p:nvPr/>
        </p:nvSpPr>
        <p:spPr>
          <a:xfrm>
            <a:off x="365760" y="1097280"/>
            <a:ext cx="777240" cy="201168"/>
          </a:xfrm>
          <a:prstGeom prst="rect">
            <a:avLst/>
          </a:prstGeom>
          <a:solidFill>
            <a:srgbClr val="C62828"/>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N1 · CRÍTICO</a:t>
            </a:r>
            <a:endParaRPr lang="en-US" sz="700" dirty="0"/>
          </a:p>
        </p:txBody>
      </p:sp>
      <p:sp>
        <p:nvSpPr>
          <p:cNvPr id="16" name="Text 13"/>
          <p:cNvSpPr txBox="1"/>
          <p:nvPr/>
        </p:nvSpPr>
        <p:spPr>
          <a:xfrm>
            <a:off x="1207008" y="1097280"/>
            <a:ext cx="777240" cy="201168"/>
          </a:xfrm>
          <a:prstGeom prst="rect">
            <a:avLst/>
          </a:prstGeom>
          <a:solidFill>
            <a:srgbClr val="E67E22"/>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N2 · ALTO</a:t>
            </a:r>
            <a:endParaRPr lang="en-US" sz="700" dirty="0"/>
          </a:p>
        </p:txBody>
      </p:sp>
      <p:sp>
        <p:nvSpPr>
          <p:cNvPr id="17" name="Text 14"/>
          <p:cNvSpPr txBox="1"/>
          <p:nvPr/>
        </p:nvSpPr>
        <p:spPr>
          <a:xfrm>
            <a:off x="2103120" y="1097280"/>
            <a:ext cx="9720072" cy="201168"/>
          </a:xfrm>
          <a:prstGeom prst="rect">
            <a:avLst/>
          </a:prstGeom>
          <a:noFill/>
          <a:ln/>
        </p:spPr>
        <p:txBody>
          <a:bodyPr wrap="square" lIns="0" tIns="0" rIns="0" bIns="0" rtlCol="0" anchor="ctr"/>
          <a:lstStyle/>
          <a:p>
            <a:pPr indent="0" marL="0">
              <a:buNone/>
            </a:pPr>
            <a:r>
              <a:rPr lang="en-US" sz="700" b="1" dirty="0">
                <a:solidFill>
                  <a:srgbClr val="1F3D6B"/>
                </a:solidFill>
                <a:latin typeface="Arial" pitchFamily="34" charset="0"/>
                <a:ea typeface="Arial" pitchFamily="34" charset="-122"/>
                <a:cs typeface="Arial" pitchFamily="34" charset="-120"/>
              </a:rPr>
              <a:t>Evento origen:  </a:t>
            </a:r>
            <a:pPr indent="0" marL="0">
              <a:buNone/>
            </a:pPr>
            <a:r>
              <a:rPr lang="en-US" sz="700" b="1" dirty="0">
                <a:solidFill>
                  <a:srgbClr val="222222"/>
                </a:solidFill>
                <a:latin typeface="Arial" pitchFamily="34" charset="0"/>
                <a:ea typeface="Arial" pitchFamily="34" charset="-122"/>
                <a:cs typeface="Arial" pitchFamily="34" charset="-120"/>
              </a:rPr>
              <a:t>CAAP</a:t>
            </a:r>
            <a:pPr indent="0" marL="0">
              <a:buNone/>
            </a:pPr>
            <a:r>
              <a:rPr lang="en-US" sz="700" dirty="0">
                <a:solidFill>
                  <a:srgbClr val="222222"/>
                </a:solidFill>
                <a:latin typeface="Arial" pitchFamily="34" charset="0"/>
                <a:ea typeface="Arial" pitchFamily="34" charset="-122"/>
                <a:cs typeface="Arial" pitchFamily="34" charset="-120"/>
              </a:rPr>
              <a:t> cuasi accidente alto pot.  ·  </a:t>
            </a:r>
            <a:pPr indent="0" marL="0">
              <a:buNone/>
            </a:pPr>
            <a:r>
              <a:rPr lang="en-US" sz="700" b="1" dirty="0">
                <a:solidFill>
                  <a:srgbClr val="222222"/>
                </a:solidFill>
                <a:latin typeface="Arial" pitchFamily="34" charset="0"/>
                <a:ea typeface="Arial" pitchFamily="34" charset="-122"/>
                <a:cs typeface="Arial" pitchFamily="34" charset="-120"/>
              </a:rPr>
              <a:t>HAP</a:t>
            </a:r>
            <a:pPr indent="0" marL="0">
              <a:buNone/>
            </a:pPr>
            <a:r>
              <a:rPr lang="en-US" sz="700" dirty="0">
                <a:solidFill>
                  <a:srgbClr val="222222"/>
                </a:solidFill>
                <a:latin typeface="Arial" pitchFamily="34" charset="0"/>
                <a:ea typeface="Arial" pitchFamily="34" charset="-122"/>
                <a:cs typeface="Arial" pitchFamily="34" charset="-120"/>
              </a:rPr>
              <a:t> hallazgo alto pot.  ·  </a:t>
            </a:r>
            <a:pPr indent="0" marL="0">
              <a:buNone/>
            </a:pPr>
            <a:r>
              <a:rPr lang="en-US" sz="700" b="1" dirty="0">
                <a:solidFill>
                  <a:srgbClr val="222222"/>
                </a:solidFill>
                <a:latin typeface="Arial" pitchFamily="34" charset="0"/>
                <a:ea typeface="Arial" pitchFamily="34" charset="-122"/>
                <a:cs typeface="Arial" pitchFamily="34" charset="-120"/>
              </a:rPr>
              <a:t>CBP</a:t>
            </a:r>
            <a:pPr indent="0" marL="0">
              <a:buNone/>
            </a:pPr>
            <a:r>
              <a:rPr lang="en-US" sz="700" dirty="0">
                <a:solidFill>
                  <a:srgbClr val="222222"/>
                </a:solidFill>
                <a:latin typeface="Arial" pitchFamily="34" charset="0"/>
                <a:ea typeface="Arial" pitchFamily="34" charset="-122"/>
                <a:cs typeface="Arial" pitchFamily="34" charset="-120"/>
              </a:rPr>
              <a:t> cuasi accidente bajo pot.  ·  </a:t>
            </a:r>
            <a:pPr indent="0" marL="0">
              <a:buNone/>
            </a:pPr>
            <a:r>
              <a:rPr lang="en-US" sz="700" b="1" dirty="0">
                <a:solidFill>
                  <a:srgbClr val="222222"/>
                </a:solidFill>
                <a:latin typeface="Arial" pitchFamily="34" charset="0"/>
                <a:ea typeface="Arial" pitchFamily="34" charset="-122"/>
                <a:cs typeface="Arial" pitchFamily="34" charset="-120"/>
              </a:rPr>
              <a:t>HBP</a:t>
            </a:r>
            <a:pPr indent="0" marL="0">
              <a:buNone/>
            </a:pPr>
            <a:r>
              <a:rPr lang="en-US" sz="700" dirty="0">
                <a:solidFill>
                  <a:srgbClr val="222222"/>
                </a:solidFill>
                <a:latin typeface="Arial" pitchFamily="34" charset="0"/>
                <a:ea typeface="Arial" pitchFamily="34" charset="-122"/>
                <a:cs typeface="Arial" pitchFamily="34" charset="-120"/>
              </a:rPr>
              <a:t> hallazgo bajo pot.  ·  </a:t>
            </a:r>
            <a:pPr indent="0" marL="0">
              <a:buNone/>
            </a:pPr>
            <a:r>
              <a:rPr lang="en-US" sz="700" b="1" dirty="0">
                <a:solidFill>
                  <a:srgbClr val="222222"/>
                </a:solidFill>
                <a:latin typeface="Arial" pitchFamily="34" charset="0"/>
                <a:ea typeface="Arial" pitchFamily="34" charset="-122"/>
                <a:cs typeface="Arial" pitchFamily="34" charset="-120"/>
              </a:rPr>
              <a:t>[T1-3] / [T2-4]</a:t>
            </a:r>
            <a:pPr indent="0" marL="0">
              <a:buNone/>
            </a:pPr>
            <a:r>
              <a:rPr lang="en-US" sz="700" dirty="0">
                <a:solidFill>
                  <a:srgbClr val="222222"/>
                </a:solidFill>
                <a:latin typeface="Arial" pitchFamily="34" charset="0"/>
                <a:ea typeface="Arial" pitchFamily="34" charset="-122"/>
                <a:cs typeface="Arial" pitchFamily="34" charset="-120"/>
              </a:rPr>
              <a:t> turno que lo reportó  ·  </a:t>
            </a:r>
            <a:pPr indent="0" marL="0">
              <a:buNone/>
            </a:pPr>
            <a:r>
              <a:rPr lang="en-US" sz="700" b="1" dirty="0">
                <a:solidFill>
                  <a:srgbClr val="222222"/>
                </a:solidFill>
                <a:latin typeface="Arial" pitchFamily="34" charset="0"/>
                <a:ea typeface="Arial" pitchFamily="34" charset="-122"/>
                <a:cs typeface="Arial" pitchFamily="34" charset="-120"/>
              </a:rPr>
              <a:t>Verificación:</a:t>
            </a:r>
            <a:pPr indent="0" marL="0">
              <a:buNone/>
            </a:pPr>
            <a:r>
              <a:rPr lang="en-US" sz="700" dirty="0">
                <a:solidFill>
                  <a:srgbClr val="222222"/>
                </a:solidFill>
                <a:latin typeface="Arial" pitchFamily="34" charset="0"/>
                <a:ea typeface="Arial" pitchFamily="34" charset="-122"/>
                <a:cs typeface="Arial" pitchFamily="34" charset="-120"/>
              </a:rPr>
              <a:t> C cumple · NC no cumple · NA no aplica</a:t>
            </a:r>
            <a:endParaRPr lang="en-US" sz="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371600"/>
          <a:ext cx="9143771" cy="914400"/>
        </p:xfrm>
        <a:graphic>
          <a:graphicData uri="http://schemas.openxmlformats.org/drawingml/2006/table">
            <a:tbl>
              <a:tblPr/>
              <a:tblGrid>
                <a:gridCol w="960120"/>
                <a:gridCol w="3657600"/>
                <a:gridCol w="2560320"/>
                <a:gridCol w="1508760"/>
                <a:gridCol w="1536192"/>
                <a:gridCol w="1234440"/>
              </a:tblGrid>
              <a:tr h="310896">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NIVEL / PRIORIDAD</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FOCO DE ASSURANCE (INSTRUCCIÓN OPERACIONAL Y CRITERIO DE RESTRICCIÓN)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EVENTO / EVIDENCIA ORIGEN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HERRAMIENTA PREVENTIVA SGE</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EVIDENCIA / REGISTRO ESPERADO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VERIFICACIÓN EN TERRENO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CAAP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Izaje – plan y metodología. </a:t>
                      </a:r>
                      <a:pPr indent="0" marL="0">
                        <a:buNone/>
                      </a:pPr>
                      <a:r>
                        <a:rPr lang="en-US" sz="630" dirty="0">
                          <a:solidFill>
                            <a:srgbClr val="222222"/>
                          </a:solidFill>
                          <a:latin typeface="Arial" pitchFamily="34" charset="0"/>
                          <a:ea typeface="Arial" pitchFamily="34" charset="-122"/>
                          <a:cs typeface="Arial" pitchFamily="34" charset="-120"/>
                        </a:rPr>
                        <a:t>Toda maniobra con plan de izaje específico y vigente para la carga y el equipo; el rigger lo porta en terreno y el supervisor valida que corresponda antes de autorizar el levante. Camión pluma (Piscinas PLS/ILS – Pilas de Lixiviación): planificación, posicionamiento y estabilización.</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Estabilizadores según la Gestión del Cambio (configuración excepcional). Sin plan específico no se iza.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[T1-3] CAAP 555505 – PUMA:</a:t>
                      </a:r>
                      <a:pPr indent="0" marL="0">
                        <a:buNone/>
                      </a:pPr>
                      <a:r>
                        <a:rPr lang="en-US" sz="620" dirty="0">
                          <a:solidFill>
                            <a:srgbClr val="222222"/>
                          </a:solidFill>
                          <a:latin typeface="Arial" pitchFamily="34" charset="0"/>
                          <a:ea typeface="Arial" pitchFamily="34" charset="-122"/>
                          <a:cs typeface="Arial" pitchFamily="34" charset="-120"/>
                        </a:rPr>
                        <a:t> plan del rigger correspondía a descarga de cañería HDPE 12 m y no a la escala modular izada.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HAP 555358 – PUMA:</a:t>
                      </a:r>
                      <a:pPr indent="0" marL="0">
                        <a:buNone/>
                      </a:pPr>
                      <a:r>
                        <a:rPr lang="en-US" sz="620" dirty="0">
                          <a:solidFill>
                            <a:srgbClr val="222222"/>
                          </a:solidFill>
                          <a:latin typeface="Arial" pitchFamily="34" charset="0"/>
                          <a:ea typeface="Arial" pitchFamily="34" charset="-122"/>
                          <a:cs typeface="Arial" pitchFamily="34" charset="-120"/>
                        </a:rPr>
                        <a:t> izaje de equipo de electrofusión sin plan específico; se detiene la actividad.</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GCC + CdP Maniobras de Izaje + PTS + Apego a GC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Plan de izaje con consideraciones de la GC / validación del supervisor / elementos certificados / operador y rigger autorizados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HAP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Izaje – área de influencia de la carga. </a:t>
                      </a:r>
                      <a:pPr indent="0" marL="0">
                        <a:buNone/>
                      </a:pPr>
                      <a:r>
                        <a:rPr lang="en-US" sz="630" dirty="0">
                          <a:solidFill>
                            <a:srgbClr val="222222"/>
                          </a:solidFill>
                          <a:latin typeface="Arial" pitchFamily="34" charset="0"/>
                          <a:ea typeface="Arial" pitchFamily="34" charset="-122"/>
                          <a:cs typeface="Arial" pitchFamily="34" charset="-120"/>
                        </a:rPr>
                        <a:t>Segregación efectiva y control de acceso antes de izar; comunicación bidireccional (operador y rigger con radio en frecuencia acordada); uso de vientos; personal fuera de bordes de zanja al desacoplar.</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Sin segregación o sin comunicación no se inicia el izaje. Prohibido desacoplar apoyado al borde de zanja o sobre tubería.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[T1-3] HAP 556119 – PUMA:</a:t>
                      </a:r>
                      <a:pPr indent="0" marL="0">
                        <a:buNone/>
                      </a:pPr>
                      <a:r>
                        <a:rPr lang="en-US" sz="620" dirty="0">
                          <a:solidFill>
                            <a:srgbClr val="222222"/>
                          </a:solidFill>
                          <a:latin typeface="Arial" pitchFamily="34" charset="0"/>
                          <a:ea typeface="Arial" pitchFamily="34" charset="-122"/>
                          <a:cs typeface="Arial" pitchFamily="34" charset="-120"/>
                        </a:rPr>
                        <a:t> carga de maxisacos con grúa horquilla sin segregación ni comunicación.</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[T1-3/T2-4] CBP 554227 – PUMA:</a:t>
                      </a:r>
                      <a:pPr indent="0" marL="0">
                        <a:buNone/>
                      </a:pPr>
                      <a:r>
                        <a:rPr lang="en-US" sz="620" dirty="0">
                          <a:solidFill>
                            <a:srgbClr val="222222"/>
                          </a:solidFill>
                          <a:latin typeface="Arial" pitchFamily="34" charset="0"/>
                          <a:ea typeface="Arial" pitchFamily="34" charset="-122"/>
                          <a:cs typeface="Arial" pitchFamily="34" charset="-120"/>
                        </a:rPr>
                        <a:t> retira eslinga con un pie al borde de zanja y otro sobre tubería Ø1.200 mm.</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HBP 554488:</a:t>
                      </a:r>
                      <a:pPr indent="0" marL="0">
                        <a:buNone/>
                      </a:pPr>
                      <a:r>
                        <a:rPr lang="en-US" sz="620" dirty="0">
                          <a:solidFill>
                            <a:srgbClr val="222222"/>
                          </a:solidFill>
                          <a:latin typeface="Arial" pitchFamily="34" charset="0"/>
                          <a:ea typeface="Arial" pitchFamily="34" charset="-122"/>
                          <a:cs typeface="Arial" pitchFamily="34" charset="-120"/>
                        </a:rPr>
                        <a:t> falta de vienteros.</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GCC + CdP Maniobras de Izaje + Desafío en Terreno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Área segregada / radio operativa en operador y rigger / vientos en uso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HAP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Vehículos y equipos – inspección pre-uso. </a:t>
                      </a:r>
                      <a:pPr indent="0" marL="0">
                        <a:buNone/>
                      </a:pPr>
                      <a:r>
                        <a:rPr lang="en-US" sz="630" dirty="0">
                          <a:solidFill>
                            <a:srgbClr val="222222"/>
                          </a:solidFill>
                          <a:latin typeface="Arial" pitchFamily="34" charset="0"/>
                          <a:ea typeface="Arial" pitchFamily="34" charset="-122"/>
                          <a:cs typeface="Arial" pitchFamily="34" charset="-120"/>
                        </a:rPr>
                        <a:t>Neumático-llanta sin cortes, abultamientos, deformaciones en flancos, desgaste fuera de norma ni impactos; elementos críticos sin daño; check list del turno con horómetro; letrero de supervisor con frecuencia radial y plan de tránsito firmado por el relator.</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Ante cualquier anomalía se prohíbe el tránsito: inmovilización hasta evaluación y reparación por especialista.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[T1-3/T2-4] HAP 553767 – JEJ:</a:t>
                      </a:r>
                      <a:pPr indent="0" marL="0">
                        <a:buNone/>
                      </a:pPr>
                      <a:r>
                        <a:rPr lang="en-US" sz="620" dirty="0">
                          <a:solidFill>
                            <a:srgbClr val="222222"/>
                          </a:solidFill>
                          <a:latin typeface="Arial" pitchFamily="34" charset="0"/>
                          <a:ea typeface="Arial" pitchFamily="34" charset="-122"/>
                          <a:cs typeface="Arial" pitchFamily="34" charset="-120"/>
                        </a:rPr>
                        <a:t> camioneta con neumático dañado ("llantazo") y daño lateral antes del uso.</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HBP 554865 – PUMA:</a:t>
                      </a:r>
                      <a:pPr indent="0" marL="0">
                        <a:buNone/>
                      </a:pPr>
                      <a:r>
                        <a:rPr lang="en-US" sz="620" dirty="0">
                          <a:solidFill>
                            <a:srgbClr val="222222"/>
                          </a:solidFill>
                          <a:latin typeface="Arial" pitchFamily="34" charset="0"/>
                          <a:ea typeface="Arial" pitchFamily="34" charset="-122"/>
                          <a:cs typeface="Arial" pitchFamily="34" charset="-120"/>
                        </a:rPr>
                        <a:t> camión pluma TW PT-21 sin letrero de supervisor y plan de tránsito sin firma.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HBP 554110 / 556748:</a:t>
                      </a:r>
                      <a:pPr indent="0" marL="0">
                        <a:buNone/>
                      </a:pPr>
                      <a:r>
                        <a:rPr lang="en-US" sz="620" dirty="0">
                          <a:solidFill>
                            <a:srgbClr val="222222"/>
                          </a:solidFill>
                          <a:latin typeface="Arial" pitchFamily="34" charset="0"/>
                          <a:ea typeface="Arial" pitchFamily="34" charset="-122"/>
                          <a:cs typeface="Arial" pitchFamily="34" charset="-120"/>
                        </a:rPr>
                        <a:t> generadores sin horómetro ni responsable.</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GCC + CdP Op. Vehículos Livianos + EdC Vehículo Liviano + Insp. de Equipos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Check list pre-operacional del turno / ARTP / letrero y plan de tránsito firmados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CBP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Andamios y plataformas – liberación estricta. </a:t>
                      </a:r>
                      <a:pPr indent="0" marL="0">
                        <a:buNone/>
                      </a:pPr>
                      <a:r>
                        <a:rPr lang="en-US" sz="630" dirty="0">
                          <a:solidFill>
                            <a:srgbClr val="222222"/>
                          </a:solidFill>
                          <a:latin typeface="Arial" pitchFamily="34" charset="0"/>
                          <a:ea typeface="Arial" pitchFamily="34" charset="-122"/>
                          <a:cs typeface="Arial" pitchFamily="34" charset="-120"/>
                        </a:rPr>
                        <a:t>100% de componentes completos, certificados y montados según estándar antes de la Tarjeta Verde: rodapié y peldaños, doble baranda en vanos y bordes, superficie libre de material acopiado. Control de acceso y protección contra caídas a distinto nivel.</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Prohibido emitir Tarjeta Verde o usar el andamio con piezas faltantes; la tarjeta debe ser coherente con la condición real.</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[T1-3/T2-4] CBP 554901 – PUMA:</a:t>
                      </a:r>
                      <a:pPr indent="0" marL="0">
                        <a:buNone/>
                      </a:pPr>
                      <a:r>
                        <a:rPr lang="en-US" sz="620" dirty="0">
                          <a:solidFill>
                            <a:srgbClr val="222222"/>
                          </a:solidFill>
                          <a:latin typeface="Arial" pitchFamily="34" charset="0"/>
                          <a:ea typeface="Arial" pitchFamily="34" charset="-122"/>
                          <a:cs typeface="Arial" pitchFamily="34" charset="-120"/>
                        </a:rPr>
                        <a:t> andamio en canaletas lado Oeste con tarjeta verde vigente, sin rodapié ni peldaños.</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HBP 554468 – COX:</a:t>
                      </a:r>
                      <a:pPr indent="0" marL="0">
                        <a:buNone/>
                      </a:pPr>
                      <a:r>
                        <a:rPr lang="en-US" sz="620" dirty="0">
                          <a:solidFill>
                            <a:srgbClr val="222222"/>
                          </a:solidFill>
                          <a:latin typeface="Arial" pitchFamily="34" charset="0"/>
                          <a:ea typeface="Arial" pitchFamily="34" charset="-122"/>
                          <a:cs typeface="Arial" pitchFamily="34" charset="-120"/>
                        </a:rPr>
                        <a:t> material mal acopiado sobre plataforma a 70 cm, riesgo de caída a distinto nivel.</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GCC + CdP Trabajos en Altura + Insp. Plataformas de Andamios + ASP (Antes / Durante si se reinstala)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Rodapié, peldaños y doble baranda instalados / tarjeta coherente con la condición real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HBP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Extensiones eléctricas. </a:t>
                      </a:r>
                      <a:pPr indent="0" marL="0">
                        <a:buNone/>
                      </a:pPr>
                      <a:r>
                        <a:rPr lang="en-US" sz="630" dirty="0">
                          <a:solidFill>
                            <a:srgbClr val="222222"/>
                          </a:solidFill>
                          <a:latin typeface="Arial" pitchFamily="34" charset="0"/>
                          <a:ea typeface="Arial" pitchFamily="34" charset="-122"/>
                          <a:cs typeface="Arial" pitchFamily="34" charset="-120"/>
                        </a:rPr>
                        <a:t>Integridad antes y durante el uso: aislamiento continuo, conectores e hilado sin fisuras, protección diferencial en el origen. Tendido elevado o canalizado, con pasacables.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Prohibido el contacto con estructuras metálicas, zonas de tránsito o aristas filosas.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[T2-4] HBP 554473 – COX:</a:t>
                      </a:r>
                      <a:pPr indent="0" marL="0">
                        <a:buNone/>
                      </a:pPr>
                      <a:r>
                        <a:rPr lang="en-US" sz="620" dirty="0">
                          <a:solidFill>
                            <a:srgbClr val="222222"/>
                          </a:solidFill>
                          <a:latin typeface="Arial" pitchFamily="34" charset="0"/>
                          <a:ea typeface="Arial" pitchFamily="34" charset="-122"/>
                          <a:cs typeface="Arial" pitchFamily="34" charset="-120"/>
                        </a:rPr>
                        <a:t> extensión en contacto directo con estructura metálica de andamio, sin pasacables.</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3 eventos HBP:</a:t>
                      </a:r>
                      <a:pPr indent="0" marL="0">
                        <a:buNone/>
                      </a:pPr>
                      <a:r>
                        <a:rPr lang="en-US" sz="620" dirty="0">
                          <a:solidFill>
                            <a:srgbClr val="222222"/>
                          </a:solidFill>
                          <a:latin typeface="Arial" pitchFamily="34" charset="0"/>
                          <a:ea typeface="Arial" pitchFamily="34" charset="-122"/>
                          <a:cs typeface="Arial" pitchFamily="34" charset="-120"/>
                        </a:rPr>
                        <a:t> extensiones sin pasacable, en contacto con estructura o tendidas en piso.</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Inspección + Acompañamiento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Registro de inspección / QR acompañamiento ASP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HBP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Orden, aseo y acopio (recurrente). </a:t>
                      </a:r>
                      <a:pPr indent="0" marL="0">
                        <a:buNone/>
                      </a:pPr>
                      <a:r>
                        <a:rPr lang="en-US" sz="630" dirty="0">
                          <a:solidFill>
                            <a:srgbClr val="222222"/>
                          </a:solidFill>
                          <a:latin typeface="Arial" pitchFamily="34" charset="0"/>
                          <a:ea typeface="Arial" pitchFamily="34" charset="-122"/>
                          <a:cs typeface="Arial" pitchFamily="34" charset="-120"/>
                        </a:rPr>
                        <a:t>Materiales segregados y acopiados solo en zonas habilitadas; piezas y herramientas de andamio fuera del nivel de piso; vías de tránsito despejadas. Refuerzo en todos los recorridos y al cierre de cada tarea.</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No se cierra la tarea ni se entrega el área sin orden y aseo verificados.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[T2-4] 8 eventos HBP:</a:t>
                      </a:r>
                      <a:pPr indent="0" marL="0">
                        <a:buNone/>
                      </a:pPr>
                      <a:r>
                        <a:rPr lang="en-US" sz="620" dirty="0">
                          <a:solidFill>
                            <a:srgbClr val="222222"/>
                          </a:solidFill>
                          <a:latin typeface="Arial" pitchFamily="34" charset="0"/>
                          <a:ea typeface="Arial" pitchFamily="34" charset="-122"/>
                          <a:cs typeface="Arial" pitchFamily="34" charset="-120"/>
                        </a:rPr>
                        <a:t> materiales sin segregar y piezas/herramientas de andamio a nivel de piso.</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4 eventos HBP:</a:t>
                      </a:r>
                      <a:pPr indent="0" marL="0">
                        <a:buNone/>
                      </a:pPr>
                      <a:r>
                        <a:rPr lang="en-US" sz="620" dirty="0">
                          <a:solidFill>
                            <a:srgbClr val="222222"/>
                          </a:solidFill>
                          <a:latin typeface="Arial" pitchFamily="34" charset="0"/>
                          <a:ea typeface="Arial" pitchFamily="34" charset="-122"/>
                          <a:cs typeface="Arial" pitchFamily="34" charset="-120"/>
                        </a:rPr>
                        <a:t> acopio de material y housekeeping deficiente.</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Recorrido de inspección + ASP al cierre de tarea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Fotos antes / después / área entregada ordenada y limpia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bl>
          </a:graphicData>
        </a:graphic>
      </p:graphicFrame>
      <p:sp>
        <p:nvSpPr>
          <p:cNvPr id="19" name="Text 15"/>
          <p:cNvSpPr txBox="1"/>
          <p:nvPr/>
        </p:nvSpPr>
        <p:spPr>
          <a:xfrm>
            <a:off x="365760" y="5797296"/>
            <a:ext cx="960120" cy="292608"/>
          </a:xfrm>
          <a:prstGeom prst="rect">
            <a:avLst/>
          </a:prstGeom>
          <a:solidFill>
            <a:srgbClr val="155A63"/>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RECURRENTE</a:t>
            </a:r>
            <a:endParaRPr lang="en-US" sz="750" dirty="0"/>
          </a:p>
        </p:txBody>
      </p:sp>
      <p:sp>
        <p:nvSpPr>
          <p:cNvPr id="20" name="Shape 16"/>
          <p:cNvSpPr/>
          <p:nvPr/>
        </p:nvSpPr>
        <p:spPr>
          <a:xfrm>
            <a:off x="1325880" y="5797296"/>
            <a:ext cx="10497312" cy="292608"/>
          </a:xfrm>
          <a:prstGeom prst="rect">
            <a:avLst/>
          </a:prstGeom>
          <a:solidFill>
            <a:srgbClr val="17707A"/>
          </a:solidFill>
          <a:ln w="12700">
            <a:solidFill>
              <a:srgbClr val="17707A"/>
            </a:solidFill>
            <a:prstDash val="solid"/>
          </a:ln>
        </p:spPr>
      </p:sp>
      <p:sp>
        <p:nvSpPr>
          <p:cNvPr id="21" name="Text 17"/>
          <p:cNvSpPr txBox="1"/>
          <p:nvPr/>
        </p:nvSpPr>
        <p:spPr>
          <a:xfrm>
            <a:off x="1417320" y="5797296"/>
            <a:ext cx="10314432" cy="292608"/>
          </a:xfrm>
          <a:prstGeom prst="rect">
            <a:avLst/>
          </a:prstGeom>
          <a:noFill/>
          <a:ln/>
        </p:spPr>
        <p:txBody>
          <a:bodyPr wrap="square" lIns="0" tIns="0" rIns="0" bIns="0" rtlCol="0" anchor="ctr"/>
          <a:lstStyle/>
          <a:p>
            <a:pPr indent="0" marL="0">
              <a:buNone/>
            </a:pPr>
            <a:r>
              <a:rPr lang="en-US" sz="700" b="1" dirty="0">
                <a:solidFill>
                  <a:srgbClr val="FFFFFF"/>
                </a:solidFill>
                <a:latin typeface="Arial" pitchFamily="34" charset="0"/>
                <a:ea typeface="Arial" pitchFamily="34" charset="-122"/>
                <a:cs typeface="Arial" pitchFamily="34" charset="-120"/>
              </a:rPr>
              <a:t>15 eventos HBP (T1-3: 7 · T2-4: 8). </a:t>
            </a:r>
            <a:pPr indent="0" marL="0">
              <a:buNone/>
            </a:pPr>
            <a:r>
              <a:rPr lang="en-US" sz="700" dirty="0">
                <a:solidFill>
                  <a:srgbClr val="FFFFFF"/>
                </a:solidFill>
                <a:latin typeface="Arial" pitchFamily="34" charset="0"/>
                <a:ea typeface="Arial" pitchFamily="34" charset="-122"/>
                <a:cs typeface="Arial" pitchFamily="34" charset="-120"/>
              </a:rPr>
              <a:t>Acopio, housekeeping y piezas de andamio a nivel de piso (12) · extensiones sin pasacable, en contacto con estructura o en piso (3). Refuerzo transversal en todos los recorridos y al cierre de cada tarea.</a:t>
            </a:r>
            <a:endParaRPr lang="en-US" sz="700" dirty="0"/>
          </a:p>
        </p:txBody>
      </p:sp>
      <p:sp>
        <p:nvSpPr>
          <p:cNvPr id="22" name="Shape 18"/>
          <p:cNvSpPr/>
          <p:nvPr/>
        </p:nvSpPr>
        <p:spPr>
          <a:xfrm>
            <a:off x="365760" y="6181344"/>
            <a:ext cx="6172200" cy="219456"/>
          </a:xfrm>
          <a:prstGeom prst="rect">
            <a:avLst/>
          </a:prstGeom>
          <a:solidFill>
            <a:srgbClr val="1F3D6B"/>
          </a:solidFill>
          <a:ln w="12700">
            <a:solidFill>
              <a:srgbClr val="1F3D6B"/>
            </a:solidFill>
            <a:prstDash val="solid"/>
          </a:ln>
        </p:spPr>
      </p:sp>
      <p:sp>
        <p:nvSpPr>
          <p:cNvPr id="23" name="Text 19"/>
          <p:cNvSpPr txBox="1"/>
          <p:nvPr/>
        </p:nvSpPr>
        <p:spPr>
          <a:xfrm>
            <a:off x="457200" y="6181344"/>
            <a:ext cx="5989320" cy="219456"/>
          </a:xfrm>
          <a:prstGeom prst="rect">
            <a:avLst/>
          </a:prstGeom>
          <a:noFill/>
          <a:ln/>
        </p:spPr>
        <p:txBody>
          <a:bodyPr wrap="square" lIns="0" tIns="0" rIns="0" bIns="0" rtlCol="0" anchor="ctr"/>
          <a:lstStyle/>
          <a:p>
            <a:pPr indent="0" marL="0">
              <a:buNone/>
            </a:pPr>
            <a:r>
              <a:rPr lang="en-US" sz="750" b="1" dirty="0">
                <a:solidFill>
                  <a:srgbClr val="FFFFFF"/>
                </a:solidFill>
                <a:latin typeface="Arial" pitchFamily="34" charset="0"/>
                <a:ea typeface="Arial" pitchFamily="34" charset="-122"/>
                <a:cs typeface="Arial" pitchFamily="34" charset="-120"/>
              </a:rPr>
              <a:t>SÍNTESIS DE TENDENCIAS Y RECOMENDACIÓN DE RECORRIDOS – SUPERVISOR ITO</a:t>
            </a:r>
            <a:endParaRPr lang="en-US" sz="750" dirty="0"/>
          </a:p>
        </p:txBody>
      </p:sp>
      <p:pic>
        <p:nvPicPr>
          <p:cNvPr id="24" name="Image 1" descr="preencoded.png">    </p:cNvPr>
          <p:cNvPicPr>
            <a:picLocks noChangeAspect="1"/>
          </p:cNvPicPr>
          <p:nvPr/>
        </p:nvPicPr>
        <p:blipFill>
          <a:blip r:embed="rId2"/>
          <a:stretch>
            <a:fillRect/>
          </a:stretch>
        </p:blipFill>
        <p:spPr>
          <a:xfrm>
            <a:off x="438912" y="6473952"/>
            <a:ext cx="219456" cy="219456"/>
          </a:xfrm>
          <a:prstGeom prst="rect">
            <a:avLst/>
          </a:prstGeom>
        </p:spPr>
      </p:pic>
      <p:sp>
        <p:nvSpPr>
          <p:cNvPr id="25" name="Text 20"/>
          <p:cNvSpPr txBox="1"/>
          <p:nvPr/>
        </p:nvSpPr>
        <p:spPr>
          <a:xfrm>
            <a:off x="6949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AM · INICIO DE TURNO</a:t>
            </a:r>
            <a:endParaRPr lang="en-US" sz="730" dirty="0"/>
          </a:p>
        </p:txBody>
      </p:sp>
      <p:sp>
        <p:nvSpPr>
          <p:cNvPr id="26" name="Text 21"/>
          <p:cNvSpPr txBox="1"/>
          <p:nvPr/>
        </p:nvSpPr>
        <p:spPr>
          <a:xfrm>
            <a:off x="4389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Piscinas ILS–PLS · Pila Oeste · Pilas de Lixiviación · Izaje</a:t>
            </a:r>
            <a:endParaRPr lang="en-US" sz="650" dirty="0"/>
          </a:p>
        </p:txBody>
      </p:sp>
      <p:sp>
        <p:nvSpPr>
          <p:cNvPr id="27" name="Text 22"/>
          <p:cNvSpPr txBox="1"/>
          <p:nvPr/>
        </p:nvSpPr>
        <p:spPr>
          <a:xfrm>
            <a:off x="438912" y="7022592"/>
            <a:ext cx="1911096" cy="822960"/>
          </a:xfrm>
          <a:prstGeom prst="rect">
            <a:avLst/>
          </a:prstGeom>
          <a:noFill/>
          <a:ln/>
        </p:spPr>
        <p:txBody>
          <a:bodyPr wrap="square" lIns="0" tIns="0" rIns="0" bIns="0" rtlCol="0" anchor="t"/>
          <a:lstStyle/>
          <a:p>
            <a:pPr indent="0" marL="0">
              <a:spcAft>
                <a:spcPts val="200"/>
              </a:spcAft>
              <a:buNone/>
            </a:pPr>
            <a:r>
              <a:rPr lang="en-US" sz="680" dirty="0">
                <a:solidFill>
                  <a:srgbClr val="222222"/>
                </a:solidFill>
                <a:latin typeface="Arial" pitchFamily="34" charset="0"/>
                <a:ea typeface="Arial" pitchFamily="34" charset="-122"/>
                <a:cs typeface="Arial" pitchFamily="34" charset="-120"/>
              </a:rPr>
              <a:t>✔ Plan de izaje específico por maniobra (1)</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Estabilizadores camión pluma según GC (1)</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Segregación, radio y vientos en la carga (2)</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Check list pre-uso de vehículos y equipos (3)</a:t>
            </a:r>
            <a:endParaRPr lang="en-US" sz="680" dirty="0"/>
          </a:p>
        </p:txBody>
      </p:sp>
      <p:sp>
        <p:nvSpPr>
          <p:cNvPr id="28" name="Shape 23"/>
          <p:cNvSpPr/>
          <p:nvPr/>
        </p:nvSpPr>
        <p:spPr>
          <a:xfrm>
            <a:off x="2423160" y="6501384"/>
            <a:ext cx="9144" cy="1316736"/>
          </a:xfrm>
          <a:prstGeom prst="rect">
            <a:avLst/>
          </a:prstGeom>
          <a:solidFill>
            <a:srgbClr val="C9D3E0"/>
          </a:solidFill>
          <a:ln w="12700">
            <a:solidFill>
              <a:srgbClr val="C9D3E0"/>
            </a:solidFill>
            <a:prstDash val="solid"/>
          </a:ln>
        </p:spPr>
      </p:sp>
      <p:pic>
        <p:nvPicPr>
          <p:cNvPr id="29" name="Image 2" descr="preencoded.png">    </p:cNvPr>
          <p:cNvPicPr>
            <a:picLocks noChangeAspect="1"/>
          </p:cNvPicPr>
          <p:nvPr/>
        </p:nvPicPr>
        <p:blipFill>
          <a:blip r:embed="rId3"/>
          <a:stretch>
            <a:fillRect/>
          </a:stretch>
        </p:blipFill>
        <p:spPr>
          <a:xfrm>
            <a:off x="2496312" y="6473952"/>
            <a:ext cx="219456" cy="219456"/>
          </a:xfrm>
          <a:prstGeom prst="rect">
            <a:avLst/>
          </a:prstGeom>
        </p:spPr>
      </p:pic>
      <p:sp>
        <p:nvSpPr>
          <p:cNvPr id="30" name="Text 24"/>
          <p:cNvSpPr txBox="1"/>
          <p:nvPr/>
        </p:nvSpPr>
        <p:spPr>
          <a:xfrm>
            <a:off x="27523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MEDIODÍA · INTERVENCIÓN</a:t>
            </a:r>
            <a:endParaRPr lang="en-US" sz="730" dirty="0"/>
          </a:p>
        </p:txBody>
      </p:sp>
      <p:sp>
        <p:nvSpPr>
          <p:cNvPr id="31" name="Text 25"/>
          <p:cNvSpPr txBox="1"/>
          <p:nvPr/>
        </p:nvSpPr>
        <p:spPr>
          <a:xfrm>
            <a:off x="24963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Pilas de Lixiviación · Canaletas lado Oeste · Botadero de Ripios · Patio Contratistas</a:t>
            </a:r>
            <a:endParaRPr lang="en-US" sz="650" dirty="0"/>
          </a:p>
        </p:txBody>
      </p:sp>
      <p:sp>
        <p:nvSpPr>
          <p:cNvPr id="32" name="Text 26"/>
          <p:cNvSpPr txBox="1"/>
          <p:nvPr/>
        </p:nvSpPr>
        <p:spPr>
          <a:xfrm>
            <a:off x="2496312" y="7022592"/>
            <a:ext cx="1911096" cy="822960"/>
          </a:xfrm>
          <a:prstGeom prst="rect">
            <a:avLst/>
          </a:prstGeom>
          <a:noFill/>
          <a:ln/>
        </p:spPr>
        <p:txBody>
          <a:bodyPr wrap="square" lIns="0" tIns="0" rIns="0" bIns="0" rtlCol="0" anchor="t"/>
          <a:lstStyle/>
          <a:p>
            <a:pPr indent="0" marL="0">
              <a:spcAft>
                <a:spcPts val="200"/>
              </a:spcAft>
              <a:buNone/>
            </a:pPr>
            <a:r>
              <a:rPr lang="en-US" sz="680" dirty="0">
                <a:solidFill>
                  <a:srgbClr val="222222"/>
                </a:solidFill>
                <a:latin typeface="Arial" pitchFamily="34" charset="0"/>
                <a:ea typeface="Arial" pitchFamily="34" charset="-122"/>
                <a:cs typeface="Arial" pitchFamily="34" charset="-120"/>
              </a:rPr>
              <a:t>✔ Rodapié, peldaños y doble baranda (4)</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Tarjeta Verde coherente con condición real (4)</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Extensiones con pasacable (5)</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Acopio y orden en zonas habilitadas (6)</a:t>
            </a:r>
            <a:endParaRPr lang="en-US" sz="680" dirty="0"/>
          </a:p>
        </p:txBody>
      </p:sp>
      <p:sp>
        <p:nvSpPr>
          <p:cNvPr id="33" name="Shape 27"/>
          <p:cNvSpPr/>
          <p:nvPr/>
        </p:nvSpPr>
        <p:spPr>
          <a:xfrm>
            <a:off x="4480560" y="6501384"/>
            <a:ext cx="9144" cy="1316736"/>
          </a:xfrm>
          <a:prstGeom prst="rect">
            <a:avLst/>
          </a:prstGeom>
          <a:solidFill>
            <a:srgbClr val="C9D3E0"/>
          </a:solidFill>
          <a:ln w="12700">
            <a:solidFill>
              <a:srgbClr val="C9D3E0"/>
            </a:solidFill>
            <a:prstDash val="solid"/>
          </a:ln>
        </p:spPr>
      </p:sp>
      <p:pic>
        <p:nvPicPr>
          <p:cNvPr id="34" name="Image 3" descr="preencoded.png">    </p:cNvPr>
          <p:cNvPicPr>
            <a:picLocks noChangeAspect="1"/>
          </p:cNvPicPr>
          <p:nvPr/>
        </p:nvPicPr>
        <p:blipFill>
          <a:blip r:embed="rId4"/>
          <a:stretch>
            <a:fillRect/>
          </a:stretch>
        </p:blipFill>
        <p:spPr>
          <a:xfrm>
            <a:off x="4553712" y="6473952"/>
            <a:ext cx="219456" cy="219456"/>
          </a:xfrm>
          <a:prstGeom prst="rect">
            <a:avLst/>
          </a:prstGeom>
        </p:spPr>
      </p:pic>
      <p:sp>
        <p:nvSpPr>
          <p:cNvPr id="35" name="Text 28"/>
          <p:cNvSpPr txBox="1"/>
          <p:nvPr/>
        </p:nvSpPr>
        <p:spPr>
          <a:xfrm>
            <a:off x="48097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PM · CIERRE DE JORNADA</a:t>
            </a:r>
            <a:endParaRPr lang="en-US" sz="730" dirty="0"/>
          </a:p>
        </p:txBody>
      </p:sp>
      <p:sp>
        <p:nvSpPr>
          <p:cNvPr id="36" name="Text 29"/>
          <p:cNvSpPr txBox="1"/>
          <p:nvPr/>
        </p:nvSpPr>
        <p:spPr>
          <a:xfrm>
            <a:off x="45537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Gestión SAP · CdP pendientes · Entrega de turno</a:t>
            </a:r>
            <a:endParaRPr lang="en-US" sz="650" dirty="0"/>
          </a:p>
        </p:txBody>
      </p:sp>
      <p:sp>
        <p:nvSpPr>
          <p:cNvPr id="37" name="Text 30"/>
          <p:cNvSpPr txBox="1"/>
          <p:nvPr/>
        </p:nvSpPr>
        <p:spPr>
          <a:xfrm>
            <a:off x="4553712" y="7022592"/>
            <a:ext cx="1911096" cy="822960"/>
          </a:xfrm>
          <a:prstGeom prst="rect">
            <a:avLst/>
          </a:prstGeom>
          <a:noFill/>
          <a:ln/>
        </p:spPr>
        <p:txBody>
          <a:bodyPr wrap="square" lIns="0" tIns="0" rIns="0" bIns="0" rtlCol="0" anchor="t"/>
          <a:lstStyle/>
          <a:p>
            <a:pPr indent="0" marL="0">
              <a:spcAft>
                <a:spcPts val="200"/>
              </a:spcAft>
              <a:buNone/>
            </a:pPr>
            <a:r>
              <a:rPr lang="en-US" sz="680" dirty="0">
                <a:solidFill>
                  <a:srgbClr val="222222"/>
                </a:solidFill>
                <a:latin typeface="Arial" pitchFamily="34" charset="0"/>
                <a:ea typeface="Arial" pitchFamily="34" charset="-122"/>
                <a:cs typeface="Arial" pitchFamily="34" charset="-120"/>
              </a:rPr>
              <a:t>✔ Actualizar PTS con brechas de CdP: maxisacos sobre tubería HDPE, pletinas en acople campana-espiga y vienteros en desacople</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Registrar hallazgos en SAP</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Informar recurrentes en entrega de turno</a:t>
            </a:r>
            <a:endParaRPr lang="en-US" sz="680" dirty="0"/>
          </a:p>
        </p:txBody>
      </p:sp>
      <p:sp>
        <p:nvSpPr>
          <p:cNvPr id="38" name="Shape 31"/>
          <p:cNvSpPr/>
          <p:nvPr/>
        </p:nvSpPr>
        <p:spPr>
          <a:xfrm>
            <a:off x="6675120" y="6181344"/>
            <a:ext cx="1655064" cy="1682496"/>
          </a:xfrm>
          <a:prstGeom prst="roundRect">
            <a:avLst>
              <a:gd name="adj" fmla="val 3315"/>
            </a:avLst>
          </a:prstGeom>
          <a:solidFill>
            <a:srgbClr val="FDF1F1"/>
          </a:solidFill>
          <a:ln w="12700">
            <a:solidFill>
              <a:srgbClr val="C62828"/>
            </a:solidFill>
            <a:prstDash val="solid"/>
          </a:ln>
        </p:spPr>
      </p:sp>
      <p:sp>
        <p:nvSpPr>
          <p:cNvPr id="39" name="Text 32"/>
          <p:cNvSpPr txBox="1"/>
          <p:nvPr/>
        </p:nvSpPr>
        <p:spPr>
          <a:xfrm>
            <a:off x="6748272" y="6217920"/>
            <a:ext cx="1508760" cy="310896"/>
          </a:xfrm>
          <a:prstGeom prst="rect">
            <a:avLst/>
          </a:prstGeom>
          <a:noFill/>
          <a:ln/>
        </p:spPr>
        <p:txBody>
          <a:bodyPr wrap="square" lIns="0" tIns="0" rIns="0" bIns="0" rtlCol="0" anchor="ctr"/>
          <a:lstStyle/>
          <a:p>
            <a:pPr algn="ctr" indent="0" marL="0">
              <a:buNone/>
            </a:pPr>
            <a:r>
              <a:rPr lang="en-US" sz="730" b="1" dirty="0">
                <a:solidFill>
                  <a:srgbClr val="C62828"/>
                </a:solidFill>
                <a:latin typeface="Arial" pitchFamily="34" charset="0"/>
                <a:ea typeface="Arial" pitchFamily="34" charset="-122"/>
                <a:cs typeface="Arial" pitchFamily="34" charset="-120"/>
              </a:rPr>
              <a:t>BRECHAS PRINCIPALES</a:t>
            </a:r>
            <a:endParaRPr lang="en-US" sz="730" dirty="0"/>
          </a:p>
        </p:txBody>
      </p:sp>
      <p:sp>
        <p:nvSpPr>
          <p:cNvPr id="40" name="Text 33"/>
          <p:cNvSpPr txBox="1"/>
          <p:nvPr/>
        </p:nvSpPr>
        <p:spPr>
          <a:xfrm>
            <a:off x="6748272"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Plan de izaje que no corresponde a la maniobra</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Izaje sin segregación ni comunicación</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Neumáticos y equipos sin inspección pre-uso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Tarjeta Verde en andamios incompletos</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Extensiones sin pasacable y acopio deficiente</a:t>
            </a:r>
            <a:endParaRPr lang="en-US" sz="680" dirty="0"/>
          </a:p>
        </p:txBody>
      </p:sp>
      <p:sp>
        <p:nvSpPr>
          <p:cNvPr id="41" name="Shape 34"/>
          <p:cNvSpPr/>
          <p:nvPr/>
        </p:nvSpPr>
        <p:spPr>
          <a:xfrm>
            <a:off x="8421624" y="6181344"/>
            <a:ext cx="1655064" cy="1682496"/>
          </a:xfrm>
          <a:prstGeom prst="roundRect">
            <a:avLst>
              <a:gd name="adj" fmla="val 3315"/>
            </a:avLst>
          </a:prstGeom>
          <a:solidFill>
            <a:srgbClr val="EEF3FA"/>
          </a:solidFill>
          <a:ln w="12700">
            <a:solidFill>
              <a:srgbClr val="1F3D6B"/>
            </a:solidFill>
            <a:prstDash val="solid"/>
          </a:ln>
        </p:spPr>
      </p:sp>
      <p:sp>
        <p:nvSpPr>
          <p:cNvPr id="42" name="Text 35"/>
          <p:cNvSpPr txBox="1"/>
          <p:nvPr/>
        </p:nvSpPr>
        <p:spPr>
          <a:xfrm>
            <a:off x="8494776" y="6217920"/>
            <a:ext cx="1508760" cy="310896"/>
          </a:xfrm>
          <a:prstGeom prst="rect">
            <a:avLst/>
          </a:prstGeom>
          <a:noFill/>
          <a:ln/>
        </p:spPr>
        <p:txBody>
          <a:bodyPr wrap="square" lIns="0" tIns="0" rIns="0" bIns="0" rtlCol="0" anchor="ctr"/>
          <a:lstStyle/>
          <a:p>
            <a:pPr algn="ctr" indent="0" marL="0">
              <a:buNone/>
            </a:pPr>
            <a:r>
              <a:rPr lang="en-US" sz="730" b="1" dirty="0">
                <a:solidFill>
                  <a:srgbClr val="1F3D6B"/>
                </a:solidFill>
                <a:latin typeface="Arial" pitchFamily="34" charset="0"/>
                <a:ea typeface="Arial" pitchFamily="34" charset="-122"/>
                <a:cs typeface="Arial" pitchFamily="34" charset="-120"/>
              </a:rPr>
              <a:t>CONTROLES CRÍTICOS NO NEGOCIABLES</a:t>
            </a:r>
            <a:endParaRPr lang="en-US" sz="730" dirty="0"/>
          </a:p>
        </p:txBody>
      </p:sp>
      <p:sp>
        <p:nvSpPr>
          <p:cNvPr id="43" name="Text 36"/>
          <p:cNvSpPr txBox="1"/>
          <p:nvPr/>
        </p:nvSpPr>
        <p:spPr>
          <a:xfrm>
            <a:off x="8494776"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Plan de izaje específico, vigente y en terreno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Estabilizadores según Gestión del Cambio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Segregación del área de la carga</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Inspección pre-uso de vehículos y equipos</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Rodapié, peldaños y doble baranda</a:t>
            </a:r>
            <a:endParaRPr lang="en-US" sz="680" dirty="0"/>
          </a:p>
        </p:txBody>
      </p:sp>
      <p:sp>
        <p:nvSpPr>
          <p:cNvPr id="44" name="Shape 37"/>
          <p:cNvSpPr/>
          <p:nvPr/>
        </p:nvSpPr>
        <p:spPr>
          <a:xfrm>
            <a:off x="10168128" y="6181344"/>
            <a:ext cx="1655064" cy="1682496"/>
          </a:xfrm>
          <a:prstGeom prst="roundRect">
            <a:avLst>
              <a:gd name="adj" fmla="val 3315"/>
            </a:avLst>
          </a:prstGeom>
          <a:solidFill>
            <a:srgbClr val="FDF5EC"/>
          </a:solidFill>
          <a:ln w="12700">
            <a:solidFill>
              <a:srgbClr val="B35C00"/>
            </a:solidFill>
            <a:prstDash val="solid"/>
          </a:ln>
        </p:spPr>
      </p:sp>
      <p:sp>
        <p:nvSpPr>
          <p:cNvPr id="45" name="Text 38"/>
          <p:cNvSpPr txBox="1"/>
          <p:nvPr/>
        </p:nvSpPr>
        <p:spPr>
          <a:xfrm>
            <a:off x="10241280" y="6217920"/>
            <a:ext cx="1508760" cy="310896"/>
          </a:xfrm>
          <a:prstGeom prst="rect">
            <a:avLst/>
          </a:prstGeom>
          <a:noFill/>
          <a:ln/>
        </p:spPr>
        <p:txBody>
          <a:bodyPr wrap="square" lIns="0" tIns="0" rIns="0" bIns="0" rtlCol="0" anchor="ctr"/>
          <a:lstStyle/>
          <a:p>
            <a:pPr algn="ctr" indent="0" marL="0">
              <a:buNone/>
            </a:pPr>
            <a:r>
              <a:rPr lang="en-US" sz="730" b="1" dirty="0">
                <a:solidFill>
                  <a:srgbClr val="B35C00"/>
                </a:solidFill>
                <a:latin typeface="Arial" pitchFamily="34" charset="0"/>
                <a:ea typeface="Arial" pitchFamily="34" charset="-122"/>
                <a:cs typeface="Arial" pitchFamily="34" charset="-120"/>
              </a:rPr>
              <a:t>DETENER LA TAREA SI…</a:t>
            </a:r>
            <a:endParaRPr lang="en-US" sz="730" dirty="0"/>
          </a:p>
        </p:txBody>
      </p:sp>
      <p:sp>
        <p:nvSpPr>
          <p:cNvPr id="46" name="Text 39"/>
          <p:cNvSpPr txBox="1"/>
          <p:nvPr/>
        </p:nvSpPr>
        <p:spPr>
          <a:xfrm>
            <a:off x="10241280"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No hay plan de izaje específico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Área de la carga sin segregar o sin radio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Neumático o llanta con daño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Andamio con piezas faltantes</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Personal en bordes de zanja al desacoplar</a:t>
            </a:r>
            <a:endParaRPr lang="en-US" sz="680" dirty="0"/>
          </a:p>
        </p:txBody>
      </p:sp>
      <p:sp>
        <p:nvSpPr>
          <p:cNvPr id="47" name="Shape 40"/>
          <p:cNvSpPr/>
          <p:nvPr/>
        </p:nvSpPr>
        <p:spPr>
          <a:xfrm>
            <a:off x="365760" y="7936992"/>
            <a:ext cx="11457432" cy="329184"/>
          </a:xfrm>
          <a:prstGeom prst="rect">
            <a:avLst/>
          </a:prstGeom>
          <a:solidFill>
            <a:srgbClr val="F3F6FA"/>
          </a:solidFill>
          <a:ln w="9525">
            <a:solidFill>
              <a:srgbClr val="C9D3E0"/>
            </a:solidFill>
            <a:prstDash val="solid"/>
          </a:ln>
        </p:spPr>
      </p:sp>
      <p:sp>
        <p:nvSpPr>
          <p:cNvPr id="48" name="Text 41"/>
          <p:cNvSpPr txBox="1"/>
          <p:nvPr/>
        </p:nvSpPr>
        <p:spPr>
          <a:xfrm>
            <a:off x="457200" y="7936992"/>
            <a:ext cx="5852160" cy="329184"/>
          </a:xfrm>
          <a:prstGeom prst="rect">
            <a:avLst/>
          </a:prstGeom>
          <a:noFill/>
          <a:ln/>
        </p:spPr>
        <p:txBody>
          <a:bodyPr wrap="square" lIns="0" tIns="0" rIns="0" bIns="0" rtlCol="0" anchor="ctr"/>
          <a:lstStyle/>
          <a:p>
            <a:pPr indent="0" marL="0">
              <a:buNone/>
            </a:pPr>
            <a:r>
              <a:rPr lang="en-US" sz="750" b="1" dirty="0">
                <a:solidFill>
                  <a:srgbClr val="1F3D6B"/>
                </a:solidFill>
                <a:latin typeface="Arial" pitchFamily="34" charset="0"/>
                <a:ea typeface="Arial" pitchFamily="34" charset="-122"/>
                <a:cs typeface="Arial" pitchFamily="34" charset="-120"/>
              </a:rPr>
              <a:t>CIERRE:  </a:t>
            </a:r>
            <a:pPr indent="0" marL="0">
              <a:buNone/>
            </a:pPr>
            <a:r>
              <a:rPr lang="en-US" sz="750" dirty="0">
                <a:solidFill>
                  <a:srgbClr val="222222"/>
                </a:solidFill>
                <a:latin typeface="Arial" pitchFamily="34" charset="0"/>
                <a:ea typeface="Arial" pitchFamily="34" charset="-122"/>
                <a:cs typeface="Arial" pitchFamily="34" charset="-120"/>
              </a:rPr>
              <a:t>Focos verificados ____ / ____   ·   % cumplimiento ______   ·   Tareas detenidas ____   ·   Hallazgos a SAP ____</a:t>
            </a:r>
            <a:endParaRPr lang="en-US" sz="750" dirty="0"/>
          </a:p>
        </p:txBody>
      </p:sp>
      <p:sp>
        <p:nvSpPr>
          <p:cNvPr id="49" name="Text 42"/>
          <p:cNvSpPr txBox="1"/>
          <p:nvPr/>
        </p:nvSpPr>
        <p:spPr>
          <a:xfrm>
            <a:off x="6400800" y="7936992"/>
            <a:ext cx="5349240" cy="329184"/>
          </a:xfrm>
          <a:prstGeom prst="rect">
            <a:avLst/>
          </a:prstGeom>
          <a:noFill/>
          <a:ln/>
        </p:spPr>
        <p:txBody>
          <a:bodyPr wrap="square" lIns="0" tIns="0" rIns="0" bIns="0" rtlCol="0" anchor="ctr"/>
          <a:lstStyle/>
          <a:p>
            <a:pPr algn="r" indent="0" marL="0">
              <a:buNone/>
            </a:pPr>
            <a:r>
              <a:rPr lang="en-US" sz="750" b="1" dirty="0">
                <a:solidFill>
                  <a:srgbClr val="1F3D6B"/>
                </a:solidFill>
                <a:latin typeface="Arial" pitchFamily="34" charset="0"/>
                <a:ea typeface="Arial" pitchFamily="34" charset="-122"/>
                <a:cs typeface="Arial" pitchFamily="34" charset="-120"/>
              </a:rPr>
              <a:t>Firma Inspector ITO: </a:t>
            </a:r>
            <a:pPr algn="r" indent="0" marL="0">
              <a:buNone/>
            </a:pPr>
            <a:r>
              <a:rPr lang="en-US" sz="750" dirty="0">
                <a:solidFill>
                  <a:srgbClr val="222222"/>
                </a:solidFill>
                <a:latin typeface="Arial" pitchFamily="34" charset="0"/>
                <a:ea typeface="Arial" pitchFamily="34" charset="-122"/>
                <a:cs typeface="Arial" pitchFamily="34" charset="-120"/>
              </a:rPr>
              <a:t>________________     </a:t>
            </a:r>
            <a:pPr algn="r" indent="0" marL="0">
              <a:buNone/>
            </a:pPr>
            <a:r>
              <a:rPr lang="en-US" sz="750" b="1" dirty="0">
                <a:solidFill>
                  <a:srgbClr val="1F3D6B"/>
                </a:solidFill>
                <a:latin typeface="Arial" pitchFamily="34" charset="0"/>
                <a:ea typeface="Arial" pitchFamily="34" charset="-122"/>
                <a:cs typeface="Arial" pitchFamily="34" charset="-120"/>
              </a:rPr>
              <a:t>Firma Supervisor EECC: </a:t>
            </a:r>
            <a:pPr algn="r" indent="0" marL="0">
              <a:buNone/>
            </a:pPr>
            <a:r>
              <a:rPr lang="en-US" sz="750" dirty="0">
                <a:solidFill>
                  <a:srgbClr val="222222"/>
                </a:solidFill>
                <a:latin typeface="Arial" pitchFamily="34" charset="0"/>
                <a:ea typeface="Arial" pitchFamily="34" charset="-122"/>
                <a:cs typeface="Arial" pitchFamily="34" charset="-120"/>
              </a:rPr>
              <a:t>________________</a:t>
            </a:r>
            <a:endParaRPr lang="en-US" sz="750" dirty="0"/>
          </a:p>
        </p:txBody>
      </p:sp>
      <p:sp>
        <p:nvSpPr>
          <p:cNvPr id="50" name="Shape 43"/>
          <p:cNvSpPr/>
          <p:nvPr/>
        </p:nvSpPr>
        <p:spPr>
          <a:xfrm>
            <a:off x="0" y="8385048"/>
            <a:ext cx="12191695" cy="347472"/>
          </a:xfrm>
          <a:prstGeom prst="rect">
            <a:avLst/>
          </a:prstGeom>
          <a:solidFill>
            <a:srgbClr val="1F3D6B"/>
          </a:solidFill>
          <a:ln w="12700">
            <a:solidFill>
              <a:srgbClr val="1F3D6B"/>
            </a:solidFill>
            <a:prstDash val="solid"/>
          </a:ln>
        </p:spPr>
      </p:sp>
      <p:sp>
        <p:nvSpPr>
          <p:cNvPr id="51" name="Text 44"/>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52" name="Text 45"/>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EJEMPLO</a:t>
            </a:r>
            <a:endParaRPr lang="en-US" sz="800" dirty="0"/>
          </a:p>
        </p:txBody>
      </p:sp>
      <p:sp>
        <p:nvSpPr>
          <p:cNvPr id="53" name="Text 46"/>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228600"/>
            <a:ext cx="11457432" cy="365760"/>
          </a:xfrm>
          <a:prstGeom prst="rect">
            <a:avLst/>
          </a:prstGeom>
          <a:noFill/>
          <a:ln/>
        </p:spPr>
        <p:txBody>
          <a:bodyPr wrap="square" lIns="0" tIns="0" rIns="0" bIns="0" rtlCol="0" anchor="ctr"/>
          <a:lstStyle/>
          <a:p>
            <a:pPr indent="0" marL="0">
              <a:buNone/>
            </a:pPr>
            <a:r>
              <a:rPr lang="en-US" sz="1400" b="1" dirty="0">
                <a:solidFill>
                  <a:srgbClr val="1F3D6B"/>
                </a:solidFill>
                <a:latin typeface="Arial" pitchFamily="34" charset="0"/>
                <a:ea typeface="Arial" pitchFamily="34" charset="-122"/>
                <a:cs typeface="Arial" pitchFamily="34" charset="-120"/>
              </a:rPr>
              <a:t>INSTRUCCIONES PARA ASISTENTES IA – FORMATO ASSURANCE ITO v1.0  (lámina oculta: no se muestra al presentar ni se imprime)</a:t>
            </a:r>
            <a:endParaRPr lang="en-US" sz="1400" dirty="0"/>
          </a:p>
        </p:txBody>
      </p:sp>
      <p:sp>
        <p:nvSpPr>
          <p:cNvPr id="3" name="Text 1"/>
          <p:cNvSpPr txBox="1"/>
          <p:nvPr/>
        </p:nvSpPr>
        <p:spPr>
          <a:xfrm>
            <a:off x="365760" y="731520"/>
            <a:ext cx="5632704" cy="7589520"/>
          </a:xfrm>
          <a:prstGeom prst="rect">
            <a:avLst/>
          </a:prstGeom>
          <a:noFill/>
          <a:ln/>
        </p:spPr>
        <p:txBody>
          <a:bodyPr wrap="square" lIns="0" tIns="0" rIns="0" bIns="0" rtlCol="0" anchor="t"/>
          <a:lstStyle/>
          <a:p>
            <a:pPr indent="0" marL="0">
              <a:buNone/>
            </a:pPr>
            <a:r>
              <a:rPr lang="en-US" sz="700" b="1" dirty="0">
                <a:solidFill>
                  <a:srgbClr val="1F3D6B"/>
                </a:solidFill>
                <a:latin typeface="Arial" pitchFamily="34" charset="0"/>
                <a:ea typeface="Arial" pitchFamily="34" charset="-122"/>
                <a:cs typeface="Arial" pitchFamily="34" charset="-120"/>
              </a:rPr>
              <a:t>OBJETIVO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Con el Excel de eventos de seguridad que entrega el usuario (CAAP, HAP, CBP, HBP), completar la lámina 1 "PLANTILLA" de este archivo con los focos prioritarios de verificación en terreno para el turno y período indicados. La lámina 3 "EJEMPLO" muestra el resultado esperado: úsala como referencia de largo, tono y formato.</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1. ENTRADAS Y DATOS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Identifica en el Excel las columnas de: ID del evento, tipo (CAAP/HAP/CBP/HBP), fecha, turno, empresa contratista (EECC), área/sector y descripción. Si existen, también acciones y estado.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Usa solo eventos del turno (1-3 o 2-4) y del período que indique el usuario. Si el turno o el período no están claros, pregunta antes de completar.</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Usa exclusivamente datos del Excel. Nunca inventes IDs, empresas, fechas, áreas ni eventos. Copia los IDs exactamente como aparecen.</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Si falta un dato necesario, escribe [DATO FALTANTE] en esa casilla e infórmalo al usuario.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No incluyas nombres de personas; usa el cargo o rol (trabajador, rigger, operador, supervisor).</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2. SELECCIÓN DE FOCOS (4 a 6)</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Agrupa los eventos por riesgo (p. ej.: izaje, trabajo en altura/andamios, vehículos y equipos, energía eléctrica, excavaciones/zanjas, orden y aseo). Un foco = un riesgo.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Prioriza en este orden: CAAP &gt; HAP &gt; CBP &gt; HBP. A igual tipo: más eventos del mismo riesgo y, luego, más recientes.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Un tema de HBP con 3 o más eventos en el período puede ser foco propio (recurrente).</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Ordena los focos de mayor a menor prioridad y numéralos 1, 2, 3…</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Si hay menos de 6 focos, elimina las filas sobrantes de la tabla.</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3. NIVEL / PRIORIDAD (primera columna)</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Estructura: número / "N1 · CRÍTICO" o "N2 · ALTO" / tipo del evento más grave del foco (CAAP, HAP, CBP o HBP).</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N1 · CRÍTICO (celda roja C62828): el foco incluye un CAAP o HAP, o involucra un riesgo crítico (izaje, trabajo en altura, energía eléctrica/energías peligrosas, vehículos o equipos móviles).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N2 · ALTO (celda naranja E67E22): el resto.</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4. FOCO DE ASSURANCE</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Formato: "Tema del foco." en negrita + instrucción que empieza con un verbo ("Verificar…"): qué se revisa, dónde y bajo qué estándar. Máximo unos 350 caracteres.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Luego, en línea aparte, "Criterio de restricción:" (en negrita) + la condición en que se prohíbe o se detiene la tarea. Máximo unos 150 caracteres.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Redacta a partir de las brechas reales de los eventos. No cites números de estándares o procedimientos que no estén en el Excel.</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5. EVENTO / EVIDENCIA ORIGEN</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Formato fijo por evento: "[T1-3] TIPO ID – EECC:" (en negrita) + qué ocurrió, en una frase de hasta 120 caracteres.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Máximo 3 eventos por foco; elige los de mayor potencial. Si un evento aparece en ambos turnos, usa [T1-3/T2-4].</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Para temas recurrentes se permite: "[T1-3] N eventos HBP: descripción del patrón."</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6. HERRAMIENTA PREVENTIVA SGE</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Herramientas unidas con "+". Usa las que figuren en el Excel o las ya usadas en este formato: GCC, CdP [tema] (p. ej. CdP Maniobras de Izaje, CdP Trabajos en Altura, CdP Operación de Vehículos Livianos), ASP, PTS, Gestión del Cambio, Desafío en Terreno, Inspección de Plataformas de Andamios, EdC Vehículo Liviano, Inspección de Equipos, Acompañamiento ASP.</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7. EVIDENCIA / REGISTRO ESPERADO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Registros concretos y verificables separados por "/", terminando siempre en "registro fotográfico".</a:t>
            </a:r>
            <a:endParaRPr lang="en-US" sz="700" dirty="0"/>
          </a:p>
        </p:txBody>
      </p:sp>
      <p:sp>
        <p:nvSpPr>
          <p:cNvPr id="4" name="Text 2"/>
          <p:cNvSpPr txBox="1"/>
          <p:nvPr/>
        </p:nvSpPr>
        <p:spPr>
          <a:xfrm>
            <a:off x="6190488" y="731520"/>
            <a:ext cx="5632704" cy="7589520"/>
          </a:xfrm>
          <a:prstGeom prst="rect">
            <a:avLst/>
          </a:prstGeom>
          <a:noFill/>
          <a:ln/>
        </p:spPr>
        <p:txBody>
          <a:bodyPr wrap="square" lIns="0" tIns="0" rIns="0" bIns="0" rtlCol="0" anchor="t"/>
          <a:lstStyle/>
          <a:p>
            <a:pPr indent="0" marL="0">
              <a:buNone/>
            </a:pPr>
            <a:r>
              <a:rPr lang="en-US" sz="700" b="1" dirty="0">
                <a:solidFill>
                  <a:srgbClr val="1F3D6B"/>
                </a:solidFill>
                <a:latin typeface="Arial" pitchFamily="34" charset="0"/>
                <a:ea typeface="Arial" pitchFamily="34" charset="-122"/>
                <a:cs typeface="Arial" pitchFamily="34" charset="-120"/>
              </a:rPr>
              <a:t>8. VERIFICACIÓN EN TERRENO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No la modifiques: deja "☐ C ☐ NC ☐ NA / Obs.:" en blanco. La completa el Inspector ITO en terreno.</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9. RECURRENTE</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"N eventos HBP — tema (n) · tema (n). Refuerzo transversal en todos los recorridos y al cierre de cada tarea."</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N = total de HBP del turno y período, incluidos los usados en los focos. Verifica la suma: los subtotales no pueden superar N.</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10. SÍNTESIS Y RECORRIDOS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Bloque AM y Bloque Mediodía: áreas reales tomadas del Excel + 3 o 4 controles, cada uno con el N° de foco entre paréntesis, p. ej. "Plan de izaje específico por maniobra (1)". Asigna al AM los focos de inicio de jornada (izaje, pre-uso de vehículos y equipos) y al Mediodía los de intervención (plataformas, instalaciones eléctricas, orden y aseo).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Bloque PM: mantén "Gestión SAP · CdP pendientes · Entrega de turno" y sus líneas fijas. En "Actualizar PTS con brechas de CdP:" indica las brechas que el Excel respalde; si no hay, elimina esa línea.</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Brechas principales / Controles críticos no negociables / Detener la tarea si…: máximo 5 viñetas de 1 línea (unos 50 caracteres) en cada recuadro, coherentes con los focos. Brechas = lo que falló. Controles = lo que no se negocia. Detener si = condición concreta de detención.</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11. ENCABEZADO, CIERRE Y FIRMAS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Título: "ASSURANCE TURNO 1-3" o "ASSURANCE TURNO 2-4". Fecha/Período: "DD al DD MES". Turno: marca ☒ en el que corresponde.</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Inspector ITO, Proyecto/EECC y Área/Sector: complétalos solo si el usuario los entrega; si no, deja la línea en blanco.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La franja CIERRE y las firmas se dejan en blanco.</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12. FORMATO (obligatorio)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No cambies estructura, columnas, colores, fuentes, íconos ni tamaño de la lámina.</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Reemplaza todo texto gris entre [corchetes] por contenido real en color de texto normal (negro, sin cursiva). No debe quedar ningún corchete, salvo [DATO FALTANTE] y las marcas de turno [T1-3]/[T2-4].</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Letra mínima 6 pt. Si el texto no cabe, resume; no reduzcas más la letra ni agrandes filas.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Antes de entregar: elimina la lámina 2 (instructivo), la lámina 3 (ejemplo) y esta lámina oculta, y borra las notas del orador de la lámina 1.</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Nombre del archivo: ASSURANCE_TURNO_[1-3 o 2-4]_[DD-DD]_[MES].pptx (ej.: ASSURANCE_TURNO_1-3_07-20_SEP.pptx).</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13. ENTREGA</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Si puedes editar archivos .pptx: entrega el archivo completado.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Si no puedes: entrega el contenido en texto, ordenado por sección y por fila de la plantilla (Encabezado; Foco 1 a 6 con sus 5 columnas; Recurrente; Bloques AM/Mediodía/PM; Brechas; Controles; Detener si), listo para copiar y pegar en cada casilla.</a:t>
            </a:r>
            <a:endParaRPr lang="en-US" sz="700" dirty="0"/>
          </a:p>
          <a:p>
            <a:pPr indent="0" marL="0">
              <a:spcBef>
                <a:spcPts val="500"/>
              </a:spcBef>
              <a:buNone/>
            </a:pPr>
            <a:r>
              <a:rPr lang="en-US" sz="700" b="1" dirty="0">
                <a:solidFill>
                  <a:srgbClr val="1F3D6B"/>
                </a:solidFill>
                <a:latin typeface="Arial" pitchFamily="34" charset="0"/>
                <a:ea typeface="Arial" pitchFamily="34" charset="-122"/>
                <a:cs typeface="Arial" pitchFamily="34" charset="-120"/>
              </a:rPr>
              <a:t>14. CONTROL DE CALIDAD (en tu respuesta al usuario, no dentro del archivo)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Al final de tu respuesta incluye un resumen breve con:</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total de eventos leídos y cuántos de cada tipo;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eventos usados en cada foco y los de alto potencial que quedaron fuera, con el motivo;</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 datos faltantes o inconsistentes y supuestos realizados.</a:t>
            </a:r>
            <a:endParaRPr lang="en-US" sz="700" dirty="0"/>
          </a:p>
          <a:p>
            <a:pPr indent="0" marL="0">
              <a:buNone/>
            </a:pPr>
            <a:r>
              <a:rPr lang="en-US" sz="700" dirty="0">
                <a:solidFill>
                  <a:srgbClr val="222222"/>
                </a:solidFill>
                <a:latin typeface="Arial" pitchFamily="34" charset="0"/>
                <a:ea typeface="Arial" pitchFamily="34" charset="-122"/>
                <a:cs typeface="Arial" pitchFamily="34" charset="-120"/>
              </a:rPr>
              <a:t>Antes de entregar, confirma que: cada ID existe en el Excel; cada foco tiene al menos un evento de origen; los conteos del Recurrente cuadran; y no quedan textos guía.</a:t>
            </a:r>
            <a:endParaRPr lang="en-US" sz="700" dirty="0"/>
          </a:p>
        </p:txBody>
      </p:sp>
      <p:sp>
        <p:nvSpPr>
          <p:cNvPr id="5" name="Shape 3"/>
          <p:cNvSpPr/>
          <p:nvPr/>
        </p:nvSpPr>
        <p:spPr>
          <a:xfrm>
            <a:off x="0" y="8385048"/>
            <a:ext cx="12191695" cy="347472"/>
          </a:xfrm>
          <a:prstGeom prst="rect">
            <a:avLst/>
          </a:prstGeom>
          <a:solidFill>
            <a:srgbClr val="1F3D6B"/>
          </a:solidFill>
          <a:ln w="12700">
            <a:solidFill>
              <a:srgbClr val="1F3D6B"/>
            </a:solidFill>
            <a:prstDash val="solid"/>
          </a:ln>
        </p:spPr>
      </p:sp>
      <p:sp>
        <p:nvSpPr>
          <p:cNvPr id="6" name="Text 4"/>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7" name="Text 5"/>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INSTRUCCIONES IA</a:t>
            </a:r>
            <a:endParaRPr lang="en-US" sz="800" dirty="0"/>
          </a:p>
        </p:txBody>
      </p:sp>
      <p:sp>
        <p:nvSpPr>
          <p:cNvPr id="8" name="Text 6"/>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Formato Assurance ITO</dc:title>
  <dc:subject>PptxGenJS Presentation</dc:subject>
  <dc:creator>PptxGenJS</dc:creator>
  <cp:lastModifiedBy>PptxGenJS</cp:lastModifiedBy>
  <cp:revision>1</cp:revision>
  <dcterms:created xsi:type="dcterms:W3CDTF">2026-09-23T12:25:06Z</dcterms:created>
  <dcterms:modified xsi:type="dcterms:W3CDTF">2026-09-23T12:25:06Z</dcterms:modified>
</cp:coreProperties>
</file>