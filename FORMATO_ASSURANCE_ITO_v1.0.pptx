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Lst>
  <p:notesMasterIdLst>
    <p:notesMasterId r:id="rId4"/>
  </p:notesMasterIdLst>
  <p:sldSz cx="12191695" cy="8732520"/>
  <p:notesSz cx="873252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notesMaster" Target="notesMasters/notesMaster1.xml"/><Relationship Id="rId5" Type="http://schemas.openxmlformats.org/officeDocument/2006/relationships/presProps" Target="presProps.xml"/><Relationship Id="rId6" Type="http://schemas.openxmlformats.org/officeDocument/2006/relationships/viewProps" Target="viewProps.xml"/><Relationship Id="rId7" Type="http://schemas.openxmlformats.org/officeDocument/2006/relationships/theme" Target="theme/theme1.xml"/><Relationship Id="rId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slideLayout" Target="../slideLayouts/slideLayout1.xml"/><Relationship Id="rId6"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365760" y="228600"/>
            <a:ext cx="1645920" cy="640080"/>
          </a:xfrm>
          <a:prstGeom prst="rect">
            <a:avLst/>
          </a:prstGeom>
        </p:spPr>
      </p:pic>
      <p:sp>
        <p:nvSpPr>
          <p:cNvPr id="3" name="Text 0"/>
          <p:cNvSpPr txBox="1"/>
          <p:nvPr/>
        </p:nvSpPr>
        <p:spPr>
          <a:xfrm>
            <a:off x="2194560" y="182880"/>
            <a:ext cx="6949440" cy="502920"/>
          </a:xfrm>
          <a:prstGeom prst="rect">
            <a:avLst/>
          </a:prstGeom>
          <a:noFill/>
          <a:ln/>
        </p:spPr>
        <p:txBody>
          <a:bodyPr wrap="square" lIns="0" tIns="0" rIns="0" bIns="0" rtlCol="0" anchor="ctr"/>
          <a:lstStyle/>
          <a:p>
            <a:pPr algn="ctr" indent="0" marL="0">
              <a:buNone/>
            </a:pPr>
            <a:r>
              <a:rPr lang="en-US" sz="2400" b="1" dirty="0">
                <a:solidFill>
                  <a:srgbClr val="1F3D6B"/>
                </a:solidFill>
                <a:latin typeface="Arial" pitchFamily="34" charset="0"/>
                <a:ea typeface="Arial" pitchFamily="34" charset="-122"/>
                <a:cs typeface="Arial" pitchFamily="34" charset="-120"/>
              </a:rPr>
              <a:t>ASSURANCE TURNO [1-3 / 2-4]</a:t>
            </a:r>
            <a:endParaRPr lang="en-US" sz="2400" dirty="0"/>
          </a:p>
        </p:txBody>
      </p:sp>
      <p:sp>
        <p:nvSpPr>
          <p:cNvPr id="4" name="Text 1"/>
          <p:cNvSpPr txBox="1"/>
          <p:nvPr/>
        </p:nvSpPr>
        <p:spPr>
          <a:xfrm>
            <a:off x="2194560" y="685800"/>
            <a:ext cx="6949440" cy="256032"/>
          </a:xfrm>
          <a:prstGeom prst="rect">
            <a:avLst/>
          </a:prstGeom>
          <a:noFill/>
          <a:ln/>
        </p:spPr>
        <p:txBody>
          <a:bodyPr wrap="square" lIns="0" tIns="0" rIns="0" bIns="0" rtlCol="0" anchor="ctr"/>
          <a:lstStyle/>
          <a:p>
            <a:pPr algn="ctr" indent="0" marL="0">
              <a:buNone/>
            </a:pPr>
            <a:r>
              <a:rPr lang="en-US" sz="1150" b="1" dirty="0">
                <a:solidFill>
                  <a:srgbClr val="1F3D6B"/>
                </a:solidFill>
                <a:latin typeface="Arial" pitchFamily="34" charset="0"/>
                <a:ea typeface="Arial" pitchFamily="34" charset="-122"/>
                <a:cs typeface="Arial" pitchFamily="34" charset="-120"/>
              </a:rPr>
              <a:t>FOCOS PRIORITARIOS DE VERIFICACIÓN EN TERRENO – ITO</a:t>
            </a:r>
            <a:endParaRPr lang="en-US" sz="1150" dirty="0"/>
          </a:p>
        </p:txBody>
      </p:sp>
      <p:sp>
        <p:nvSpPr>
          <p:cNvPr id="5" name="Text 2"/>
          <p:cNvSpPr txBox="1"/>
          <p:nvPr/>
        </p:nvSpPr>
        <p:spPr>
          <a:xfrm>
            <a:off x="9144000" y="128016"/>
            <a:ext cx="1234440" cy="182880"/>
          </a:xfrm>
          <a:prstGeom prst="rect">
            <a:avLst/>
          </a:prstGeom>
          <a:noFill/>
          <a:ln/>
        </p:spPr>
        <p:txBody>
          <a:bodyPr wrap="square" lIns="0" tIns="0" rIns="0" bIns="0" rtlCol="0" anchor="ctr"/>
          <a:lstStyle/>
          <a:p>
            <a:pPr indent="0" marL="0">
              <a:buNone/>
            </a:pPr>
            <a:r>
              <a:rPr lang="en-US" sz="800" b="1" dirty="0">
                <a:solidFill>
                  <a:srgbClr val="1F3D6B"/>
                </a:solidFill>
                <a:latin typeface="Arial" pitchFamily="34" charset="0"/>
                <a:ea typeface="Arial" pitchFamily="34" charset="-122"/>
                <a:cs typeface="Arial" pitchFamily="34" charset="-120"/>
              </a:rPr>
              <a:t>FECHA / PERÍODO:</a:t>
            </a:r>
            <a:endParaRPr lang="en-US" sz="800" dirty="0"/>
          </a:p>
        </p:txBody>
      </p:sp>
      <p:sp>
        <p:nvSpPr>
          <p:cNvPr id="6" name="Text 3"/>
          <p:cNvSpPr txBox="1"/>
          <p:nvPr/>
        </p:nvSpPr>
        <p:spPr>
          <a:xfrm>
            <a:off x="10424160" y="128016"/>
            <a:ext cx="1417320" cy="182880"/>
          </a:xfrm>
          <a:prstGeom prst="rect">
            <a:avLst/>
          </a:prstGeom>
          <a:noFill/>
          <a:ln/>
        </p:spPr>
        <p:txBody>
          <a:bodyPr wrap="square" lIns="0" tIns="0" rIns="0" bIns="0" rtlCol="0" anchor="ctr"/>
          <a:lstStyle/>
          <a:p>
            <a:pPr indent="0" marL="0">
              <a:buNone/>
            </a:pPr>
            <a:r>
              <a:rPr lang="en-US" sz="800" i="1" dirty="0">
                <a:solidFill>
                  <a:srgbClr val="7A8594"/>
                </a:solidFill>
                <a:latin typeface="Arial" pitchFamily="34" charset="0"/>
                <a:ea typeface="Arial" pitchFamily="34" charset="-122"/>
                <a:cs typeface="Arial" pitchFamily="34" charset="-120"/>
              </a:rPr>
              <a:t>[del __ al __ / MES]</a:t>
            </a:r>
            <a:endParaRPr lang="en-US" sz="800" dirty="0"/>
          </a:p>
        </p:txBody>
      </p:sp>
      <p:sp>
        <p:nvSpPr>
          <p:cNvPr id="7" name="Text 4"/>
          <p:cNvSpPr txBox="1"/>
          <p:nvPr/>
        </p:nvSpPr>
        <p:spPr>
          <a:xfrm>
            <a:off x="9144000" y="310896"/>
            <a:ext cx="1234440" cy="182880"/>
          </a:xfrm>
          <a:prstGeom prst="rect">
            <a:avLst/>
          </a:prstGeom>
          <a:noFill/>
          <a:ln/>
        </p:spPr>
        <p:txBody>
          <a:bodyPr wrap="square" lIns="0" tIns="0" rIns="0" bIns="0" rtlCol="0" anchor="ctr"/>
          <a:lstStyle/>
          <a:p>
            <a:pPr indent="0" marL="0">
              <a:buNone/>
            </a:pPr>
            <a:r>
              <a:rPr lang="en-US" sz="800" b="1" dirty="0">
                <a:solidFill>
                  <a:srgbClr val="1F3D6B"/>
                </a:solidFill>
                <a:latin typeface="Arial" pitchFamily="34" charset="0"/>
                <a:ea typeface="Arial" pitchFamily="34" charset="-122"/>
                <a:cs typeface="Arial" pitchFamily="34" charset="-120"/>
              </a:rPr>
              <a:t>TURNO:</a:t>
            </a:r>
            <a:endParaRPr lang="en-US" sz="800" dirty="0"/>
          </a:p>
        </p:txBody>
      </p:sp>
      <p:sp>
        <p:nvSpPr>
          <p:cNvPr id="8" name="Text 5"/>
          <p:cNvSpPr txBox="1"/>
          <p:nvPr/>
        </p:nvSpPr>
        <p:spPr>
          <a:xfrm>
            <a:off x="10424160" y="310896"/>
            <a:ext cx="1417320" cy="182880"/>
          </a:xfrm>
          <a:prstGeom prst="rect">
            <a:avLst/>
          </a:prstGeom>
          <a:noFill/>
          <a:ln/>
        </p:spPr>
        <p:txBody>
          <a:bodyPr wrap="square" lIns="0" tIns="0" rIns="0" bIns="0" rtlCol="0" anchor="ctr"/>
          <a:lstStyle/>
          <a:p>
            <a:pPr indent="0" marL="0">
              <a:buNone/>
            </a:pPr>
            <a:r>
              <a:rPr lang="en-US" sz="800" dirty="0">
                <a:solidFill>
                  <a:srgbClr val="222222"/>
                </a:solidFill>
                <a:latin typeface="Arial" pitchFamily="34" charset="0"/>
                <a:ea typeface="Arial" pitchFamily="34" charset="-122"/>
                <a:cs typeface="Arial" pitchFamily="34" charset="-120"/>
              </a:rPr>
              <a:t>☐ 1-3     ☐ 2-4</a:t>
            </a:r>
            <a:endParaRPr lang="en-US" sz="800" dirty="0"/>
          </a:p>
        </p:txBody>
      </p:sp>
      <p:sp>
        <p:nvSpPr>
          <p:cNvPr id="9" name="Text 6"/>
          <p:cNvSpPr txBox="1"/>
          <p:nvPr/>
        </p:nvSpPr>
        <p:spPr>
          <a:xfrm>
            <a:off x="9144000" y="493776"/>
            <a:ext cx="1234440" cy="182880"/>
          </a:xfrm>
          <a:prstGeom prst="rect">
            <a:avLst/>
          </a:prstGeom>
          <a:noFill/>
          <a:ln/>
        </p:spPr>
        <p:txBody>
          <a:bodyPr wrap="square" lIns="0" tIns="0" rIns="0" bIns="0" rtlCol="0" anchor="ctr"/>
          <a:lstStyle/>
          <a:p>
            <a:pPr indent="0" marL="0">
              <a:buNone/>
            </a:pPr>
            <a:r>
              <a:rPr lang="en-US" sz="800" b="1" dirty="0">
                <a:solidFill>
                  <a:srgbClr val="1F3D6B"/>
                </a:solidFill>
                <a:latin typeface="Arial" pitchFamily="34" charset="0"/>
                <a:ea typeface="Arial" pitchFamily="34" charset="-122"/>
                <a:cs typeface="Arial" pitchFamily="34" charset="-120"/>
              </a:rPr>
              <a:t>INSPECTOR ITO:</a:t>
            </a:r>
            <a:endParaRPr lang="en-US" sz="800" dirty="0"/>
          </a:p>
        </p:txBody>
      </p:sp>
      <p:sp>
        <p:nvSpPr>
          <p:cNvPr id="10" name="Text 7"/>
          <p:cNvSpPr txBox="1"/>
          <p:nvPr/>
        </p:nvSpPr>
        <p:spPr>
          <a:xfrm>
            <a:off x="10424160" y="493776"/>
            <a:ext cx="1417320" cy="182880"/>
          </a:xfrm>
          <a:prstGeom prst="rect">
            <a:avLst/>
          </a:prstGeom>
          <a:noFill/>
          <a:ln/>
        </p:spPr>
        <p:txBody>
          <a:bodyPr wrap="square" lIns="0" tIns="0" rIns="0" bIns="0" rtlCol="0" anchor="ctr"/>
          <a:lstStyle/>
          <a:p>
            <a:pPr indent="0" marL="0">
              <a:buNone/>
            </a:pPr>
            <a:r>
              <a:rPr lang="en-US" sz="800" dirty="0">
                <a:solidFill>
                  <a:srgbClr val="222222"/>
                </a:solidFill>
                <a:latin typeface="Arial" pitchFamily="34" charset="0"/>
                <a:ea typeface="Arial" pitchFamily="34" charset="-122"/>
                <a:cs typeface="Arial" pitchFamily="34" charset="-120"/>
              </a:rPr>
              <a:t>________________</a:t>
            </a:r>
            <a:endParaRPr lang="en-US" sz="800" dirty="0"/>
          </a:p>
        </p:txBody>
      </p:sp>
      <p:sp>
        <p:nvSpPr>
          <p:cNvPr id="11" name="Text 8"/>
          <p:cNvSpPr txBox="1"/>
          <p:nvPr/>
        </p:nvSpPr>
        <p:spPr>
          <a:xfrm>
            <a:off x="9144000" y="676656"/>
            <a:ext cx="1234440" cy="182880"/>
          </a:xfrm>
          <a:prstGeom prst="rect">
            <a:avLst/>
          </a:prstGeom>
          <a:noFill/>
          <a:ln/>
        </p:spPr>
        <p:txBody>
          <a:bodyPr wrap="square" lIns="0" tIns="0" rIns="0" bIns="0" rtlCol="0" anchor="ctr"/>
          <a:lstStyle/>
          <a:p>
            <a:pPr indent="0" marL="0">
              <a:buNone/>
            </a:pPr>
            <a:r>
              <a:rPr lang="en-US" sz="800" b="1" dirty="0">
                <a:solidFill>
                  <a:srgbClr val="1F3D6B"/>
                </a:solidFill>
                <a:latin typeface="Arial" pitchFamily="34" charset="0"/>
                <a:ea typeface="Arial" pitchFamily="34" charset="-122"/>
                <a:cs typeface="Arial" pitchFamily="34" charset="-120"/>
              </a:rPr>
              <a:t>PROYECTO / EECC:</a:t>
            </a:r>
            <a:endParaRPr lang="en-US" sz="800" dirty="0"/>
          </a:p>
        </p:txBody>
      </p:sp>
      <p:sp>
        <p:nvSpPr>
          <p:cNvPr id="12" name="Text 9"/>
          <p:cNvSpPr txBox="1"/>
          <p:nvPr/>
        </p:nvSpPr>
        <p:spPr>
          <a:xfrm>
            <a:off x="10424160" y="676656"/>
            <a:ext cx="1417320" cy="182880"/>
          </a:xfrm>
          <a:prstGeom prst="rect">
            <a:avLst/>
          </a:prstGeom>
          <a:noFill/>
          <a:ln/>
        </p:spPr>
        <p:txBody>
          <a:bodyPr wrap="square" lIns="0" tIns="0" rIns="0" bIns="0" rtlCol="0" anchor="ctr"/>
          <a:lstStyle/>
          <a:p>
            <a:pPr indent="0" marL="0">
              <a:buNone/>
            </a:pPr>
            <a:r>
              <a:rPr lang="en-US" sz="800" dirty="0">
                <a:solidFill>
                  <a:srgbClr val="222222"/>
                </a:solidFill>
                <a:latin typeface="Arial" pitchFamily="34" charset="0"/>
                <a:ea typeface="Arial" pitchFamily="34" charset="-122"/>
                <a:cs typeface="Arial" pitchFamily="34" charset="-120"/>
              </a:rPr>
              <a:t>________________</a:t>
            </a:r>
            <a:endParaRPr lang="en-US" sz="800" dirty="0"/>
          </a:p>
        </p:txBody>
      </p:sp>
      <p:sp>
        <p:nvSpPr>
          <p:cNvPr id="13" name="Text 10"/>
          <p:cNvSpPr txBox="1"/>
          <p:nvPr/>
        </p:nvSpPr>
        <p:spPr>
          <a:xfrm>
            <a:off x="9144000" y="859536"/>
            <a:ext cx="1234440" cy="182880"/>
          </a:xfrm>
          <a:prstGeom prst="rect">
            <a:avLst/>
          </a:prstGeom>
          <a:noFill/>
          <a:ln/>
        </p:spPr>
        <p:txBody>
          <a:bodyPr wrap="square" lIns="0" tIns="0" rIns="0" bIns="0" rtlCol="0" anchor="ctr"/>
          <a:lstStyle/>
          <a:p>
            <a:pPr indent="0" marL="0">
              <a:buNone/>
            </a:pPr>
            <a:r>
              <a:rPr lang="en-US" sz="800" b="1" dirty="0">
                <a:solidFill>
                  <a:srgbClr val="1F3D6B"/>
                </a:solidFill>
                <a:latin typeface="Arial" pitchFamily="34" charset="0"/>
                <a:ea typeface="Arial" pitchFamily="34" charset="-122"/>
                <a:cs typeface="Arial" pitchFamily="34" charset="-120"/>
              </a:rPr>
              <a:t>ÁREA / SECTOR:</a:t>
            </a:r>
            <a:endParaRPr lang="en-US" sz="800" dirty="0"/>
          </a:p>
        </p:txBody>
      </p:sp>
      <p:sp>
        <p:nvSpPr>
          <p:cNvPr id="14" name="Text 11"/>
          <p:cNvSpPr txBox="1"/>
          <p:nvPr/>
        </p:nvSpPr>
        <p:spPr>
          <a:xfrm>
            <a:off x="10424160" y="859536"/>
            <a:ext cx="1417320" cy="182880"/>
          </a:xfrm>
          <a:prstGeom prst="rect">
            <a:avLst/>
          </a:prstGeom>
          <a:noFill/>
          <a:ln/>
        </p:spPr>
        <p:txBody>
          <a:bodyPr wrap="square" lIns="0" tIns="0" rIns="0" bIns="0" rtlCol="0" anchor="ctr"/>
          <a:lstStyle/>
          <a:p>
            <a:pPr indent="0" marL="0">
              <a:buNone/>
            </a:pPr>
            <a:r>
              <a:rPr lang="en-US" sz="800" dirty="0">
                <a:solidFill>
                  <a:srgbClr val="222222"/>
                </a:solidFill>
                <a:latin typeface="Arial" pitchFamily="34" charset="0"/>
                <a:ea typeface="Arial" pitchFamily="34" charset="-122"/>
                <a:cs typeface="Arial" pitchFamily="34" charset="-120"/>
              </a:rPr>
              <a:t>________________</a:t>
            </a:r>
            <a:endParaRPr lang="en-US" sz="800" dirty="0"/>
          </a:p>
        </p:txBody>
      </p:sp>
      <p:sp>
        <p:nvSpPr>
          <p:cNvPr id="15" name="Text 12"/>
          <p:cNvSpPr txBox="1"/>
          <p:nvPr/>
        </p:nvSpPr>
        <p:spPr>
          <a:xfrm>
            <a:off x="365760" y="1097280"/>
            <a:ext cx="777240" cy="201168"/>
          </a:xfrm>
          <a:prstGeom prst="rect">
            <a:avLst/>
          </a:prstGeom>
          <a:solidFill>
            <a:srgbClr val="C62828"/>
          </a:solidFill>
          <a:ln/>
        </p:spPr>
        <p:txBody>
          <a:bodyPr wrap="square" lIns="0" tIns="0" rIns="0" bIns="0" rtlCol="0" anchor="ctr"/>
          <a:lstStyle/>
          <a:p>
            <a:pPr algn="ctr" indent="0" marL="0">
              <a:buNone/>
            </a:pPr>
            <a:r>
              <a:rPr lang="en-US" sz="700" b="1" dirty="0">
                <a:solidFill>
                  <a:srgbClr val="FFFFFF"/>
                </a:solidFill>
                <a:latin typeface="Arial" pitchFamily="34" charset="0"/>
                <a:ea typeface="Arial" pitchFamily="34" charset="-122"/>
                <a:cs typeface="Arial" pitchFamily="34" charset="-120"/>
              </a:rPr>
              <a:t>N1 · CRÍTICO</a:t>
            </a:r>
            <a:endParaRPr lang="en-US" sz="700" dirty="0"/>
          </a:p>
        </p:txBody>
      </p:sp>
      <p:sp>
        <p:nvSpPr>
          <p:cNvPr id="16" name="Text 13"/>
          <p:cNvSpPr txBox="1"/>
          <p:nvPr/>
        </p:nvSpPr>
        <p:spPr>
          <a:xfrm>
            <a:off x="1207008" y="1097280"/>
            <a:ext cx="777240" cy="201168"/>
          </a:xfrm>
          <a:prstGeom prst="rect">
            <a:avLst/>
          </a:prstGeom>
          <a:solidFill>
            <a:srgbClr val="E67E22"/>
          </a:solidFill>
          <a:ln/>
        </p:spPr>
        <p:txBody>
          <a:bodyPr wrap="square" lIns="0" tIns="0" rIns="0" bIns="0" rtlCol="0" anchor="ctr"/>
          <a:lstStyle/>
          <a:p>
            <a:pPr algn="ctr" indent="0" marL="0">
              <a:buNone/>
            </a:pPr>
            <a:r>
              <a:rPr lang="en-US" sz="700" b="1" dirty="0">
                <a:solidFill>
                  <a:srgbClr val="FFFFFF"/>
                </a:solidFill>
                <a:latin typeface="Arial" pitchFamily="34" charset="0"/>
                <a:ea typeface="Arial" pitchFamily="34" charset="-122"/>
                <a:cs typeface="Arial" pitchFamily="34" charset="-120"/>
              </a:rPr>
              <a:t>N2 · ALTO</a:t>
            </a:r>
            <a:endParaRPr lang="en-US" sz="700" dirty="0"/>
          </a:p>
        </p:txBody>
      </p:sp>
      <p:sp>
        <p:nvSpPr>
          <p:cNvPr id="17" name="Text 14"/>
          <p:cNvSpPr txBox="1"/>
          <p:nvPr/>
        </p:nvSpPr>
        <p:spPr>
          <a:xfrm>
            <a:off x="2103120" y="1097280"/>
            <a:ext cx="9720072" cy="201168"/>
          </a:xfrm>
          <a:prstGeom prst="rect">
            <a:avLst/>
          </a:prstGeom>
          <a:noFill/>
          <a:ln/>
        </p:spPr>
        <p:txBody>
          <a:bodyPr wrap="square" lIns="0" tIns="0" rIns="0" bIns="0" rtlCol="0" anchor="ctr"/>
          <a:lstStyle/>
          <a:p>
            <a:pPr indent="0" marL="0">
              <a:buNone/>
            </a:pPr>
            <a:r>
              <a:rPr lang="en-US" sz="700" b="1" dirty="0">
                <a:solidFill>
                  <a:srgbClr val="1F3D6B"/>
                </a:solidFill>
                <a:latin typeface="Arial" pitchFamily="34" charset="0"/>
                <a:ea typeface="Arial" pitchFamily="34" charset="-122"/>
                <a:cs typeface="Arial" pitchFamily="34" charset="-120"/>
              </a:rPr>
              <a:t>Evento origen:  </a:t>
            </a:r>
            <a:pPr indent="0" marL="0">
              <a:buNone/>
            </a:pPr>
            <a:r>
              <a:rPr lang="en-US" sz="700" b="1" dirty="0">
                <a:solidFill>
                  <a:srgbClr val="222222"/>
                </a:solidFill>
                <a:latin typeface="Arial" pitchFamily="34" charset="0"/>
                <a:ea typeface="Arial" pitchFamily="34" charset="-122"/>
                <a:cs typeface="Arial" pitchFamily="34" charset="-120"/>
              </a:rPr>
              <a:t>CAAP</a:t>
            </a:r>
            <a:pPr indent="0" marL="0">
              <a:buNone/>
            </a:pPr>
            <a:r>
              <a:rPr lang="en-US" sz="700" dirty="0">
                <a:solidFill>
                  <a:srgbClr val="222222"/>
                </a:solidFill>
                <a:latin typeface="Arial" pitchFamily="34" charset="0"/>
                <a:ea typeface="Arial" pitchFamily="34" charset="-122"/>
                <a:cs typeface="Arial" pitchFamily="34" charset="-120"/>
              </a:rPr>
              <a:t> cuasi accidente alto pot.  ·  </a:t>
            </a:r>
            <a:pPr indent="0" marL="0">
              <a:buNone/>
            </a:pPr>
            <a:r>
              <a:rPr lang="en-US" sz="700" b="1" dirty="0">
                <a:solidFill>
                  <a:srgbClr val="222222"/>
                </a:solidFill>
                <a:latin typeface="Arial" pitchFamily="34" charset="0"/>
                <a:ea typeface="Arial" pitchFamily="34" charset="-122"/>
                <a:cs typeface="Arial" pitchFamily="34" charset="-120"/>
              </a:rPr>
              <a:t>HAP</a:t>
            </a:r>
            <a:pPr indent="0" marL="0">
              <a:buNone/>
            </a:pPr>
            <a:r>
              <a:rPr lang="en-US" sz="700" dirty="0">
                <a:solidFill>
                  <a:srgbClr val="222222"/>
                </a:solidFill>
                <a:latin typeface="Arial" pitchFamily="34" charset="0"/>
                <a:ea typeface="Arial" pitchFamily="34" charset="-122"/>
                <a:cs typeface="Arial" pitchFamily="34" charset="-120"/>
              </a:rPr>
              <a:t> hallazgo alto pot.  ·  </a:t>
            </a:r>
            <a:pPr indent="0" marL="0">
              <a:buNone/>
            </a:pPr>
            <a:r>
              <a:rPr lang="en-US" sz="700" b="1" dirty="0">
                <a:solidFill>
                  <a:srgbClr val="222222"/>
                </a:solidFill>
                <a:latin typeface="Arial" pitchFamily="34" charset="0"/>
                <a:ea typeface="Arial" pitchFamily="34" charset="-122"/>
                <a:cs typeface="Arial" pitchFamily="34" charset="-120"/>
              </a:rPr>
              <a:t>CBP</a:t>
            </a:r>
            <a:pPr indent="0" marL="0">
              <a:buNone/>
            </a:pPr>
            <a:r>
              <a:rPr lang="en-US" sz="700" dirty="0">
                <a:solidFill>
                  <a:srgbClr val="222222"/>
                </a:solidFill>
                <a:latin typeface="Arial" pitchFamily="34" charset="0"/>
                <a:ea typeface="Arial" pitchFamily="34" charset="-122"/>
                <a:cs typeface="Arial" pitchFamily="34" charset="-120"/>
              </a:rPr>
              <a:t> cuasi accidente bajo pot.  ·  </a:t>
            </a:r>
            <a:pPr indent="0" marL="0">
              <a:buNone/>
            </a:pPr>
            <a:r>
              <a:rPr lang="en-US" sz="700" b="1" dirty="0">
                <a:solidFill>
                  <a:srgbClr val="222222"/>
                </a:solidFill>
                <a:latin typeface="Arial" pitchFamily="34" charset="0"/>
                <a:ea typeface="Arial" pitchFamily="34" charset="-122"/>
                <a:cs typeface="Arial" pitchFamily="34" charset="-120"/>
              </a:rPr>
              <a:t>HBP</a:t>
            </a:r>
            <a:pPr indent="0" marL="0">
              <a:buNone/>
            </a:pPr>
            <a:r>
              <a:rPr lang="en-US" sz="700" dirty="0">
                <a:solidFill>
                  <a:srgbClr val="222222"/>
                </a:solidFill>
                <a:latin typeface="Arial" pitchFamily="34" charset="0"/>
                <a:ea typeface="Arial" pitchFamily="34" charset="-122"/>
                <a:cs typeface="Arial" pitchFamily="34" charset="-120"/>
              </a:rPr>
              <a:t> hallazgo bajo pot.  ·  </a:t>
            </a:r>
            <a:pPr indent="0" marL="0">
              <a:buNone/>
            </a:pPr>
            <a:r>
              <a:rPr lang="en-US" sz="700" b="1" dirty="0">
                <a:solidFill>
                  <a:srgbClr val="222222"/>
                </a:solidFill>
                <a:latin typeface="Arial" pitchFamily="34" charset="0"/>
                <a:ea typeface="Arial" pitchFamily="34" charset="-122"/>
                <a:cs typeface="Arial" pitchFamily="34" charset="-120"/>
              </a:rPr>
              <a:t>[T1-3] / [T2-4]</a:t>
            </a:r>
            <a:pPr indent="0" marL="0">
              <a:buNone/>
            </a:pPr>
            <a:r>
              <a:rPr lang="en-US" sz="700" dirty="0">
                <a:solidFill>
                  <a:srgbClr val="222222"/>
                </a:solidFill>
                <a:latin typeface="Arial" pitchFamily="34" charset="0"/>
                <a:ea typeface="Arial" pitchFamily="34" charset="-122"/>
                <a:cs typeface="Arial" pitchFamily="34" charset="-120"/>
              </a:rPr>
              <a:t> turno que lo reportó</a:t>
            </a:r>
            <a:endParaRPr lang="en-US" sz="700" dirty="0"/>
          </a:p>
        </p:txBody>
      </p:sp>
      <p:graphicFrame>
        <p:nvGraphicFramePr>
          <p:cNvPr id="2" name="Table 0"/>
          <p:cNvGraphicFramePr>
            <a:graphicFrameLocks noGrp="1"/>
          </p:cNvGraphicFramePr>
          <p:nvPr>
            <p:extLst>
              <p:ext uri="{D42A27DB-BD31-4B8C-83A1-F6EECF244321}">
                <p14:modId xmlns:p14="http://schemas.microsoft.com/office/powerpoint/2010/main" val="1579011935"/>
              </p:ext>
            </p:extLst>
          </p:nvPr>
        </p:nvGraphicFramePr>
        <p:xfrm>
          <a:off x="365760" y="1371600"/>
          <a:ext cx="9143771" cy="914400"/>
        </p:xfrm>
        <a:graphic>
          <a:graphicData uri="http://schemas.openxmlformats.org/drawingml/2006/table">
            <a:tbl>
              <a:tblPr/>
              <a:tblGrid>
                <a:gridCol w="960120"/>
                <a:gridCol w="4206240"/>
                <a:gridCol w="2926080"/>
                <a:gridCol w="1645920"/>
                <a:gridCol w="1719072"/>
              </a:tblGrid>
              <a:tr h="310896">
                <a:tc>
                  <a:txBody>
                    <a:bodyPr/>
                    <a:lstStyle/>
                    <a:p>
                      <a:pPr algn="ctr" indent="0" marL="0">
                        <a:buNone/>
                      </a:pPr>
                      <a:r>
                        <a:rPr lang="en-US" sz="680" b="1" dirty="0">
                          <a:solidFill>
                            <a:srgbClr val="FFFFFF"/>
                          </a:solidFill>
                          <a:latin typeface="Arial" pitchFamily="34" charset="0"/>
                          <a:ea typeface="Arial" pitchFamily="34" charset="-122"/>
                          <a:cs typeface="Arial" pitchFamily="34" charset="-120"/>
                        </a:rPr>
                        <a:t>NIVEL / PRIORIDAD</a:t>
                      </a:r>
                      <a:endParaRPr lang="en-US" sz="680" dirty="0">
                        <a:latin typeface="Arial" charset="0"/>
                        <a:ea typeface="Arial" charset="0"/>
                        <a:cs typeface="Arial" charset="0"/>
                      </a:endParaRPr>
                    </a:p>
                  </a:txBody>
                  <a:tcPr marL="50800" marR="50800" marT="25400" marB="254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solidFill>
                      <a:srgbClr val="1F3D6B"/>
                    </a:solidFill>
                  </a:tcPr>
                </a:tc>
                <a:tc>
                  <a:txBody>
                    <a:bodyPr/>
                    <a:lstStyle/>
                    <a:p>
                      <a:pPr algn="ctr" indent="0" marL="0">
                        <a:buNone/>
                      </a:pPr>
                      <a:r>
                        <a:rPr lang="en-US" sz="680" b="1" dirty="0">
                          <a:solidFill>
                            <a:srgbClr val="FFFFFF"/>
                          </a:solidFill>
                          <a:latin typeface="Arial" pitchFamily="34" charset="0"/>
                          <a:ea typeface="Arial" pitchFamily="34" charset="-122"/>
                          <a:cs typeface="Arial" pitchFamily="34" charset="-120"/>
                        </a:rPr>
                        <a:t>FOCO DE ASSURANCE (INSTRUCCIÓN OPERACIONAL Y CRITERIO DE RESTRICCIÓN)</a:t>
                      </a:r>
                      <a:endParaRPr lang="en-US" sz="680" dirty="0">
                        <a:latin typeface="Arial" charset="0"/>
                        <a:ea typeface="Arial" charset="0"/>
                        <a:cs typeface="Arial" charset="0"/>
                      </a:endParaRPr>
                    </a:p>
                  </a:txBody>
                  <a:tcPr marL="50800" marR="50800" marT="25400" marB="254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solidFill>
                      <a:srgbClr val="1F3D6B"/>
                    </a:solidFill>
                  </a:tcPr>
                </a:tc>
                <a:tc>
                  <a:txBody>
                    <a:bodyPr/>
                    <a:lstStyle/>
                    <a:p>
                      <a:pPr algn="ctr" indent="0" marL="0">
                        <a:buNone/>
                      </a:pPr>
                      <a:r>
                        <a:rPr lang="en-US" sz="680" b="1" dirty="0">
                          <a:solidFill>
                            <a:srgbClr val="FFFFFF"/>
                          </a:solidFill>
                          <a:latin typeface="Arial" pitchFamily="34" charset="0"/>
                          <a:ea typeface="Arial" pitchFamily="34" charset="-122"/>
                          <a:cs typeface="Arial" pitchFamily="34" charset="-120"/>
                        </a:rPr>
                        <a:t>EVENTO / EVIDENCIA ORIGEN</a:t>
                      </a:r>
                      <a:endParaRPr lang="en-US" sz="680" dirty="0">
                        <a:latin typeface="Arial" charset="0"/>
                        <a:ea typeface="Arial" charset="0"/>
                        <a:cs typeface="Arial" charset="0"/>
                      </a:endParaRPr>
                    </a:p>
                  </a:txBody>
                  <a:tcPr marL="50800" marR="50800" marT="25400" marB="254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solidFill>
                      <a:srgbClr val="1F3D6B"/>
                    </a:solidFill>
                  </a:tcPr>
                </a:tc>
                <a:tc>
                  <a:txBody>
                    <a:bodyPr/>
                    <a:lstStyle/>
                    <a:p>
                      <a:pPr algn="ctr" indent="0" marL="0">
                        <a:buNone/>
                      </a:pPr>
                      <a:r>
                        <a:rPr lang="en-US" sz="680" b="1" dirty="0">
                          <a:solidFill>
                            <a:srgbClr val="FFFFFF"/>
                          </a:solidFill>
                          <a:latin typeface="Arial" pitchFamily="34" charset="0"/>
                          <a:ea typeface="Arial" pitchFamily="34" charset="-122"/>
                          <a:cs typeface="Arial" pitchFamily="34" charset="-120"/>
                        </a:rPr>
                        <a:t>HERRAMIENTA PREVENTIVA SGE</a:t>
                      </a:r>
                      <a:endParaRPr lang="en-US" sz="680" dirty="0">
                        <a:latin typeface="Arial" charset="0"/>
                        <a:ea typeface="Arial" charset="0"/>
                        <a:cs typeface="Arial" charset="0"/>
                      </a:endParaRPr>
                    </a:p>
                  </a:txBody>
                  <a:tcPr marL="50800" marR="50800" marT="25400" marB="254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solidFill>
                      <a:srgbClr val="1F3D6B"/>
                    </a:solidFill>
                  </a:tcPr>
                </a:tc>
                <a:tc>
                  <a:txBody>
                    <a:bodyPr/>
                    <a:lstStyle/>
                    <a:p>
                      <a:pPr algn="ctr" indent="0" marL="0">
                        <a:buNone/>
                      </a:pPr>
                      <a:r>
                        <a:rPr lang="en-US" sz="680" b="1" dirty="0">
                          <a:solidFill>
                            <a:srgbClr val="FFFFFF"/>
                          </a:solidFill>
                          <a:latin typeface="Arial" pitchFamily="34" charset="0"/>
                          <a:ea typeface="Arial" pitchFamily="34" charset="-122"/>
                          <a:cs typeface="Arial" pitchFamily="34" charset="-120"/>
                        </a:rPr>
                        <a:t>EVIDENCIA / REGISTRO ESPERADO</a:t>
                      </a:r>
                      <a:endParaRPr lang="en-US" sz="680" dirty="0">
                        <a:latin typeface="Arial" charset="0"/>
                        <a:ea typeface="Arial" charset="0"/>
                        <a:cs typeface="Arial" charset="0"/>
                      </a:endParaRPr>
                    </a:p>
                  </a:txBody>
                  <a:tcPr marL="50800" marR="50800" marT="25400" marB="254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solidFill>
                      <a:srgbClr val="1F3D6B"/>
                    </a:solidFill>
                  </a:tcPr>
                </a:tc>
              </a:tr>
              <a:tr h="676656">
                <a:tc>
                  <a:txBody>
                    <a:bodyPr/>
                    <a:lstStyle/>
                    <a:p>
                      <a:pPr algn="ctr" indent="0" marL="0">
                        <a:buNone/>
                      </a:pPr>
                      <a:r>
                        <a:rPr lang="en-US" sz="1400" b="1" dirty="0">
                          <a:solidFill>
                            <a:srgbClr val="FFFFFF"/>
                          </a:solidFill>
                          <a:latin typeface="Arial" pitchFamily="34" charset="0"/>
                          <a:ea typeface="Arial" pitchFamily="34" charset="-122"/>
                          <a:cs typeface="Arial" pitchFamily="34" charset="-120"/>
                        </a:rPr>
                        <a:t>1</a:t>
                      </a:r>
                      <a:endParaRPr lang="en-US" sz="800" dirty="0">
                        <a:latin typeface="Arial" charset="0"/>
                        <a:ea typeface="Arial" charset="0"/>
                        <a:cs typeface="Arial" charset="0"/>
                      </a:endParaRPr>
                    </a:p>
                    <a:p>
                      <a:pPr algn="ctr" indent="0" marL="0">
                        <a:buNone/>
                      </a:pPr>
                      <a:r>
                        <a:rPr lang="en-US" sz="800" b="1" dirty="0">
                          <a:solidFill>
                            <a:srgbClr val="FFFFFF"/>
                          </a:solidFill>
                          <a:latin typeface="Arial" pitchFamily="34" charset="0"/>
                          <a:ea typeface="Arial" pitchFamily="34" charset="-122"/>
                          <a:cs typeface="Arial" pitchFamily="34" charset="-120"/>
                        </a:rPr>
                        <a:t>N1 · CRÍTICO</a:t>
                      </a:r>
                      <a:endParaRPr lang="en-US" sz="800" dirty="0">
                        <a:latin typeface="Arial" charset="0"/>
                        <a:ea typeface="Arial" charset="0"/>
                        <a:cs typeface="Arial" charset="0"/>
                      </a:endParaRPr>
                    </a:p>
                    <a:p>
                      <a:pPr algn="ctr" indent="0" marL="0">
                        <a:buNone/>
                      </a:pPr>
                      <a:r>
                        <a:rPr lang="en-US" sz="800" b="1" dirty="0">
                          <a:solidFill>
                            <a:srgbClr val="FFFFFF"/>
                          </a:solidFill>
                          <a:latin typeface="Arial" pitchFamily="34" charset="0"/>
                          <a:ea typeface="Arial" pitchFamily="34" charset="-122"/>
                          <a:cs typeface="Arial" pitchFamily="34" charset="-120"/>
                        </a:rPr>
                        <a:t>[TIPO]</a:t>
                      </a:r>
                      <a:endParaRPr lang="en-US" sz="800" dirty="0">
                        <a:latin typeface="Arial" charset="0"/>
                        <a:ea typeface="Arial" charset="0"/>
                        <a:cs typeface="Arial" charset="0"/>
                      </a:endParaRPr>
                    </a:p>
                  </a:txBody>
                  <a:tcPr marL="50800" marR="50800" marT="25400" marB="254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solidFill>
                      <a:srgbClr val="C62828"/>
                    </a:solidFill>
                  </a:tcPr>
                </a:tc>
                <a:tc>
                  <a:txBody>
                    <a:bodyPr/>
                    <a:lstStyle/>
                    <a:p>
                      <a:pPr indent="0" marL="0">
                        <a:buNone/>
                      </a:pPr>
                      <a:r>
                        <a:rPr lang="en-US" sz="630" b="1" i="1" dirty="0">
                          <a:solidFill>
                            <a:srgbClr val="7A8594"/>
                          </a:solidFill>
                          <a:latin typeface="Arial" pitchFamily="34" charset="0"/>
                          <a:ea typeface="Arial" pitchFamily="34" charset="-122"/>
                          <a:cs typeface="Arial" pitchFamily="34" charset="-120"/>
                        </a:rPr>
                        <a:t>[Tema del foco]. </a:t>
                      </a:r>
                      <a:pPr indent="0" marL="0">
                        <a:buNone/>
                      </a:pPr>
                      <a:r>
                        <a:rPr lang="en-US" sz="630" i="1" dirty="0">
                          <a:solidFill>
                            <a:srgbClr val="7A8594"/>
                          </a:solidFill>
                          <a:latin typeface="Arial" pitchFamily="34" charset="0"/>
                          <a:ea typeface="Arial" pitchFamily="34" charset="-122"/>
                          <a:cs typeface="Arial" pitchFamily="34" charset="-120"/>
                        </a:rPr>
                        <a:t>[Verificar… qué se revisa, dónde y bajo qué estándar. Máx. 3 líneas]</a:t>
                      </a:r>
                      <a:endParaRPr lang="en-US" sz="630" dirty="0">
                        <a:latin typeface="Arial" charset="0"/>
                        <a:ea typeface="Arial" charset="0"/>
                        <a:cs typeface="Arial" charset="0"/>
                      </a:endParaRPr>
                    </a:p>
                    <a:p>
                      <a:pPr indent="0" marL="0">
                        <a:buNone/>
                      </a:pPr>
                      <a:r>
                        <a:rPr lang="en-US" sz="630" b="1" dirty="0">
                          <a:solidFill>
                            <a:srgbClr val="C62828"/>
                          </a:solidFill>
                          <a:latin typeface="Arial" pitchFamily="34" charset="0"/>
                          <a:ea typeface="Arial" pitchFamily="34" charset="-122"/>
                          <a:cs typeface="Arial" pitchFamily="34" charset="-120"/>
                        </a:rPr>
                        <a:t>Criterio de restricción: </a:t>
                      </a:r>
                      <a:pPr indent="0" marL="0">
                        <a:buNone/>
                      </a:pPr>
                      <a:r>
                        <a:rPr lang="en-US" sz="630" i="1" dirty="0">
                          <a:solidFill>
                            <a:srgbClr val="7A8594"/>
                          </a:solidFill>
                          <a:latin typeface="Arial" pitchFamily="34" charset="0"/>
                          <a:ea typeface="Arial" pitchFamily="34" charset="-122"/>
                          <a:cs typeface="Arial" pitchFamily="34" charset="-120"/>
                        </a:rPr>
                        <a:t>[Cuándo se prohíbe o se detiene la tarea. Máx. 2 líneas]</a:t>
                      </a:r>
                      <a:endParaRPr lang="en-US" sz="630" dirty="0">
                        <a:latin typeface="Arial" charset="0"/>
                        <a:ea typeface="Arial" charset="0"/>
                        <a:cs typeface="Arial" charset="0"/>
                      </a:endParaRPr>
                    </a:p>
                  </a:txBody>
                  <a:tcPr marL="50800" marR="50800" marT="25400" marB="254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solidFill>
                      <a:srgbClr val="FFFFFF"/>
                    </a:solidFill>
                  </a:tcPr>
                </a:tc>
                <a:tc>
                  <a:txBody>
                    <a:bodyPr/>
                    <a:lstStyle/>
                    <a:p>
                      <a:pPr indent="0" marL="0">
                        <a:buNone/>
                      </a:pPr>
                      <a:r>
                        <a:rPr lang="en-US" sz="620" b="1" dirty="0">
                          <a:solidFill>
                            <a:srgbClr val="222222"/>
                          </a:solidFill>
                          <a:latin typeface="Arial" pitchFamily="34" charset="0"/>
                          <a:ea typeface="Arial" pitchFamily="34" charset="-122"/>
                          <a:cs typeface="Arial" pitchFamily="34" charset="-120"/>
                        </a:rPr>
                        <a:t>[T_-_] TIPO ID – EECC:</a:t>
                      </a:r>
                      <a:pPr indent="0" marL="0">
                        <a:buNone/>
                      </a:pPr>
                      <a:r>
                        <a:rPr lang="en-US" sz="620" i="1" dirty="0">
                          <a:solidFill>
                            <a:srgbClr val="7A8594"/>
                          </a:solidFill>
                          <a:latin typeface="Arial" pitchFamily="34" charset="0"/>
                          <a:ea typeface="Arial" pitchFamily="34" charset="-122"/>
                          <a:cs typeface="Arial" pitchFamily="34" charset="-120"/>
                        </a:rPr>
                        <a:t> [qué ocurrió, 1 línea]</a:t>
                      </a:r>
                      <a:endParaRPr lang="en-US" sz="620" dirty="0">
                        <a:latin typeface="Arial" charset="0"/>
                        <a:ea typeface="Arial" charset="0"/>
                        <a:cs typeface="Arial" charset="0"/>
                      </a:endParaRPr>
                    </a:p>
                    <a:p>
                      <a:pPr indent="0" marL="0">
                        <a:buNone/>
                      </a:pPr>
                      <a:r>
                        <a:rPr lang="en-US" sz="620" b="1" dirty="0">
                          <a:solidFill>
                            <a:srgbClr val="222222"/>
                          </a:solidFill>
                          <a:latin typeface="Arial" pitchFamily="34" charset="0"/>
                          <a:ea typeface="Arial" pitchFamily="34" charset="-122"/>
                          <a:cs typeface="Arial" pitchFamily="34" charset="-120"/>
                        </a:rPr>
                        <a:t>[T_-_] TIPO ID – EECC:</a:t>
                      </a:r>
                      <a:pPr indent="0" marL="0">
                        <a:buNone/>
                      </a:pPr>
                      <a:r>
                        <a:rPr lang="en-US" sz="620" i="1" dirty="0">
                          <a:solidFill>
                            <a:srgbClr val="7A8594"/>
                          </a:solidFill>
                          <a:latin typeface="Arial" pitchFamily="34" charset="0"/>
                          <a:ea typeface="Arial" pitchFamily="34" charset="-122"/>
                          <a:cs typeface="Arial" pitchFamily="34" charset="-120"/>
                        </a:rPr>
                        <a:t> [qué ocurrió, 1 línea]</a:t>
                      </a:r>
                      <a:endParaRPr lang="en-US" sz="620" dirty="0">
                        <a:latin typeface="Arial" charset="0"/>
                        <a:ea typeface="Arial" charset="0"/>
                        <a:cs typeface="Arial" charset="0"/>
                      </a:endParaRPr>
                    </a:p>
                  </a:txBody>
                  <a:tcPr marL="50800" marR="50800" marT="25400" marB="254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solidFill>
                      <a:srgbClr val="FFFFFF"/>
                    </a:solidFill>
                  </a:tcPr>
                </a:tc>
                <a:tc>
                  <a:txBody>
                    <a:bodyPr/>
                    <a:lstStyle/>
                    <a:p>
                      <a:pPr indent="0" marL="0">
                        <a:buNone/>
                      </a:pPr>
                      <a:r>
                        <a:rPr lang="en-US" sz="630" i="1" dirty="0">
                          <a:solidFill>
                            <a:srgbClr val="7A8594"/>
                          </a:solidFill>
                          <a:latin typeface="Arial" pitchFamily="34" charset="0"/>
                          <a:ea typeface="Arial" pitchFamily="34" charset="-122"/>
                          <a:cs typeface="Arial" pitchFamily="34" charset="-120"/>
                        </a:rPr>
                        <a:t>[Herramienta + herramienta + ASP]</a:t>
                      </a:r>
                      <a:endParaRPr lang="en-US" sz="630" dirty="0">
                        <a:latin typeface="Arial" charset="0"/>
                        <a:ea typeface="Arial" charset="0"/>
                        <a:cs typeface="Arial" charset="0"/>
                      </a:endParaRPr>
                    </a:p>
                  </a:txBody>
                  <a:tcPr marL="50800" marR="50800" marT="25400" marB="254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solidFill>
                      <a:srgbClr val="FFFFFF"/>
                    </a:solidFill>
                  </a:tcPr>
                </a:tc>
                <a:tc>
                  <a:txBody>
                    <a:bodyPr/>
                    <a:lstStyle/>
                    <a:p>
                      <a:pPr indent="0" marL="0">
                        <a:buNone/>
                      </a:pPr>
                      <a:r>
                        <a:rPr lang="en-US" sz="630" i="1" dirty="0">
                          <a:solidFill>
                            <a:srgbClr val="7A8594"/>
                          </a:solidFill>
                          <a:latin typeface="Arial" pitchFamily="34" charset="0"/>
                          <a:ea typeface="Arial" pitchFamily="34" charset="-122"/>
                          <a:cs typeface="Arial" pitchFamily="34" charset="-120"/>
                        </a:rPr>
                        <a:t>[Registro verificable] / registro fotográfico</a:t>
                      </a:r>
                      <a:endParaRPr lang="en-US" sz="630" dirty="0">
                        <a:latin typeface="Arial" charset="0"/>
                        <a:ea typeface="Arial" charset="0"/>
                        <a:cs typeface="Arial" charset="0"/>
                      </a:endParaRPr>
                    </a:p>
                  </a:txBody>
                  <a:tcPr marL="50800" marR="50800" marT="25400" marB="254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solidFill>
                      <a:srgbClr val="FFFFFF"/>
                    </a:solidFill>
                  </a:tcPr>
                </a:tc>
              </a:tr>
              <a:tr h="676656">
                <a:tc>
                  <a:txBody>
                    <a:bodyPr/>
                    <a:lstStyle/>
                    <a:p>
                      <a:pPr algn="ctr" indent="0" marL="0">
                        <a:buNone/>
                      </a:pPr>
                      <a:r>
                        <a:rPr lang="en-US" sz="1400" b="1" dirty="0">
                          <a:solidFill>
                            <a:srgbClr val="FFFFFF"/>
                          </a:solidFill>
                          <a:latin typeface="Arial" pitchFamily="34" charset="0"/>
                          <a:ea typeface="Arial" pitchFamily="34" charset="-122"/>
                          <a:cs typeface="Arial" pitchFamily="34" charset="-120"/>
                        </a:rPr>
                        <a:t>2</a:t>
                      </a:r>
                      <a:endParaRPr lang="en-US" sz="800" dirty="0">
                        <a:latin typeface="Arial" charset="0"/>
                        <a:ea typeface="Arial" charset="0"/>
                        <a:cs typeface="Arial" charset="0"/>
                      </a:endParaRPr>
                    </a:p>
                    <a:p>
                      <a:pPr algn="ctr" indent="0" marL="0">
                        <a:buNone/>
                      </a:pPr>
                      <a:r>
                        <a:rPr lang="en-US" sz="800" b="1" dirty="0">
                          <a:solidFill>
                            <a:srgbClr val="FFFFFF"/>
                          </a:solidFill>
                          <a:latin typeface="Arial" pitchFamily="34" charset="0"/>
                          <a:ea typeface="Arial" pitchFamily="34" charset="-122"/>
                          <a:cs typeface="Arial" pitchFamily="34" charset="-120"/>
                        </a:rPr>
                        <a:t>N1 · CRÍTICO</a:t>
                      </a:r>
                      <a:endParaRPr lang="en-US" sz="800" dirty="0">
                        <a:latin typeface="Arial" charset="0"/>
                        <a:ea typeface="Arial" charset="0"/>
                        <a:cs typeface="Arial" charset="0"/>
                      </a:endParaRPr>
                    </a:p>
                    <a:p>
                      <a:pPr algn="ctr" indent="0" marL="0">
                        <a:buNone/>
                      </a:pPr>
                      <a:r>
                        <a:rPr lang="en-US" sz="800" b="1" dirty="0">
                          <a:solidFill>
                            <a:srgbClr val="FFFFFF"/>
                          </a:solidFill>
                          <a:latin typeface="Arial" pitchFamily="34" charset="0"/>
                          <a:ea typeface="Arial" pitchFamily="34" charset="-122"/>
                          <a:cs typeface="Arial" pitchFamily="34" charset="-120"/>
                        </a:rPr>
                        <a:t>[TIPO]</a:t>
                      </a:r>
                      <a:endParaRPr lang="en-US" sz="800" dirty="0">
                        <a:latin typeface="Arial" charset="0"/>
                        <a:ea typeface="Arial" charset="0"/>
                        <a:cs typeface="Arial" charset="0"/>
                      </a:endParaRPr>
                    </a:p>
                  </a:txBody>
                  <a:tcPr marL="50800" marR="50800" marT="25400" marB="254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solidFill>
                      <a:srgbClr val="C62828"/>
                    </a:solidFill>
                  </a:tcPr>
                </a:tc>
                <a:tc>
                  <a:txBody>
                    <a:bodyPr/>
                    <a:lstStyle/>
                    <a:p>
                      <a:pPr indent="0" marL="0">
                        <a:buNone/>
                      </a:pPr>
                      <a:r>
                        <a:rPr lang="en-US" sz="630" b="1" i="1" dirty="0">
                          <a:solidFill>
                            <a:srgbClr val="7A8594"/>
                          </a:solidFill>
                          <a:latin typeface="Arial" pitchFamily="34" charset="0"/>
                          <a:ea typeface="Arial" pitchFamily="34" charset="-122"/>
                          <a:cs typeface="Arial" pitchFamily="34" charset="-120"/>
                        </a:rPr>
                        <a:t>[Tema del foco]. </a:t>
                      </a:r>
                      <a:pPr indent="0" marL="0">
                        <a:buNone/>
                      </a:pPr>
                      <a:r>
                        <a:rPr lang="en-US" sz="630" i="1" dirty="0">
                          <a:solidFill>
                            <a:srgbClr val="7A8594"/>
                          </a:solidFill>
                          <a:latin typeface="Arial" pitchFamily="34" charset="0"/>
                          <a:ea typeface="Arial" pitchFamily="34" charset="-122"/>
                          <a:cs typeface="Arial" pitchFamily="34" charset="-120"/>
                        </a:rPr>
                        <a:t>[Verificar… qué se revisa, dónde y bajo qué estándar. Máx. 3 líneas]</a:t>
                      </a:r>
                      <a:endParaRPr lang="en-US" sz="630" dirty="0">
                        <a:latin typeface="Arial" charset="0"/>
                        <a:ea typeface="Arial" charset="0"/>
                        <a:cs typeface="Arial" charset="0"/>
                      </a:endParaRPr>
                    </a:p>
                    <a:p>
                      <a:pPr indent="0" marL="0">
                        <a:buNone/>
                      </a:pPr>
                      <a:r>
                        <a:rPr lang="en-US" sz="630" b="1" dirty="0">
                          <a:solidFill>
                            <a:srgbClr val="C62828"/>
                          </a:solidFill>
                          <a:latin typeface="Arial" pitchFamily="34" charset="0"/>
                          <a:ea typeface="Arial" pitchFamily="34" charset="-122"/>
                          <a:cs typeface="Arial" pitchFamily="34" charset="-120"/>
                        </a:rPr>
                        <a:t>Criterio de restricción: </a:t>
                      </a:r>
                      <a:pPr indent="0" marL="0">
                        <a:buNone/>
                      </a:pPr>
                      <a:r>
                        <a:rPr lang="en-US" sz="630" i="1" dirty="0">
                          <a:solidFill>
                            <a:srgbClr val="7A8594"/>
                          </a:solidFill>
                          <a:latin typeface="Arial" pitchFamily="34" charset="0"/>
                          <a:ea typeface="Arial" pitchFamily="34" charset="-122"/>
                          <a:cs typeface="Arial" pitchFamily="34" charset="-120"/>
                        </a:rPr>
                        <a:t>[Cuándo se prohíbe o se detiene la tarea. Máx. 2 líneas]</a:t>
                      </a:r>
                      <a:endParaRPr lang="en-US" sz="630" dirty="0">
                        <a:latin typeface="Arial" charset="0"/>
                        <a:ea typeface="Arial" charset="0"/>
                        <a:cs typeface="Arial" charset="0"/>
                      </a:endParaRPr>
                    </a:p>
                  </a:txBody>
                  <a:tcPr marL="50800" marR="50800" marT="25400" marB="254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solidFill>
                      <a:srgbClr val="F3F6FA"/>
                    </a:solidFill>
                  </a:tcPr>
                </a:tc>
                <a:tc>
                  <a:txBody>
                    <a:bodyPr/>
                    <a:lstStyle/>
                    <a:p>
                      <a:pPr indent="0" marL="0">
                        <a:buNone/>
                      </a:pPr>
                      <a:r>
                        <a:rPr lang="en-US" sz="620" b="1" dirty="0">
                          <a:solidFill>
                            <a:srgbClr val="222222"/>
                          </a:solidFill>
                          <a:latin typeface="Arial" pitchFamily="34" charset="0"/>
                          <a:ea typeface="Arial" pitchFamily="34" charset="-122"/>
                          <a:cs typeface="Arial" pitchFamily="34" charset="-120"/>
                        </a:rPr>
                        <a:t>[T_-_] TIPO ID – EECC:</a:t>
                      </a:r>
                      <a:pPr indent="0" marL="0">
                        <a:buNone/>
                      </a:pPr>
                      <a:r>
                        <a:rPr lang="en-US" sz="620" i="1" dirty="0">
                          <a:solidFill>
                            <a:srgbClr val="7A8594"/>
                          </a:solidFill>
                          <a:latin typeface="Arial" pitchFamily="34" charset="0"/>
                          <a:ea typeface="Arial" pitchFamily="34" charset="-122"/>
                          <a:cs typeface="Arial" pitchFamily="34" charset="-120"/>
                        </a:rPr>
                        <a:t> [qué ocurrió, 1 línea]</a:t>
                      </a:r>
                      <a:endParaRPr lang="en-US" sz="620" dirty="0">
                        <a:latin typeface="Arial" charset="0"/>
                        <a:ea typeface="Arial" charset="0"/>
                        <a:cs typeface="Arial" charset="0"/>
                      </a:endParaRPr>
                    </a:p>
                    <a:p>
                      <a:pPr indent="0" marL="0">
                        <a:buNone/>
                      </a:pPr>
                      <a:r>
                        <a:rPr lang="en-US" sz="620" b="1" dirty="0">
                          <a:solidFill>
                            <a:srgbClr val="222222"/>
                          </a:solidFill>
                          <a:latin typeface="Arial" pitchFamily="34" charset="0"/>
                          <a:ea typeface="Arial" pitchFamily="34" charset="-122"/>
                          <a:cs typeface="Arial" pitchFamily="34" charset="-120"/>
                        </a:rPr>
                        <a:t>[T_-_] TIPO ID – EECC:</a:t>
                      </a:r>
                      <a:pPr indent="0" marL="0">
                        <a:buNone/>
                      </a:pPr>
                      <a:r>
                        <a:rPr lang="en-US" sz="620" i="1" dirty="0">
                          <a:solidFill>
                            <a:srgbClr val="7A8594"/>
                          </a:solidFill>
                          <a:latin typeface="Arial" pitchFamily="34" charset="0"/>
                          <a:ea typeface="Arial" pitchFamily="34" charset="-122"/>
                          <a:cs typeface="Arial" pitchFamily="34" charset="-120"/>
                        </a:rPr>
                        <a:t> [qué ocurrió, 1 línea]</a:t>
                      </a:r>
                      <a:endParaRPr lang="en-US" sz="620" dirty="0">
                        <a:latin typeface="Arial" charset="0"/>
                        <a:ea typeface="Arial" charset="0"/>
                        <a:cs typeface="Arial" charset="0"/>
                      </a:endParaRPr>
                    </a:p>
                  </a:txBody>
                  <a:tcPr marL="50800" marR="50800" marT="25400" marB="254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solidFill>
                      <a:srgbClr val="F3F6FA"/>
                    </a:solidFill>
                  </a:tcPr>
                </a:tc>
                <a:tc>
                  <a:txBody>
                    <a:bodyPr/>
                    <a:lstStyle/>
                    <a:p>
                      <a:pPr indent="0" marL="0">
                        <a:buNone/>
                      </a:pPr>
                      <a:r>
                        <a:rPr lang="en-US" sz="630" i="1" dirty="0">
                          <a:solidFill>
                            <a:srgbClr val="7A8594"/>
                          </a:solidFill>
                          <a:latin typeface="Arial" pitchFamily="34" charset="0"/>
                          <a:ea typeface="Arial" pitchFamily="34" charset="-122"/>
                          <a:cs typeface="Arial" pitchFamily="34" charset="-120"/>
                        </a:rPr>
                        <a:t>[Herramienta + herramienta + ASP]</a:t>
                      </a:r>
                      <a:endParaRPr lang="en-US" sz="630" dirty="0">
                        <a:latin typeface="Arial" charset="0"/>
                        <a:ea typeface="Arial" charset="0"/>
                        <a:cs typeface="Arial" charset="0"/>
                      </a:endParaRPr>
                    </a:p>
                  </a:txBody>
                  <a:tcPr marL="50800" marR="50800" marT="25400" marB="254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solidFill>
                      <a:srgbClr val="F3F6FA"/>
                    </a:solidFill>
                  </a:tcPr>
                </a:tc>
                <a:tc>
                  <a:txBody>
                    <a:bodyPr/>
                    <a:lstStyle/>
                    <a:p>
                      <a:pPr indent="0" marL="0">
                        <a:buNone/>
                      </a:pPr>
                      <a:r>
                        <a:rPr lang="en-US" sz="630" i="1" dirty="0">
                          <a:solidFill>
                            <a:srgbClr val="7A8594"/>
                          </a:solidFill>
                          <a:latin typeface="Arial" pitchFamily="34" charset="0"/>
                          <a:ea typeface="Arial" pitchFamily="34" charset="-122"/>
                          <a:cs typeface="Arial" pitchFamily="34" charset="-120"/>
                        </a:rPr>
                        <a:t>[Registro verificable] / registro fotográfico</a:t>
                      </a:r>
                      <a:endParaRPr lang="en-US" sz="630" dirty="0">
                        <a:latin typeface="Arial" charset="0"/>
                        <a:ea typeface="Arial" charset="0"/>
                        <a:cs typeface="Arial" charset="0"/>
                      </a:endParaRPr>
                    </a:p>
                  </a:txBody>
                  <a:tcPr marL="50800" marR="50800" marT="25400" marB="254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solidFill>
                      <a:srgbClr val="F3F6FA"/>
                    </a:solidFill>
                  </a:tcPr>
                </a:tc>
              </a:tr>
              <a:tr h="676656">
                <a:tc>
                  <a:txBody>
                    <a:bodyPr/>
                    <a:lstStyle/>
                    <a:p>
                      <a:pPr algn="ctr" indent="0" marL="0">
                        <a:buNone/>
                      </a:pPr>
                      <a:r>
                        <a:rPr lang="en-US" sz="1400" b="1" dirty="0">
                          <a:solidFill>
                            <a:srgbClr val="FFFFFF"/>
                          </a:solidFill>
                          <a:latin typeface="Arial" pitchFamily="34" charset="0"/>
                          <a:ea typeface="Arial" pitchFamily="34" charset="-122"/>
                          <a:cs typeface="Arial" pitchFamily="34" charset="-120"/>
                        </a:rPr>
                        <a:t>3</a:t>
                      </a:r>
                      <a:endParaRPr lang="en-US" sz="800" dirty="0">
                        <a:latin typeface="Arial" charset="0"/>
                        <a:ea typeface="Arial" charset="0"/>
                        <a:cs typeface="Arial" charset="0"/>
                      </a:endParaRPr>
                    </a:p>
                    <a:p>
                      <a:pPr algn="ctr" indent="0" marL="0">
                        <a:buNone/>
                      </a:pPr>
                      <a:r>
                        <a:rPr lang="en-US" sz="800" b="1" dirty="0">
                          <a:solidFill>
                            <a:srgbClr val="FFFFFF"/>
                          </a:solidFill>
                          <a:latin typeface="Arial" pitchFamily="34" charset="0"/>
                          <a:ea typeface="Arial" pitchFamily="34" charset="-122"/>
                          <a:cs typeface="Arial" pitchFamily="34" charset="-120"/>
                        </a:rPr>
                        <a:t>N1 · CRÍTICO</a:t>
                      </a:r>
                      <a:endParaRPr lang="en-US" sz="800" dirty="0">
                        <a:latin typeface="Arial" charset="0"/>
                        <a:ea typeface="Arial" charset="0"/>
                        <a:cs typeface="Arial" charset="0"/>
                      </a:endParaRPr>
                    </a:p>
                    <a:p>
                      <a:pPr algn="ctr" indent="0" marL="0">
                        <a:buNone/>
                      </a:pPr>
                      <a:r>
                        <a:rPr lang="en-US" sz="800" b="1" dirty="0">
                          <a:solidFill>
                            <a:srgbClr val="FFFFFF"/>
                          </a:solidFill>
                          <a:latin typeface="Arial" pitchFamily="34" charset="0"/>
                          <a:ea typeface="Arial" pitchFamily="34" charset="-122"/>
                          <a:cs typeface="Arial" pitchFamily="34" charset="-120"/>
                        </a:rPr>
                        <a:t>[TIPO]</a:t>
                      </a:r>
                      <a:endParaRPr lang="en-US" sz="800" dirty="0">
                        <a:latin typeface="Arial" charset="0"/>
                        <a:ea typeface="Arial" charset="0"/>
                        <a:cs typeface="Arial" charset="0"/>
                      </a:endParaRPr>
                    </a:p>
                  </a:txBody>
                  <a:tcPr marL="50800" marR="50800" marT="25400" marB="254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solidFill>
                      <a:srgbClr val="C62828"/>
                    </a:solidFill>
                  </a:tcPr>
                </a:tc>
                <a:tc>
                  <a:txBody>
                    <a:bodyPr/>
                    <a:lstStyle/>
                    <a:p>
                      <a:pPr indent="0" marL="0">
                        <a:buNone/>
                      </a:pPr>
                      <a:r>
                        <a:rPr lang="en-US" sz="630" b="1" i="1" dirty="0">
                          <a:solidFill>
                            <a:srgbClr val="7A8594"/>
                          </a:solidFill>
                          <a:latin typeface="Arial" pitchFamily="34" charset="0"/>
                          <a:ea typeface="Arial" pitchFamily="34" charset="-122"/>
                          <a:cs typeface="Arial" pitchFamily="34" charset="-120"/>
                        </a:rPr>
                        <a:t>[Tema del foco]. </a:t>
                      </a:r>
                      <a:pPr indent="0" marL="0">
                        <a:buNone/>
                      </a:pPr>
                      <a:r>
                        <a:rPr lang="en-US" sz="630" i="1" dirty="0">
                          <a:solidFill>
                            <a:srgbClr val="7A8594"/>
                          </a:solidFill>
                          <a:latin typeface="Arial" pitchFamily="34" charset="0"/>
                          <a:ea typeface="Arial" pitchFamily="34" charset="-122"/>
                          <a:cs typeface="Arial" pitchFamily="34" charset="-120"/>
                        </a:rPr>
                        <a:t>[Verificar… qué se revisa, dónde y bajo qué estándar. Máx. 3 líneas]</a:t>
                      </a:r>
                      <a:endParaRPr lang="en-US" sz="630" dirty="0">
                        <a:latin typeface="Arial" charset="0"/>
                        <a:ea typeface="Arial" charset="0"/>
                        <a:cs typeface="Arial" charset="0"/>
                      </a:endParaRPr>
                    </a:p>
                    <a:p>
                      <a:pPr indent="0" marL="0">
                        <a:buNone/>
                      </a:pPr>
                      <a:r>
                        <a:rPr lang="en-US" sz="630" b="1" dirty="0">
                          <a:solidFill>
                            <a:srgbClr val="C62828"/>
                          </a:solidFill>
                          <a:latin typeface="Arial" pitchFamily="34" charset="0"/>
                          <a:ea typeface="Arial" pitchFamily="34" charset="-122"/>
                          <a:cs typeface="Arial" pitchFamily="34" charset="-120"/>
                        </a:rPr>
                        <a:t>Criterio de restricción: </a:t>
                      </a:r>
                      <a:pPr indent="0" marL="0">
                        <a:buNone/>
                      </a:pPr>
                      <a:r>
                        <a:rPr lang="en-US" sz="630" i="1" dirty="0">
                          <a:solidFill>
                            <a:srgbClr val="7A8594"/>
                          </a:solidFill>
                          <a:latin typeface="Arial" pitchFamily="34" charset="0"/>
                          <a:ea typeface="Arial" pitchFamily="34" charset="-122"/>
                          <a:cs typeface="Arial" pitchFamily="34" charset="-120"/>
                        </a:rPr>
                        <a:t>[Cuándo se prohíbe o se detiene la tarea. Máx. 2 líneas]</a:t>
                      </a:r>
                      <a:endParaRPr lang="en-US" sz="630" dirty="0">
                        <a:latin typeface="Arial" charset="0"/>
                        <a:ea typeface="Arial" charset="0"/>
                        <a:cs typeface="Arial" charset="0"/>
                      </a:endParaRPr>
                    </a:p>
                  </a:txBody>
                  <a:tcPr marL="50800" marR="50800" marT="25400" marB="254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solidFill>
                      <a:srgbClr val="FFFFFF"/>
                    </a:solidFill>
                  </a:tcPr>
                </a:tc>
                <a:tc>
                  <a:txBody>
                    <a:bodyPr/>
                    <a:lstStyle/>
                    <a:p>
                      <a:pPr indent="0" marL="0">
                        <a:buNone/>
                      </a:pPr>
                      <a:r>
                        <a:rPr lang="en-US" sz="620" b="1" dirty="0">
                          <a:solidFill>
                            <a:srgbClr val="222222"/>
                          </a:solidFill>
                          <a:latin typeface="Arial" pitchFamily="34" charset="0"/>
                          <a:ea typeface="Arial" pitchFamily="34" charset="-122"/>
                          <a:cs typeface="Arial" pitchFamily="34" charset="-120"/>
                        </a:rPr>
                        <a:t>[T_-_] TIPO ID – EECC:</a:t>
                      </a:r>
                      <a:pPr indent="0" marL="0">
                        <a:buNone/>
                      </a:pPr>
                      <a:r>
                        <a:rPr lang="en-US" sz="620" i="1" dirty="0">
                          <a:solidFill>
                            <a:srgbClr val="7A8594"/>
                          </a:solidFill>
                          <a:latin typeface="Arial" pitchFamily="34" charset="0"/>
                          <a:ea typeface="Arial" pitchFamily="34" charset="-122"/>
                          <a:cs typeface="Arial" pitchFamily="34" charset="-120"/>
                        </a:rPr>
                        <a:t> [qué ocurrió, 1 línea]</a:t>
                      </a:r>
                      <a:endParaRPr lang="en-US" sz="620" dirty="0">
                        <a:latin typeface="Arial" charset="0"/>
                        <a:ea typeface="Arial" charset="0"/>
                        <a:cs typeface="Arial" charset="0"/>
                      </a:endParaRPr>
                    </a:p>
                    <a:p>
                      <a:pPr indent="0" marL="0">
                        <a:buNone/>
                      </a:pPr>
                      <a:r>
                        <a:rPr lang="en-US" sz="620" b="1" dirty="0">
                          <a:solidFill>
                            <a:srgbClr val="222222"/>
                          </a:solidFill>
                          <a:latin typeface="Arial" pitchFamily="34" charset="0"/>
                          <a:ea typeface="Arial" pitchFamily="34" charset="-122"/>
                          <a:cs typeface="Arial" pitchFamily="34" charset="-120"/>
                        </a:rPr>
                        <a:t>[T_-_] TIPO ID – EECC:</a:t>
                      </a:r>
                      <a:pPr indent="0" marL="0">
                        <a:buNone/>
                      </a:pPr>
                      <a:r>
                        <a:rPr lang="en-US" sz="620" i="1" dirty="0">
                          <a:solidFill>
                            <a:srgbClr val="7A8594"/>
                          </a:solidFill>
                          <a:latin typeface="Arial" pitchFamily="34" charset="0"/>
                          <a:ea typeface="Arial" pitchFamily="34" charset="-122"/>
                          <a:cs typeface="Arial" pitchFamily="34" charset="-120"/>
                        </a:rPr>
                        <a:t> [qué ocurrió, 1 línea]</a:t>
                      </a:r>
                      <a:endParaRPr lang="en-US" sz="620" dirty="0">
                        <a:latin typeface="Arial" charset="0"/>
                        <a:ea typeface="Arial" charset="0"/>
                        <a:cs typeface="Arial" charset="0"/>
                      </a:endParaRPr>
                    </a:p>
                  </a:txBody>
                  <a:tcPr marL="50800" marR="50800" marT="25400" marB="254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solidFill>
                      <a:srgbClr val="FFFFFF"/>
                    </a:solidFill>
                  </a:tcPr>
                </a:tc>
                <a:tc>
                  <a:txBody>
                    <a:bodyPr/>
                    <a:lstStyle/>
                    <a:p>
                      <a:pPr indent="0" marL="0">
                        <a:buNone/>
                      </a:pPr>
                      <a:r>
                        <a:rPr lang="en-US" sz="630" i="1" dirty="0">
                          <a:solidFill>
                            <a:srgbClr val="7A8594"/>
                          </a:solidFill>
                          <a:latin typeface="Arial" pitchFamily="34" charset="0"/>
                          <a:ea typeface="Arial" pitchFamily="34" charset="-122"/>
                          <a:cs typeface="Arial" pitchFamily="34" charset="-120"/>
                        </a:rPr>
                        <a:t>[Herramienta + herramienta + ASP]</a:t>
                      </a:r>
                      <a:endParaRPr lang="en-US" sz="630" dirty="0">
                        <a:latin typeface="Arial" charset="0"/>
                        <a:ea typeface="Arial" charset="0"/>
                        <a:cs typeface="Arial" charset="0"/>
                      </a:endParaRPr>
                    </a:p>
                  </a:txBody>
                  <a:tcPr marL="50800" marR="50800" marT="25400" marB="254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solidFill>
                      <a:srgbClr val="FFFFFF"/>
                    </a:solidFill>
                  </a:tcPr>
                </a:tc>
                <a:tc>
                  <a:txBody>
                    <a:bodyPr/>
                    <a:lstStyle/>
                    <a:p>
                      <a:pPr indent="0" marL="0">
                        <a:buNone/>
                      </a:pPr>
                      <a:r>
                        <a:rPr lang="en-US" sz="630" i="1" dirty="0">
                          <a:solidFill>
                            <a:srgbClr val="7A8594"/>
                          </a:solidFill>
                          <a:latin typeface="Arial" pitchFamily="34" charset="0"/>
                          <a:ea typeface="Arial" pitchFamily="34" charset="-122"/>
                          <a:cs typeface="Arial" pitchFamily="34" charset="-120"/>
                        </a:rPr>
                        <a:t>[Registro verificable] / registro fotográfico</a:t>
                      </a:r>
                      <a:endParaRPr lang="en-US" sz="630" dirty="0">
                        <a:latin typeface="Arial" charset="0"/>
                        <a:ea typeface="Arial" charset="0"/>
                        <a:cs typeface="Arial" charset="0"/>
                      </a:endParaRPr>
                    </a:p>
                  </a:txBody>
                  <a:tcPr marL="50800" marR="50800" marT="25400" marB="254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solidFill>
                      <a:srgbClr val="FFFFFF"/>
                    </a:solidFill>
                  </a:tcPr>
                </a:tc>
              </a:tr>
              <a:tr h="676656">
                <a:tc>
                  <a:txBody>
                    <a:bodyPr/>
                    <a:lstStyle/>
                    <a:p>
                      <a:pPr algn="ctr" indent="0" marL="0">
                        <a:buNone/>
                      </a:pPr>
                      <a:r>
                        <a:rPr lang="en-US" sz="1400" b="1" dirty="0">
                          <a:solidFill>
                            <a:srgbClr val="FFFFFF"/>
                          </a:solidFill>
                          <a:latin typeface="Arial" pitchFamily="34" charset="0"/>
                          <a:ea typeface="Arial" pitchFamily="34" charset="-122"/>
                          <a:cs typeface="Arial" pitchFamily="34" charset="-120"/>
                        </a:rPr>
                        <a:t>4</a:t>
                      </a:r>
                      <a:endParaRPr lang="en-US" sz="800" dirty="0">
                        <a:latin typeface="Arial" charset="0"/>
                        <a:ea typeface="Arial" charset="0"/>
                        <a:cs typeface="Arial" charset="0"/>
                      </a:endParaRPr>
                    </a:p>
                    <a:p>
                      <a:pPr algn="ctr" indent="0" marL="0">
                        <a:buNone/>
                      </a:pPr>
                      <a:r>
                        <a:rPr lang="en-US" sz="800" b="1" dirty="0">
                          <a:solidFill>
                            <a:srgbClr val="FFFFFF"/>
                          </a:solidFill>
                          <a:latin typeface="Arial" pitchFamily="34" charset="0"/>
                          <a:ea typeface="Arial" pitchFamily="34" charset="-122"/>
                          <a:cs typeface="Arial" pitchFamily="34" charset="-120"/>
                        </a:rPr>
                        <a:t>N1 · CRÍTICO</a:t>
                      </a:r>
                      <a:endParaRPr lang="en-US" sz="800" dirty="0">
                        <a:latin typeface="Arial" charset="0"/>
                        <a:ea typeface="Arial" charset="0"/>
                        <a:cs typeface="Arial" charset="0"/>
                      </a:endParaRPr>
                    </a:p>
                    <a:p>
                      <a:pPr algn="ctr" indent="0" marL="0">
                        <a:buNone/>
                      </a:pPr>
                      <a:r>
                        <a:rPr lang="en-US" sz="800" b="1" dirty="0">
                          <a:solidFill>
                            <a:srgbClr val="FFFFFF"/>
                          </a:solidFill>
                          <a:latin typeface="Arial" pitchFamily="34" charset="0"/>
                          <a:ea typeface="Arial" pitchFamily="34" charset="-122"/>
                          <a:cs typeface="Arial" pitchFamily="34" charset="-120"/>
                        </a:rPr>
                        <a:t>[TIPO]</a:t>
                      </a:r>
                      <a:endParaRPr lang="en-US" sz="800" dirty="0">
                        <a:latin typeface="Arial" charset="0"/>
                        <a:ea typeface="Arial" charset="0"/>
                        <a:cs typeface="Arial" charset="0"/>
                      </a:endParaRPr>
                    </a:p>
                  </a:txBody>
                  <a:tcPr marL="50800" marR="50800" marT="25400" marB="254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solidFill>
                      <a:srgbClr val="C62828"/>
                    </a:solidFill>
                  </a:tcPr>
                </a:tc>
                <a:tc>
                  <a:txBody>
                    <a:bodyPr/>
                    <a:lstStyle/>
                    <a:p>
                      <a:pPr indent="0" marL="0">
                        <a:buNone/>
                      </a:pPr>
                      <a:r>
                        <a:rPr lang="en-US" sz="630" b="1" i="1" dirty="0">
                          <a:solidFill>
                            <a:srgbClr val="7A8594"/>
                          </a:solidFill>
                          <a:latin typeface="Arial" pitchFamily="34" charset="0"/>
                          <a:ea typeface="Arial" pitchFamily="34" charset="-122"/>
                          <a:cs typeface="Arial" pitchFamily="34" charset="-120"/>
                        </a:rPr>
                        <a:t>[Tema del foco]. </a:t>
                      </a:r>
                      <a:pPr indent="0" marL="0">
                        <a:buNone/>
                      </a:pPr>
                      <a:r>
                        <a:rPr lang="en-US" sz="630" i="1" dirty="0">
                          <a:solidFill>
                            <a:srgbClr val="7A8594"/>
                          </a:solidFill>
                          <a:latin typeface="Arial" pitchFamily="34" charset="0"/>
                          <a:ea typeface="Arial" pitchFamily="34" charset="-122"/>
                          <a:cs typeface="Arial" pitchFamily="34" charset="-120"/>
                        </a:rPr>
                        <a:t>[Verificar… qué se revisa, dónde y bajo qué estándar. Máx. 3 líneas]</a:t>
                      </a:r>
                      <a:endParaRPr lang="en-US" sz="630" dirty="0">
                        <a:latin typeface="Arial" charset="0"/>
                        <a:ea typeface="Arial" charset="0"/>
                        <a:cs typeface="Arial" charset="0"/>
                      </a:endParaRPr>
                    </a:p>
                    <a:p>
                      <a:pPr indent="0" marL="0">
                        <a:buNone/>
                      </a:pPr>
                      <a:r>
                        <a:rPr lang="en-US" sz="630" b="1" dirty="0">
                          <a:solidFill>
                            <a:srgbClr val="C62828"/>
                          </a:solidFill>
                          <a:latin typeface="Arial" pitchFamily="34" charset="0"/>
                          <a:ea typeface="Arial" pitchFamily="34" charset="-122"/>
                          <a:cs typeface="Arial" pitchFamily="34" charset="-120"/>
                        </a:rPr>
                        <a:t>Criterio de restricción: </a:t>
                      </a:r>
                      <a:pPr indent="0" marL="0">
                        <a:buNone/>
                      </a:pPr>
                      <a:r>
                        <a:rPr lang="en-US" sz="630" i="1" dirty="0">
                          <a:solidFill>
                            <a:srgbClr val="7A8594"/>
                          </a:solidFill>
                          <a:latin typeface="Arial" pitchFamily="34" charset="0"/>
                          <a:ea typeface="Arial" pitchFamily="34" charset="-122"/>
                          <a:cs typeface="Arial" pitchFamily="34" charset="-120"/>
                        </a:rPr>
                        <a:t>[Cuándo se prohíbe o se detiene la tarea. Máx. 2 líneas]</a:t>
                      </a:r>
                      <a:endParaRPr lang="en-US" sz="630" dirty="0">
                        <a:latin typeface="Arial" charset="0"/>
                        <a:ea typeface="Arial" charset="0"/>
                        <a:cs typeface="Arial" charset="0"/>
                      </a:endParaRPr>
                    </a:p>
                  </a:txBody>
                  <a:tcPr marL="50800" marR="50800" marT="25400" marB="254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solidFill>
                      <a:srgbClr val="F3F6FA"/>
                    </a:solidFill>
                  </a:tcPr>
                </a:tc>
                <a:tc>
                  <a:txBody>
                    <a:bodyPr/>
                    <a:lstStyle/>
                    <a:p>
                      <a:pPr indent="0" marL="0">
                        <a:buNone/>
                      </a:pPr>
                      <a:r>
                        <a:rPr lang="en-US" sz="620" b="1" dirty="0">
                          <a:solidFill>
                            <a:srgbClr val="222222"/>
                          </a:solidFill>
                          <a:latin typeface="Arial" pitchFamily="34" charset="0"/>
                          <a:ea typeface="Arial" pitchFamily="34" charset="-122"/>
                          <a:cs typeface="Arial" pitchFamily="34" charset="-120"/>
                        </a:rPr>
                        <a:t>[T_-_] TIPO ID – EECC:</a:t>
                      </a:r>
                      <a:pPr indent="0" marL="0">
                        <a:buNone/>
                      </a:pPr>
                      <a:r>
                        <a:rPr lang="en-US" sz="620" i="1" dirty="0">
                          <a:solidFill>
                            <a:srgbClr val="7A8594"/>
                          </a:solidFill>
                          <a:latin typeface="Arial" pitchFamily="34" charset="0"/>
                          <a:ea typeface="Arial" pitchFamily="34" charset="-122"/>
                          <a:cs typeface="Arial" pitchFamily="34" charset="-120"/>
                        </a:rPr>
                        <a:t> [qué ocurrió, 1 línea]</a:t>
                      </a:r>
                      <a:endParaRPr lang="en-US" sz="620" dirty="0">
                        <a:latin typeface="Arial" charset="0"/>
                        <a:ea typeface="Arial" charset="0"/>
                        <a:cs typeface="Arial" charset="0"/>
                      </a:endParaRPr>
                    </a:p>
                    <a:p>
                      <a:pPr indent="0" marL="0">
                        <a:buNone/>
                      </a:pPr>
                      <a:r>
                        <a:rPr lang="en-US" sz="620" b="1" dirty="0">
                          <a:solidFill>
                            <a:srgbClr val="222222"/>
                          </a:solidFill>
                          <a:latin typeface="Arial" pitchFamily="34" charset="0"/>
                          <a:ea typeface="Arial" pitchFamily="34" charset="-122"/>
                          <a:cs typeface="Arial" pitchFamily="34" charset="-120"/>
                        </a:rPr>
                        <a:t>[T_-_] TIPO ID – EECC:</a:t>
                      </a:r>
                      <a:pPr indent="0" marL="0">
                        <a:buNone/>
                      </a:pPr>
                      <a:r>
                        <a:rPr lang="en-US" sz="620" i="1" dirty="0">
                          <a:solidFill>
                            <a:srgbClr val="7A8594"/>
                          </a:solidFill>
                          <a:latin typeface="Arial" pitchFamily="34" charset="0"/>
                          <a:ea typeface="Arial" pitchFamily="34" charset="-122"/>
                          <a:cs typeface="Arial" pitchFamily="34" charset="-120"/>
                        </a:rPr>
                        <a:t> [qué ocurrió, 1 línea]</a:t>
                      </a:r>
                      <a:endParaRPr lang="en-US" sz="620" dirty="0">
                        <a:latin typeface="Arial" charset="0"/>
                        <a:ea typeface="Arial" charset="0"/>
                        <a:cs typeface="Arial" charset="0"/>
                      </a:endParaRPr>
                    </a:p>
                  </a:txBody>
                  <a:tcPr marL="50800" marR="50800" marT="25400" marB="254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solidFill>
                      <a:srgbClr val="F3F6FA"/>
                    </a:solidFill>
                  </a:tcPr>
                </a:tc>
                <a:tc>
                  <a:txBody>
                    <a:bodyPr/>
                    <a:lstStyle/>
                    <a:p>
                      <a:pPr indent="0" marL="0">
                        <a:buNone/>
                      </a:pPr>
                      <a:r>
                        <a:rPr lang="en-US" sz="630" i="1" dirty="0">
                          <a:solidFill>
                            <a:srgbClr val="7A8594"/>
                          </a:solidFill>
                          <a:latin typeface="Arial" pitchFamily="34" charset="0"/>
                          <a:ea typeface="Arial" pitchFamily="34" charset="-122"/>
                          <a:cs typeface="Arial" pitchFamily="34" charset="-120"/>
                        </a:rPr>
                        <a:t>[Herramienta + herramienta + ASP]</a:t>
                      </a:r>
                      <a:endParaRPr lang="en-US" sz="630" dirty="0">
                        <a:latin typeface="Arial" charset="0"/>
                        <a:ea typeface="Arial" charset="0"/>
                        <a:cs typeface="Arial" charset="0"/>
                      </a:endParaRPr>
                    </a:p>
                  </a:txBody>
                  <a:tcPr marL="50800" marR="50800" marT="25400" marB="254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solidFill>
                      <a:srgbClr val="F3F6FA"/>
                    </a:solidFill>
                  </a:tcPr>
                </a:tc>
                <a:tc>
                  <a:txBody>
                    <a:bodyPr/>
                    <a:lstStyle/>
                    <a:p>
                      <a:pPr indent="0" marL="0">
                        <a:buNone/>
                      </a:pPr>
                      <a:r>
                        <a:rPr lang="en-US" sz="630" i="1" dirty="0">
                          <a:solidFill>
                            <a:srgbClr val="7A8594"/>
                          </a:solidFill>
                          <a:latin typeface="Arial" pitchFamily="34" charset="0"/>
                          <a:ea typeface="Arial" pitchFamily="34" charset="-122"/>
                          <a:cs typeface="Arial" pitchFamily="34" charset="-120"/>
                        </a:rPr>
                        <a:t>[Registro verificable] / registro fotográfico</a:t>
                      </a:r>
                      <a:endParaRPr lang="en-US" sz="630" dirty="0">
                        <a:latin typeface="Arial" charset="0"/>
                        <a:ea typeface="Arial" charset="0"/>
                        <a:cs typeface="Arial" charset="0"/>
                      </a:endParaRPr>
                    </a:p>
                  </a:txBody>
                  <a:tcPr marL="50800" marR="50800" marT="25400" marB="254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solidFill>
                      <a:srgbClr val="F3F6FA"/>
                    </a:solidFill>
                  </a:tcPr>
                </a:tc>
              </a:tr>
              <a:tr h="676656">
                <a:tc>
                  <a:txBody>
                    <a:bodyPr/>
                    <a:lstStyle/>
                    <a:p>
                      <a:pPr algn="ctr" indent="0" marL="0">
                        <a:buNone/>
                      </a:pPr>
                      <a:r>
                        <a:rPr lang="en-US" sz="1400" b="1" dirty="0">
                          <a:solidFill>
                            <a:srgbClr val="FFFFFF"/>
                          </a:solidFill>
                          <a:latin typeface="Arial" pitchFamily="34" charset="0"/>
                          <a:ea typeface="Arial" pitchFamily="34" charset="-122"/>
                          <a:cs typeface="Arial" pitchFamily="34" charset="-120"/>
                        </a:rPr>
                        <a:t>5</a:t>
                      </a:r>
                      <a:endParaRPr lang="en-US" sz="800" dirty="0">
                        <a:latin typeface="Arial" charset="0"/>
                        <a:ea typeface="Arial" charset="0"/>
                        <a:cs typeface="Arial" charset="0"/>
                      </a:endParaRPr>
                    </a:p>
                    <a:p>
                      <a:pPr algn="ctr" indent="0" marL="0">
                        <a:buNone/>
                      </a:pPr>
                      <a:r>
                        <a:rPr lang="en-US" sz="800" b="1" dirty="0">
                          <a:solidFill>
                            <a:srgbClr val="FFFFFF"/>
                          </a:solidFill>
                          <a:latin typeface="Arial" pitchFamily="34" charset="0"/>
                          <a:ea typeface="Arial" pitchFamily="34" charset="-122"/>
                          <a:cs typeface="Arial" pitchFamily="34" charset="-120"/>
                        </a:rPr>
                        <a:t>N2 · ALTO</a:t>
                      </a:r>
                      <a:endParaRPr lang="en-US" sz="800" dirty="0">
                        <a:latin typeface="Arial" charset="0"/>
                        <a:ea typeface="Arial" charset="0"/>
                        <a:cs typeface="Arial" charset="0"/>
                      </a:endParaRPr>
                    </a:p>
                    <a:p>
                      <a:pPr algn="ctr" indent="0" marL="0">
                        <a:buNone/>
                      </a:pPr>
                      <a:r>
                        <a:rPr lang="en-US" sz="800" b="1" dirty="0">
                          <a:solidFill>
                            <a:srgbClr val="FFFFFF"/>
                          </a:solidFill>
                          <a:latin typeface="Arial" pitchFamily="34" charset="0"/>
                          <a:ea typeface="Arial" pitchFamily="34" charset="-122"/>
                          <a:cs typeface="Arial" pitchFamily="34" charset="-120"/>
                        </a:rPr>
                        <a:t>[TIPO]</a:t>
                      </a:r>
                      <a:endParaRPr lang="en-US" sz="800" dirty="0">
                        <a:latin typeface="Arial" charset="0"/>
                        <a:ea typeface="Arial" charset="0"/>
                        <a:cs typeface="Arial" charset="0"/>
                      </a:endParaRPr>
                    </a:p>
                  </a:txBody>
                  <a:tcPr marL="50800" marR="50800" marT="25400" marB="254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solidFill>
                      <a:srgbClr val="E67E22"/>
                    </a:solidFill>
                  </a:tcPr>
                </a:tc>
                <a:tc>
                  <a:txBody>
                    <a:bodyPr/>
                    <a:lstStyle/>
                    <a:p>
                      <a:pPr indent="0" marL="0">
                        <a:buNone/>
                      </a:pPr>
                      <a:r>
                        <a:rPr lang="en-US" sz="630" b="1" i="1" dirty="0">
                          <a:solidFill>
                            <a:srgbClr val="7A8594"/>
                          </a:solidFill>
                          <a:latin typeface="Arial" pitchFamily="34" charset="0"/>
                          <a:ea typeface="Arial" pitchFamily="34" charset="-122"/>
                          <a:cs typeface="Arial" pitchFamily="34" charset="-120"/>
                        </a:rPr>
                        <a:t>[Tema del foco]. </a:t>
                      </a:r>
                      <a:pPr indent="0" marL="0">
                        <a:buNone/>
                      </a:pPr>
                      <a:r>
                        <a:rPr lang="en-US" sz="630" i="1" dirty="0">
                          <a:solidFill>
                            <a:srgbClr val="7A8594"/>
                          </a:solidFill>
                          <a:latin typeface="Arial" pitchFamily="34" charset="0"/>
                          <a:ea typeface="Arial" pitchFamily="34" charset="-122"/>
                          <a:cs typeface="Arial" pitchFamily="34" charset="-120"/>
                        </a:rPr>
                        <a:t>[Verificar… qué se revisa, dónde y bajo qué estándar. Máx. 3 líneas]</a:t>
                      </a:r>
                      <a:endParaRPr lang="en-US" sz="630" dirty="0">
                        <a:latin typeface="Arial" charset="0"/>
                        <a:ea typeface="Arial" charset="0"/>
                        <a:cs typeface="Arial" charset="0"/>
                      </a:endParaRPr>
                    </a:p>
                    <a:p>
                      <a:pPr indent="0" marL="0">
                        <a:buNone/>
                      </a:pPr>
                      <a:r>
                        <a:rPr lang="en-US" sz="630" b="1" dirty="0">
                          <a:solidFill>
                            <a:srgbClr val="B35C00"/>
                          </a:solidFill>
                          <a:latin typeface="Arial" pitchFamily="34" charset="0"/>
                          <a:ea typeface="Arial" pitchFamily="34" charset="-122"/>
                          <a:cs typeface="Arial" pitchFamily="34" charset="-120"/>
                        </a:rPr>
                        <a:t>Criterio de restricción: </a:t>
                      </a:r>
                      <a:pPr indent="0" marL="0">
                        <a:buNone/>
                      </a:pPr>
                      <a:r>
                        <a:rPr lang="en-US" sz="630" i="1" dirty="0">
                          <a:solidFill>
                            <a:srgbClr val="7A8594"/>
                          </a:solidFill>
                          <a:latin typeface="Arial" pitchFamily="34" charset="0"/>
                          <a:ea typeface="Arial" pitchFamily="34" charset="-122"/>
                          <a:cs typeface="Arial" pitchFamily="34" charset="-120"/>
                        </a:rPr>
                        <a:t>[Cuándo se prohíbe o se detiene la tarea. Máx. 2 líneas]</a:t>
                      </a:r>
                      <a:endParaRPr lang="en-US" sz="630" dirty="0">
                        <a:latin typeface="Arial" charset="0"/>
                        <a:ea typeface="Arial" charset="0"/>
                        <a:cs typeface="Arial" charset="0"/>
                      </a:endParaRPr>
                    </a:p>
                  </a:txBody>
                  <a:tcPr marL="50800" marR="50800" marT="25400" marB="254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solidFill>
                      <a:srgbClr val="FFFFFF"/>
                    </a:solidFill>
                  </a:tcPr>
                </a:tc>
                <a:tc>
                  <a:txBody>
                    <a:bodyPr/>
                    <a:lstStyle/>
                    <a:p>
                      <a:pPr indent="0" marL="0">
                        <a:buNone/>
                      </a:pPr>
                      <a:r>
                        <a:rPr lang="en-US" sz="620" b="1" dirty="0">
                          <a:solidFill>
                            <a:srgbClr val="222222"/>
                          </a:solidFill>
                          <a:latin typeface="Arial" pitchFamily="34" charset="0"/>
                          <a:ea typeface="Arial" pitchFamily="34" charset="-122"/>
                          <a:cs typeface="Arial" pitchFamily="34" charset="-120"/>
                        </a:rPr>
                        <a:t>[T_-_] TIPO ID – EECC:</a:t>
                      </a:r>
                      <a:pPr indent="0" marL="0">
                        <a:buNone/>
                      </a:pPr>
                      <a:r>
                        <a:rPr lang="en-US" sz="620" i="1" dirty="0">
                          <a:solidFill>
                            <a:srgbClr val="7A8594"/>
                          </a:solidFill>
                          <a:latin typeface="Arial" pitchFamily="34" charset="0"/>
                          <a:ea typeface="Arial" pitchFamily="34" charset="-122"/>
                          <a:cs typeface="Arial" pitchFamily="34" charset="-120"/>
                        </a:rPr>
                        <a:t> [qué ocurrió, 1 línea]</a:t>
                      </a:r>
                      <a:endParaRPr lang="en-US" sz="620" dirty="0">
                        <a:latin typeface="Arial" charset="0"/>
                        <a:ea typeface="Arial" charset="0"/>
                        <a:cs typeface="Arial" charset="0"/>
                      </a:endParaRPr>
                    </a:p>
                    <a:p>
                      <a:pPr indent="0" marL="0">
                        <a:buNone/>
                      </a:pPr>
                      <a:r>
                        <a:rPr lang="en-US" sz="620" b="1" dirty="0">
                          <a:solidFill>
                            <a:srgbClr val="222222"/>
                          </a:solidFill>
                          <a:latin typeface="Arial" pitchFamily="34" charset="0"/>
                          <a:ea typeface="Arial" pitchFamily="34" charset="-122"/>
                          <a:cs typeface="Arial" pitchFamily="34" charset="-120"/>
                        </a:rPr>
                        <a:t>[T_-_] TIPO ID – EECC:</a:t>
                      </a:r>
                      <a:pPr indent="0" marL="0">
                        <a:buNone/>
                      </a:pPr>
                      <a:r>
                        <a:rPr lang="en-US" sz="620" i="1" dirty="0">
                          <a:solidFill>
                            <a:srgbClr val="7A8594"/>
                          </a:solidFill>
                          <a:latin typeface="Arial" pitchFamily="34" charset="0"/>
                          <a:ea typeface="Arial" pitchFamily="34" charset="-122"/>
                          <a:cs typeface="Arial" pitchFamily="34" charset="-120"/>
                        </a:rPr>
                        <a:t> [qué ocurrió, 1 línea]</a:t>
                      </a:r>
                      <a:endParaRPr lang="en-US" sz="620" dirty="0">
                        <a:latin typeface="Arial" charset="0"/>
                        <a:ea typeface="Arial" charset="0"/>
                        <a:cs typeface="Arial" charset="0"/>
                      </a:endParaRPr>
                    </a:p>
                  </a:txBody>
                  <a:tcPr marL="50800" marR="50800" marT="25400" marB="254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solidFill>
                      <a:srgbClr val="FFFFFF"/>
                    </a:solidFill>
                  </a:tcPr>
                </a:tc>
                <a:tc>
                  <a:txBody>
                    <a:bodyPr/>
                    <a:lstStyle/>
                    <a:p>
                      <a:pPr indent="0" marL="0">
                        <a:buNone/>
                      </a:pPr>
                      <a:r>
                        <a:rPr lang="en-US" sz="630" i="1" dirty="0">
                          <a:solidFill>
                            <a:srgbClr val="7A8594"/>
                          </a:solidFill>
                          <a:latin typeface="Arial" pitchFamily="34" charset="0"/>
                          <a:ea typeface="Arial" pitchFamily="34" charset="-122"/>
                          <a:cs typeface="Arial" pitchFamily="34" charset="-120"/>
                        </a:rPr>
                        <a:t>[Herramienta + herramienta + ASP]</a:t>
                      </a:r>
                      <a:endParaRPr lang="en-US" sz="630" dirty="0">
                        <a:latin typeface="Arial" charset="0"/>
                        <a:ea typeface="Arial" charset="0"/>
                        <a:cs typeface="Arial" charset="0"/>
                      </a:endParaRPr>
                    </a:p>
                  </a:txBody>
                  <a:tcPr marL="50800" marR="50800" marT="25400" marB="254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solidFill>
                      <a:srgbClr val="FFFFFF"/>
                    </a:solidFill>
                  </a:tcPr>
                </a:tc>
                <a:tc>
                  <a:txBody>
                    <a:bodyPr/>
                    <a:lstStyle/>
                    <a:p>
                      <a:pPr indent="0" marL="0">
                        <a:buNone/>
                      </a:pPr>
                      <a:r>
                        <a:rPr lang="en-US" sz="630" i="1" dirty="0">
                          <a:solidFill>
                            <a:srgbClr val="7A8594"/>
                          </a:solidFill>
                          <a:latin typeface="Arial" pitchFamily="34" charset="0"/>
                          <a:ea typeface="Arial" pitchFamily="34" charset="-122"/>
                          <a:cs typeface="Arial" pitchFamily="34" charset="-120"/>
                        </a:rPr>
                        <a:t>[Registro verificable] / registro fotográfico</a:t>
                      </a:r>
                      <a:endParaRPr lang="en-US" sz="630" dirty="0">
                        <a:latin typeface="Arial" charset="0"/>
                        <a:ea typeface="Arial" charset="0"/>
                        <a:cs typeface="Arial" charset="0"/>
                      </a:endParaRPr>
                    </a:p>
                  </a:txBody>
                  <a:tcPr marL="50800" marR="50800" marT="25400" marB="254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solidFill>
                      <a:srgbClr val="FFFFFF"/>
                    </a:solidFill>
                  </a:tcPr>
                </a:tc>
              </a:tr>
              <a:tr h="676656">
                <a:tc>
                  <a:txBody>
                    <a:bodyPr/>
                    <a:lstStyle/>
                    <a:p>
                      <a:pPr algn="ctr" indent="0" marL="0">
                        <a:buNone/>
                      </a:pPr>
                      <a:r>
                        <a:rPr lang="en-US" sz="1400" b="1" dirty="0">
                          <a:solidFill>
                            <a:srgbClr val="FFFFFF"/>
                          </a:solidFill>
                          <a:latin typeface="Arial" pitchFamily="34" charset="0"/>
                          <a:ea typeface="Arial" pitchFamily="34" charset="-122"/>
                          <a:cs typeface="Arial" pitchFamily="34" charset="-120"/>
                        </a:rPr>
                        <a:t>6</a:t>
                      </a:r>
                      <a:endParaRPr lang="en-US" sz="800" dirty="0">
                        <a:latin typeface="Arial" charset="0"/>
                        <a:ea typeface="Arial" charset="0"/>
                        <a:cs typeface="Arial" charset="0"/>
                      </a:endParaRPr>
                    </a:p>
                    <a:p>
                      <a:pPr algn="ctr" indent="0" marL="0">
                        <a:buNone/>
                      </a:pPr>
                      <a:r>
                        <a:rPr lang="en-US" sz="800" b="1" dirty="0">
                          <a:solidFill>
                            <a:srgbClr val="FFFFFF"/>
                          </a:solidFill>
                          <a:latin typeface="Arial" pitchFamily="34" charset="0"/>
                          <a:ea typeface="Arial" pitchFamily="34" charset="-122"/>
                          <a:cs typeface="Arial" pitchFamily="34" charset="-120"/>
                        </a:rPr>
                        <a:t>N2 · ALTO</a:t>
                      </a:r>
                      <a:endParaRPr lang="en-US" sz="800" dirty="0">
                        <a:latin typeface="Arial" charset="0"/>
                        <a:ea typeface="Arial" charset="0"/>
                        <a:cs typeface="Arial" charset="0"/>
                      </a:endParaRPr>
                    </a:p>
                    <a:p>
                      <a:pPr algn="ctr" indent="0" marL="0">
                        <a:buNone/>
                      </a:pPr>
                      <a:r>
                        <a:rPr lang="en-US" sz="800" b="1" dirty="0">
                          <a:solidFill>
                            <a:srgbClr val="FFFFFF"/>
                          </a:solidFill>
                          <a:latin typeface="Arial" pitchFamily="34" charset="0"/>
                          <a:ea typeface="Arial" pitchFamily="34" charset="-122"/>
                          <a:cs typeface="Arial" pitchFamily="34" charset="-120"/>
                        </a:rPr>
                        <a:t>[TIPO]</a:t>
                      </a:r>
                      <a:endParaRPr lang="en-US" sz="800" dirty="0">
                        <a:latin typeface="Arial" charset="0"/>
                        <a:ea typeface="Arial" charset="0"/>
                        <a:cs typeface="Arial" charset="0"/>
                      </a:endParaRPr>
                    </a:p>
                  </a:txBody>
                  <a:tcPr marL="50800" marR="50800" marT="25400" marB="254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solidFill>
                      <a:srgbClr val="E67E22"/>
                    </a:solidFill>
                  </a:tcPr>
                </a:tc>
                <a:tc>
                  <a:txBody>
                    <a:bodyPr/>
                    <a:lstStyle/>
                    <a:p>
                      <a:pPr indent="0" marL="0">
                        <a:buNone/>
                      </a:pPr>
                      <a:r>
                        <a:rPr lang="en-US" sz="630" b="1" i="1" dirty="0">
                          <a:solidFill>
                            <a:srgbClr val="7A8594"/>
                          </a:solidFill>
                          <a:latin typeface="Arial" pitchFamily="34" charset="0"/>
                          <a:ea typeface="Arial" pitchFamily="34" charset="-122"/>
                          <a:cs typeface="Arial" pitchFamily="34" charset="-120"/>
                        </a:rPr>
                        <a:t>[Tema del foco]. </a:t>
                      </a:r>
                      <a:pPr indent="0" marL="0">
                        <a:buNone/>
                      </a:pPr>
                      <a:r>
                        <a:rPr lang="en-US" sz="630" i="1" dirty="0">
                          <a:solidFill>
                            <a:srgbClr val="7A8594"/>
                          </a:solidFill>
                          <a:latin typeface="Arial" pitchFamily="34" charset="0"/>
                          <a:ea typeface="Arial" pitchFamily="34" charset="-122"/>
                          <a:cs typeface="Arial" pitchFamily="34" charset="-120"/>
                        </a:rPr>
                        <a:t>[Verificar… qué se revisa, dónde y bajo qué estándar. Máx. 3 líneas]</a:t>
                      </a:r>
                      <a:endParaRPr lang="en-US" sz="630" dirty="0">
                        <a:latin typeface="Arial" charset="0"/>
                        <a:ea typeface="Arial" charset="0"/>
                        <a:cs typeface="Arial" charset="0"/>
                      </a:endParaRPr>
                    </a:p>
                    <a:p>
                      <a:pPr indent="0" marL="0">
                        <a:buNone/>
                      </a:pPr>
                      <a:r>
                        <a:rPr lang="en-US" sz="630" b="1" dirty="0">
                          <a:solidFill>
                            <a:srgbClr val="B35C00"/>
                          </a:solidFill>
                          <a:latin typeface="Arial" pitchFamily="34" charset="0"/>
                          <a:ea typeface="Arial" pitchFamily="34" charset="-122"/>
                          <a:cs typeface="Arial" pitchFamily="34" charset="-120"/>
                        </a:rPr>
                        <a:t>Criterio de restricción: </a:t>
                      </a:r>
                      <a:pPr indent="0" marL="0">
                        <a:buNone/>
                      </a:pPr>
                      <a:r>
                        <a:rPr lang="en-US" sz="630" i="1" dirty="0">
                          <a:solidFill>
                            <a:srgbClr val="7A8594"/>
                          </a:solidFill>
                          <a:latin typeface="Arial" pitchFamily="34" charset="0"/>
                          <a:ea typeface="Arial" pitchFamily="34" charset="-122"/>
                          <a:cs typeface="Arial" pitchFamily="34" charset="-120"/>
                        </a:rPr>
                        <a:t>[Cuándo se prohíbe o se detiene la tarea. Máx. 2 líneas]</a:t>
                      </a:r>
                      <a:endParaRPr lang="en-US" sz="630" dirty="0">
                        <a:latin typeface="Arial" charset="0"/>
                        <a:ea typeface="Arial" charset="0"/>
                        <a:cs typeface="Arial" charset="0"/>
                      </a:endParaRPr>
                    </a:p>
                  </a:txBody>
                  <a:tcPr marL="50800" marR="50800" marT="25400" marB="254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solidFill>
                      <a:srgbClr val="F3F6FA"/>
                    </a:solidFill>
                  </a:tcPr>
                </a:tc>
                <a:tc>
                  <a:txBody>
                    <a:bodyPr/>
                    <a:lstStyle/>
                    <a:p>
                      <a:pPr indent="0" marL="0">
                        <a:buNone/>
                      </a:pPr>
                      <a:r>
                        <a:rPr lang="en-US" sz="620" b="1" dirty="0">
                          <a:solidFill>
                            <a:srgbClr val="222222"/>
                          </a:solidFill>
                          <a:latin typeface="Arial" pitchFamily="34" charset="0"/>
                          <a:ea typeface="Arial" pitchFamily="34" charset="-122"/>
                          <a:cs typeface="Arial" pitchFamily="34" charset="-120"/>
                        </a:rPr>
                        <a:t>[T_-_] TIPO ID – EECC:</a:t>
                      </a:r>
                      <a:pPr indent="0" marL="0">
                        <a:buNone/>
                      </a:pPr>
                      <a:r>
                        <a:rPr lang="en-US" sz="620" i="1" dirty="0">
                          <a:solidFill>
                            <a:srgbClr val="7A8594"/>
                          </a:solidFill>
                          <a:latin typeface="Arial" pitchFamily="34" charset="0"/>
                          <a:ea typeface="Arial" pitchFamily="34" charset="-122"/>
                          <a:cs typeface="Arial" pitchFamily="34" charset="-120"/>
                        </a:rPr>
                        <a:t> [qué ocurrió, 1 línea]</a:t>
                      </a:r>
                      <a:endParaRPr lang="en-US" sz="620" dirty="0">
                        <a:latin typeface="Arial" charset="0"/>
                        <a:ea typeface="Arial" charset="0"/>
                        <a:cs typeface="Arial" charset="0"/>
                      </a:endParaRPr>
                    </a:p>
                    <a:p>
                      <a:pPr indent="0" marL="0">
                        <a:buNone/>
                      </a:pPr>
                      <a:r>
                        <a:rPr lang="en-US" sz="620" b="1" dirty="0">
                          <a:solidFill>
                            <a:srgbClr val="222222"/>
                          </a:solidFill>
                          <a:latin typeface="Arial" pitchFamily="34" charset="0"/>
                          <a:ea typeface="Arial" pitchFamily="34" charset="-122"/>
                          <a:cs typeface="Arial" pitchFamily="34" charset="-120"/>
                        </a:rPr>
                        <a:t>[T_-_] TIPO ID – EECC:</a:t>
                      </a:r>
                      <a:pPr indent="0" marL="0">
                        <a:buNone/>
                      </a:pPr>
                      <a:r>
                        <a:rPr lang="en-US" sz="620" i="1" dirty="0">
                          <a:solidFill>
                            <a:srgbClr val="7A8594"/>
                          </a:solidFill>
                          <a:latin typeface="Arial" pitchFamily="34" charset="0"/>
                          <a:ea typeface="Arial" pitchFamily="34" charset="-122"/>
                          <a:cs typeface="Arial" pitchFamily="34" charset="-120"/>
                        </a:rPr>
                        <a:t> [qué ocurrió, 1 línea]</a:t>
                      </a:r>
                      <a:endParaRPr lang="en-US" sz="620" dirty="0">
                        <a:latin typeface="Arial" charset="0"/>
                        <a:ea typeface="Arial" charset="0"/>
                        <a:cs typeface="Arial" charset="0"/>
                      </a:endParaRPr>
                    </a:p>
                  </a:txBody>
                  <a:tcPr marL="50800" marR="50800" marT="25400" marB="254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solidFill>
                      <a:srgbClr val="F3F6FA"/>
                    </a:solidFill>
                  </a:tcPr>
                </a:tc>
                <a:tc>
                  <a:txBody>
                    <a:bodyPr/>
                    <a:lstStyle/>
                    <a:p>
                      <a:pPr indent="0" marL="0">
                        <a:buNone/>
                      </a:pPr>
                      <a:r>
                        <a:rPr lang="en-US" sz="630" i="1" dirty="0">
                          <a:solidFill>
                            <a:srgbClr val="7A8594"/>
                          </a:solidFill>
                          <a:latin typeface="Arial" pitchFamily="34" charset="0"/>
                          <a:ea typeface="Arial" pitchFamily="34" charset="-122"/>
                          <a:cs typeface="Arial" pitchFamily="34" charset="-120"/>
                        </a:rPr>
                        <a:t>[Herramienta + herramienta + ASP]</a:t>
                      </a:r>
                      <a:endParaRPr lang="en-US" sz="630" dirty="0">
                        <a:latin typeface="Arial" charset="0"/>
                        <a:ea typeface="Arial" charset="0"/>
                        <a:cs typeface="Arial" charset="0"/>
                      </a:endParaRPr>
                    </a:p>
                  </a:txBody>
                  <a:tcPr marL="50800" marR="50800" marT="25400" marB="254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solidFill>
                      <a:srgbClr val="F3F6FA"/>
                    </a:solidFill>
                  </a:tcPr>
                </a:tc>
                <a:tc>
                  <a:txBody>
                    <a:bodyPr/>
                    <a:lstStyle/>
                    <a:p>
                      <a:pPr indent="0" marL="0">
                        <a:buNone/>
                      </a:pPr>
                      <a:r>
                        <a:rPr lang="en-US" sz="630" i="1" dirty="0">
                          <a:solidFill>
                            <a:srgbClr val="7A8594"/>
                          </a:solidFill>
                          <a:latin typeface="Arial" pitchFamily="34" charset="0"/>
                          <a:ea typeface="Arial" pitchFamily="34" charset="-122"/>
                          <a:cs typeface="Arial" pitchFamily="34" charset="-120"/>
                        </a:rPr>
                        <a:t>[Registro verificable] / registro fotográfico</a:t>
                      </a:r>
                      <a:endParaRPr lang="en-US" sz="630" dirty="0">
                        <a:latin typeface="Arial" charset="0"/>
                        <a:ea typeface="Arial" charset="0"/>
                        <a:cs typeface="Arial" charset="0"/>
                      </a:endParaRPr>
                    </a:p>
                  </a:txBody>
                  <a:tcPr marL="50800" marR="50800" marT="25400" marB="254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solidFill>
                      <a:srgbClr val="F3F6FA"/>
                    </a:solidFill>
                  </a:tcPr>
                </a:tc>
              </a:tr>
            </a:tbl>
          </a:graphicData>
        </a:graphic>
      </p:graphicFrame>
      <p:sp>
        <p:nvSpPr>
          <p:cNvPr id="19" name="Text 15"/>
          <p:cNvSpPr txBox="1"/>
          <p:nvPr/>
        </p:nvSpPr>
        <p:spPr>
          <a:xfrm>
            <a:off x="365760" y="5797296"/>
            <a:ext cx="960120" cy="292608"/>
          </a:xfrm>
          <a:prstGeom prst="rect">
            <a:avLst/>
          </a:prstGeom>
          <a:solidFill>
            <a:srgbClr val="155A63"/>
          </a:solidFill>
          <a:ln/>
        </p:spPr>
        <p:txBody>
          <a:bodyPr wrap="square" lIns="0" tIns="0" rIns="0" bIns="0" rtlCol="0" anchor="ctr"/>
          <a:lstStyle/>
          <a:p>
            <a:pPr algn="ctr" indent="0" marL="0">
              <a:buNone/>
            </a:pPr>
            <a:r>
              <a:rPr lang="en-US" sz="750" b="1" dirty="0">
                <a:solidFill>
                  <a:srgbClr val="FFFFFF"/>
                </a:solidFill>
                <a:latin typeface="Arial" pitchFamily="34" charset="0"/>
                <a:ea typeface="Arial" pitchFamily="34" charset="-122"/>
                <a:cs typeface="Arial" pitchFamily="34" charset="-120"/>
              </a:rPr>
              <a:t>RECURRENTE</a:t>
            </a:r>
            <a:endParaRPr lang="en-US" sz="750" dirty="0"/>
          </a:p>
        </p:txBody>
      </p:sp>
      <p:sp>
        <p:nvSpPr>
          <p:cNvPr id="20" name="Shape 16"/>
          <p:cNvSpPr/>
          <p:nvPr/>
        </p:nvSpPr>
        <p:spPr>
          <a:xfrm>
            <a:off x="1325880" y="5797296"/>
            <a:ext cx="10497312" cy="292608"/>
          </a:xfrm>
          <a:prstGeom prst="rect">
            <a:avLst/>
          </a:prstGeom>
          <a:solidFill>
            <a:srgbClr val="17707A"/>
          </a:solidFill>
          <a:ln w="12700">
            <a:solidFill>
              <a:srgbClr val="17707A"/>
            </a:solidFill>
            <a:prstDash val="solid"/>
          </a:ln>
        </p:spPr>
      </p:sp>
      <p:sp>
        <p:nvSpPr>
          <p:cNvPr id="21" name="Text 17"/>
          <p:cNvSpPr txBox="1"/>
          <p:nvPr/>
        </p:nvSpPr>
        <p:spPr>
          <a:xfrm>
            <a:off x="1417320" y="5797296"/>
            <a:ext cx="10314432" cy="292608"/>
          </a:xfrm>
          <a:prstGeom prst="rect">
            <a:avLst/>
          </a:prstGeom>
          <a:noFill/>
          <a:ln/>
        </p:spPr>
        <p:txBody>
          <a:bodyPr wrap="square" lIns="0" tIns="0" rIns="0" bIns="0" rtlCol="0" anchor="ctr"/>
          <a:lstStyle/>
          <a:p>
            <a:pPr indent="0" marL="0">
              <a:buNone/>
            </a:pPr>
            <a:r>
              <a:rPr lang="en-US" sz="700" b="1" i="1" dirty="0">
                <a:solidFill>
                  <a:srgbClr val="FFFFFF"/>
                </a:solidFill>
                <a:latin typeface="Arial" pitchFamily="34" charset="0"/>
                <a:ea typeface="Arial" pitchFamily="34" charset="-122"/>
                <a:cs typeface="Arial" pitchFamily="34" charset="-120"/>
              </a:rPr>
              <a:t>[N°] eventos HBP — </a:t>
            </a:r>
            <a:pPr indent="0" marL="0">
              <a:buNone/>
            </a:pPr>
            <a:r>
              <a:rPr lang="en-US" sz="700" i="1" dirty="0">
                <a:solidFill>
                  <a:srgbClr val="FFFFFF"/>
                </a:solidFill>
                <a:latin typeface="Arial" pitchFamily="34" charset="0"/>
                <a:ea typeface="Arial" pitchFamily="34" charset="-122"/>
                <a:cs typeface="Arial" pitchFamily="34" charset="-120"/>
              </a:rPr>
              <a:t>[tema más repetido (cantidad)] · [tema (cantidad)]. Refuerzo transversal en todos los recorridos y al cierre de cada tarea.</a:t>
            </a:r>
            <a:endParaRPr lang="en-US" sz="700" dirty="0"/>
          </a:p>
        </p:txBody>
      </p:sp>
      <p:sp>
        <p:nvSpPr>
          <p:cNvPr id="22" name="Shape 18"/>
          <p:cNvSpPr/>
          <p:nvPr/>
        </p:nvSpPr>
        <p:spPr>
          <a:xfrm>
            <a:off x="365760" y="6181344"/>
            <a:ext cx="6172200" cy="219456"/>
          </a:xfrm>
          <a:prstGeom prst="rect">
            <a:avLst/>
          </a:prstGeom>
          <a:solidFill>
            <a:srgbClr val="1F3D6B"/>
          </a:solidFill>
          <a:ln w="12700">
            <a:solidFill>
              <a:srgbClr val="1F3D6B"/>
            </a:solidFill>
            <a:prstDash val="solid"/>
          </a:ln>
        </p:spPr>
      </p:sp>
      <p:sp>
        <p:nvSpPr>
          <p:cNvPr id="23" name="Text 19"/>
          <p:cNvSpPr txBox="1"/>
          <p:nvPr/>
        </p:nvSpPr>
        <p:spPr>
          <a:xfrm>
            <a:off x="457200" y="6181344"/>
            <a:ext cx="5989320" cy="219456"/>
          </a:xfrm>
          <a:prstGeom prst="rect">
            <a:avLst/>
          </a:prstGeom>
          <a:noFill/>
          <a:ln/>
        </p:spPr>
        <p:txBody>
          <a:bodyPr wrap="square" lIns="0" tIns="0" rIns="0" bIns="0" rtlCol="0" anchor="ctr"/>
          <a:lstStyle/>
          <a:p>
            <a:pPr indent="0" marL="0">
              <a:buNone/>
            </a:pPr>
            <a:r>
              <a:rPr lang="en-US" sz="750" b="1" dirty="0">
                <a:solidFill>
                  <a:srgbClr val="FFFFFF"/>
                </a:solidFill>
                <a:latin typeface="Arial" pitchFamily="34" charset="0"/>
                <a:ea typeface="Arial" pitchFamily="34" charset="-122"/>
                <a:cs typeface="Arial" pitchFamily="34" charset="-120"/>
              </a:rPr>
              <a:t>SÍNTESIS DE TENDENCIAS Y RECOMENDACIÓN DE RECORRIDOS – SUPERVISOR ITO</a:t>
            </a:r>
            <a:endParaRPr lang="en-US" sz="750" dirty="0"/>
          </a:p>
        </p:txBody>
      </p:sp>
      <p:pic>
        <p:nvPicPr>
          <p:cNvPr id="24" name="Image 1" descr="preencoded.png">    </p:cNvPr>
          <p:cNvPicPr>
            <a:picLocks noChangeAspect="1"/>
          </p:cNvPicPr>
          <p:nvPr/>
        </p:nvPicPr>
        <p:blipFill>
          <a:blip r:embed="rId2"/>
          <a:stretch>
            <a:fillRect/>
          </a:stretch>
        </p:blipFill>
        <p:spPr>
          <a:xfrm>
            <a:off x="438912" y="6473952"/>
            <a:ext cx="219456" cy="219456"/>
          </a:xfrm>
          <a:prstGeom prst="rect">
            <a:avLst/>
          </a:prstGeom>
        </p:spPr>
      </p:pic>
      <p:sp>
        <p:nvSpPr>
          <p:cNvPr id="25" name="Text 20"/>
          <p:cNvSpPr txBox="1"/>
          <p:nvPr/>
        </p:nvSpPr>
        <p:spPr>
          <a:xfrm>
            <a:off x="694944" y="6455664"/>
            <a:ext cx="1673352" cy="256032"/>
          </a:xfrm>
          <a:prstGeom prst="rect">
            <a:avLst/>
          </a:prstGeom>
          <a:noFill/>
          <a:ln/>
        </p:spPr>
        <p:txBody>
          <a:bodyPr wrap="square" lIns="0" tIns="0" rIns="0" bIns="0" rtlCol="0" anchor="ctr"/>
          <a:lstStyle/>
          <a:p>
            <a:pPr indent="0" marL="0">
              <a:buNone/>
            </a:pPr>
            <a:r>
              <a:rPr lang="en-US" sz="730" b="1" dirty="0">
                <a:solidFill>
                  <a:srgbClr val="1F3D6B"/>
                </a:solidFill>
                <a:latin typeface="Arial" pitchFamily="34" charset="0"/>
                <a:ea typeface="Arial" pitchFamily="34" charset="-122"/>
                <a:cs typeface="Arial" pitchFamily="34" charset="-120"/>
              </a:rPr>
              <a:t>BLOQUE AM · INICIO DE TURNO</a:t>
            </a:r>
            <a:endParaRPr lang="en-US" sz="730" dirty="0"/>
          </a:p>
        </p:txBody>
      </p:sp>
      <p:sp>
        <p:nvSpPr>
          <p:cNvPr id="26" name="Text 21"/>
          <p:cNvSpPr txBox="1"/>
          <p:nvPr/>
        </p:nvSpPr>
        <p:spPr>
          <a:xfrm>
            <a:off x="438912" y="6729984"/>
            <a:ext cx="1911096" cy="274320"/>
          </a:xfrm>
          <a:prstGeom prst="rect">
            <a:avLst/>
          </a:prstGeom>
          <a:noFill/>
          <a:ln/>
        </p:spPr>
        <p:txBody>
          <a:bodyPr wrap="square" lIns="0" tIns="0" rIns="0" bIns="0" rtlCol="0" anchor="t"/>
          <a:lstStyle/>
          <a:p>
            <a:pPr indent="0" marL="0">
              <a:buNone/>
            </a:pPr>
            <a:r>
              <a:rPr lang="en-US" sz="650" b="1" i="1" dirty="0">
                <a:solidFill>
                  <a:srgbClr val="7A8594"/>
                </a:solidFill>
                <a:latin typeface="Arial" pitchFamily="34" charset="0"/>
                <a:ea typeface="Arial" pitchFamily="34" charset="-122"/>
                <a:cs typeface="Arial" pitchFamily="34" charset="-120"/>
              </a:rPr>
              <a:t>[Áreas a recorrer al inicio del turno]</a:t>
            </a:r>
            <a:endParaRPr lang="en-US" sz="650" dirty="0"/>
          </a:p>
        </p:txBody>
      </p:sp>
      <p:sp>
        <p:nvSpPr>
          <p:cNvPr id="27" name="Text 22"/>
          <p:cNvSpPr txBox="1"/>
          <p:nvPr/>
        </p:nvSpPr>
        <p:spPr>
          <a:xfrm>
            <a:off x="438912" y="7022592"/>
            <a:ext cx="1911096" cy="822960"/>
          </a:xfrm>
          <a:prstGeom prst="rect">
            <a:avLst/>
          </a:prstGeom>
          <a:noFill/>
          <a:ln/>
        </p:spPr>
        <p:txBody>
          <a:bodyPr wrap="square" lIns="0" tIns="0" rIns="0" bIns="0" rtlCol="0" anchor="t"/>
          <a:lstStyle/>
          <a:p>
            <a:pPr indent="0" marL="0">
              <a:spcAft>
                <a:spcPts val="200"/>
              </a:spcAft>
              <a:buNone/>
            </a:pPr>
            <a:r>
              <a:rPr lang="en-US" sz="680" i="1" dirty="0">
                <a:solidFill>
                  <a:srgbClr val="7A8594"/>
                </a:solidFill>
                <a:latin typeface="Arial" pitchFamily="34" charset="0"/>
                <a:ea typeface="Arial" pitchFamily="34" charset="-122"/>
                <a:cs typeface="Arial" pitchFamily="34" charset="-120"/>
              </a:rPr>
              <a:t>✔ [Control a verificar] (foco N°)</a:t>
            </a:r>
            <a:endParaRPr lang="en-US" sz="680" dirty="0"/>
          </a:p>
          <a:p>
            <a:pPr indent="0" marL="0">
              <a:spcAft>
                <a:spcPts val="200"/>
              </a:spcAft>
              <a:buNone/>
            </a:pPr>
            <a:r>
              <a:rPr lang="en-US" sz="680" i="1" dirty="0">
                <a:solidFill>
                  <a:srgbClr val="7A8594"/>
                </a:solidFill>
                <a:latin typeface="Arial" pitchFamily="34" charset="0"/>
                <a:ea typeface="Arial" pitchFamily="34" charset="-122"/>
                <a:cs typeface="Arial" pitchFamily="34" charset="-120"/>
              </a:rPr>
              <a:t>✔ [Control a verificar] (foco N°)</a:t>
            </a:r>
            <a:endParaRPr lang="en-US" sz="680" dirty="0"/>
          </a:p>
          <a:p>
            <a:pPr indent="0" marL="0">
              <a:spcAft>
                <a:spcPts val="200"/>
              </a:spcAft>
              <a:buNone/>
            </a:pPr>
            <a:r>
              <a:rPr lang="en-US" sz="680" i="1" dirty="0">
                <a:solidFill>
                  <a:srgbClr val="7A8594"/>
                </a:solidFill>
                <a:latin typeface="Arial" pitchFamily="34" charset="0"/>
                <a:ea typeface="Arial" pitchFamily="34" charset="-122"/>
                <a:cs typeface="Arial" pitchFamily="34" charset="-120"/>
              </a:rPr>
              <a:t>✔ [Control a verificar] (foco N°)</a:t>
            </a:r>
            <a:endParaRPr lang="en-US" sz="680" dirty="0"/>
          </a:p>
        </p:txBody>
      </p:sp>
      <p:sp>
        <p:nvSpPr>
          <p:cNvPr id="28" name="Shape 23"/>
          <p:cNvSpPr/>
          <p:nvPr/>
        </p:nvSpPr>
        <p:spPr>
          <a:xfrm>
            <a:off x="2423160" y="6501384"/>
            <a:ext cx="9144" cy="1316736"/>
          </a:xfrm>
          <a:prstGeom prst="rect">
            <a:avLst/>
          </a:prstGeom>
          <a:solidFill>
            <a:srgbClr val="C9D3E0"/>
          </a:solidFill>
          <a:ln w="12700">
            <a:solidFill>
              <a:srgbClr val="C9D3E0"/>
            </a:solidFill>
            <a:prstDash val="solid"/>
          </a:ln>
        </p:spPr>
      </p:sp>
      <p:pic>
        <p:nvPicPr>
          <p:cNvPr id="29" name="Image 2" descr="preencoded.png">    </p:cNvPr>
          <p:cNvPicPr>
            <a:picLocks noChangeAspect="1"/>
          </p:cNvPicPr>
          <p:nvPr/>
        </p:nvPicPr>
        <p:blipFill>
          <a:blip r:embed="rId3"/>
          <a:stretch>
            <a:fillRect/>
          </a:stretch>
        </p:blipFill>
        <p:spPr>
          <a:xfrm>
            <a:off x="2496312" y="6473952"/>
            <a:ext cx="219456" cy="219456"/>
          </a:xfrm>
          <a:prstGeom prst="rect">
            <a:avLst/>
          </a:prstGeom>
        </p:spPr>
      </p:pic>
      <p:sp>
        <p:nvSpPr>
          <p:cNvPr id="30" name="Text 24"/>
          <p:cNvSpPr txBox="1"/>
          <p:nvPr/>
        </p:nvSpPr>
        <p:spPr>
          <a:xfrm>
            <a:off x="2752344" y="6455664"/>
            <a:ext cx="1673352" cy="256032"/>
          </a:xfrm>
          <a:prstGeom prst="rect">
            <a:avLst/>
          </a:prstGeom>
          <a:noFill/>
          <a:ln/>
        </p:spPr>
        <p:txBody>
          <a:bodyPr wrap="square" lIns="0" tIns="0" rIns="0" bIns="0" rtlCol="0" anchor="ctr"/>
          <a:lstStyle/>
          <a:p>
            <a:pPr indent="0" marL="0">
              <a:buNone/>
            </a:pPr>
            <a:r>
              <a:rPr lang="en-US" sz="730" b="1" dirty="0">
                <a:solidFill>
                  <a:srgbClr val="1F3D6B"/>
                </a:solidFill>
                <a:latin typeface="Arial" pitchFamily="34" charset="0"/>
                <a:ea typeface="Arial" pitchFamily="34" charset="-122"/>
                <a:cs typeface="Arial" pitchFamily="34" charset="-120"/>
              </a:rPr>
              <a:t>BLOQUE MEDIODÍA · INTERVENCIÓN</a:t>
            </a:r>
            <a:endParaRPr lang="en-US" sz="730" dirty="0"/>
          </a:p>
        </p:txBody>
      </p:sp>
      <p:sp>
        <p:nvSpPr>
          <p:cNvPr id="31" name="Text 25"/>
          <p:cNvSpPr txBox="1"/>
          <p:nvPr/>
        </p:nvSpPr>
        <p:spPr>
          <a:xfrm>
            <a:off x="2496312" y="6729984"/>
            <a:ext cx="1911096" cy="274320"/>
          </a:xfrm>
          <a:prstGeom prst="rect">
            <a:avLst/>
          </a:prstGeom>
          <a:noFill/>
          <a:ln/>
        </p:spPr>
        <p:txBody>
          <a:bodyPr wrap="square" lIns="0" tIns="0" rIns="0" bIns="0" rtlCol="0" anchor="t"/>
          <a:lstStyle/>
          <a:p>
            <a:pPr indent="0" marL="0">
              <a:buNone/>
            </a:pPr>
            <a:r>
              <a:rPr lang="en-US" sz="650" b="1" i="1" dirty="0">
                <a:solidFill>
                  <a:srgbClr val="7A8594"/>
                </a:solidFill>
                <a:latin typeface="Arial" pitchFamily="34" charset="0"/>
                <a:ea typeface="Arial" pitchFamily="34" charset="-122"/>
                <a:cs typeface="Arial" pitchFamily="34" charset="-120"/>
              </a:rPr>
              <a:t>[Áreas a recorrer a mediodía]</a:t>
            </a:r>
            <a:endParaRPr lang="en-US" sz="650" dirty="0"/>
          </a:p>
        </p:txBody>
      </p:sp>
      <p:sp>
        <p:nvSpPr>
          <p:cNvPr id="32" name="Text 26"/>
          <p:cNvSpPr txBox="1"/>
          <p:nvPr/>
        </p:nvSpPr>
        <p:spPr>
          <a:xfrm>
            <a:off x="2496312" y="7022592"/>
            <a:ext cx="1911096" cy="822960"/>
          </a:xfrm>
          <a:prstGeom prst="rect">
            <a:avLst/>
          </a:prstGeom>
          <a:noFill/>
          <a:ln/>
        </p:spPr>
        <p:txBody>
          <a:bodyPr wrap="square" lIns="0" tIns="0" rIns="0" bIns="0" rtlCol="0" anchor="t"/>
          <a:lstStyle/>
          <a:p>
            <a:pPr indent="0" marL="0">
              <a:spcAft>
                <a:spcPts val="200"/>
              </a:spcAft>
              <a:buNone/>
            </a:pPr>
            <a:r>
              <a:rPr lang="en-US" sz="680" i="1" dirty="0">
                <a:solidFill>
                  <a:srgbClr val="7A8594"/>
                </a:solidFill>
                <a:latin typeface="Arial" pitchFamily="34" charset="0"/>
                <a:ea typeface="Arial" pitchFamily="34" charset="-122"/>
                <a:cs typeface="Arial" pitchFamily="34" charset="-120"/>
              </a:rPr>
              <a:t>✔ [Control a verificar] (foco N°)</a:t>
            </a:r>
            <a:endParaRPr lang="en-US" sz="680" dirty="0"/>
          </a:p>
          <a:p>
            <a:pPr indent="0" marL="0">
              <a:spcAft>
                <a:spcPts val="200"/>
              </a:spcAft>
              <a:buNone/>
            </a:pPr>
            <a:r>
              <a:rPr lang="en-US" sz="680" i="1" dirty="0">
                <a:solidFill>
                  <a:srgbClr val="7A8594"/>
                </a:solidFill>
                <a:latin typeface="Arial" pitchFamily="34" charset="0"/>
                <a:ea typeface="Arial" pitchFamily="34" charset="-122"/>
                <a:cs typeface="Arial" pitchFamily="34" charset="-120"/>
              </a:rPr>
              <a:t>✔ [Control a verificar] (foco N°)</a:t>
            </a:r>
            <a:endParaRPr lang="en-US" sz="680" dirty="0"/>
          </a:p>
          <a:p>
            <a:pPr indent="0" marL="0">
              <a:spcAft>
                <a:spcPts val="200"/>
              </a:spcAft>
              <a:buNone/>
            </a:pPr>
            <a:r>
              <a:rPr lang="en-US" sz="680" i="1" dirty="0">
                <a:solidFill>
                  <a:srgbClr val="7A8594"/>
                </a:solidFill>
                <a:latin typeface="Arial" pitchFamily="34" charset="0"/>
                <a:ea typeface="Arial" pitchFamily="34" charset="-122"/>
                <a:cs typeface="Arial" pitchFamily="34" charset="-120"/>
              </a:rPr>
              <a:t>✔ [Control a verificar] (foco N°)</a:t>
            </a:r>
            <a:endParaRPr lang="en-US" sz="680" dirty="0"/>
          </a:p>
        </p:txBody>
      </p:sp>
      <p:sp>
        <p:nvSpPr>
          <p:cNvPr id="33" name="Shape 27"/>
          <p:cNvSpPr/>
          <p:nvPr/>
        </p:nvSpPr>
        <p:spPr>
          <a:xfrm>
            <a:off x="4480560" y="6501384"/>
            <a:ext cx="9144" cy="1316736"/>
          </a:xfrm>
          <a:prstGeom prst="rect">
            <a:avLst/>
          </a:prstGeom>
          <a:solidFill>
            <a:srgbClr val="C9D3E0"/>
          </a:solidFill>
          <a:ln w="12700">
            <a:solidFill>
              <a:srgbClr val="C9D3E0"/>
            </a:solidFill>
            <a:prstDash val="solid"/>
          </a:ln>
        </p:spPr>
      </p:sp>
      <p:pic>
        <p:nvPicPr>
          <p:cNvPr id="34" name="Image 3" descr="preencoded.png">    </p:cNvPr>
          <p:cNvPicPr>
            <a:picLocks noChangeAspect="1"/>
          </p:cNvPicPr>
          <p:nvPr/>
        </p:nvPicPr>
        <p:blipFill>
          <a:blip r:embed="rId4"/>
          <a:stretch>
            <a:fillRect/>
          </a:stretch>
        </p:blipFill>
        <p:spPr>
          <a:xfrm>
            <a:off x="4553712" y="6473952"/>
            <a:ext cx="219456" cy="219456"/>
          </a:xfrm>
          <a:prstGeom prst="rect">
            <a:avLst/>
          </a:prstGeom>
        </p:spPr>
      </p:pic>
      <p:sp>
        <p:nvSpPr>
          <p:cNvPr id="35" name="Text 28"/>
          <p:cNvSpPr txBox="1"/>
          <p:nvPr/>
        </p:nvSpPr>
        <p:spPr>
          <a:xfrm>
            <a:off x="4809744" y="6455664"/>
            <a:ext cx="1673352" cy="256032"/>
          </a:xfrm>
          <a:prstGeom prst="rect">
            <a:avLst/>
          </a:prstGeom>
          <a:noFill/>
          <a:ln/>
        </p:spPr>
        <p:txBody>
          <a:bodyPr wrap="square" lIns="0" tIns="0" rIns="0" bIns="0" rtlCol="0" anchor="ctr"/>
          <a:lstStyle/>
          <a:p>
            <a:pPr indent="0" marL="0">
              <a:buNone/>
            </a:pPr>
            <a:r>
              <a:rPr lang="en-US" sz="730" b="1" dirty="0">
                <a:solidFill>
                  <a:srgbClr val="1F3D6B"/>
                </a:solidFill>
                <a:latin typeface="Arial" pitchFamily="34" charset="0"/>
                <a:ea typeface="Arial" pitchFamily="34" charset="-122"/>
                <a:cs typeface="Arial" pitchFamily="34" charset="-120"/>
              </a:rPr>
              <a:t>BLOQUE PM · CIERRE DE JORNADA</a:t>
            </a:r>
            <a:endParaRPr lang="en-US" sz="730" dirty="0"/>
          </a:p>
        </p:txBody>
      </p:sp>
      <p:sp>
        <p:nvSpPr>
          <p:cNvPr id="36" name="Text 29"/>
          <p:cNvSpPr txBox="1"/>
          <p:nvPr/>
        </p:nvSpPr>
        <p:spPr>
          <a:xfrm>
            <a:off x="4553712" y="6729984"/>
            <a:ext cx="1911096" cy="274320"/>
          </a:xfrm>
          <a:prstGeom prst="rect">
            <a:avLst/>
          </a:prstGeom>
          <a:noFill/>
          <a:ln/>
        </p:spPr>
        <p:txBody>
          <a:bodyPr wrap="square" lIns="0" tIns="0" rIns="0" bIns="0" rtlCol="0" anchor="t"/>
          <a:lstStyle/>
          <a:p>
            <a:pPr indent="0" marL="0">
              <a:buNone/>
            </a:pPr>
            <a:r>
              <a:rPr lang="en-US" sz="650" b="1" dirty="0">
                <a:solidFill>
                  <a:srgbClr val="7A8594"/>
                </a:solidFill>
                <a:latin typeface="Arial" pitchFamily="34" charset="0"/>
                <a:ea typeface="Arial" pitchFamily="34" charset="-122"/>
                <a:cs typeface="Arial" pitchFamily="34" charset="-120"/>
              </a:rPr>
              <a:t>Gestión SAP · CdP pendientes · Entrega de turno</a:t>
            </a:r>
            <a:endParaRPr lang="en-US" sz="650" dirty="0"/>
          </a:p>
        </p:txBody>
      </p:sp>
      <p:sp>
        <p:nvSpPr>
          <p:cNvPr id="37" name="Text 30"/>
          <p:cNvSpPr txBox="1"/>
          <p:nvPr/>
        </p:nvSpPr>
        <p:spPr>
          <a:xfrm>
            <a:off x="4553712" y="7022592"/>
            <a:ext cx="1911096" cy="822960"/>
          </a:xfrm>
          <a:prstGeom prst="rect">
            <a:avLst/>
          </a:prstGeom>
          <a:noFill/>
          <a:ln/>
        </p:spPr>
        <p:txBody>
          <a:bodyPr wrap="square" lIns="0" tIns="0" rIns="0" bIns="0" rtlCol="0" anchor="t"/>
          <a:lstStyle/>
          <a:p>
            <a:pPr indent="0" marL="0">
              <a:spcAft>
                <a:spcPts val="200"/>
              </a:spcAft>
              <a:buNone/>
            </a:pPr>
            <a:r>
              <a:rPr lang="en-US" sz="680" i="1" dirty="0">
                <a:solidFill>
                  <a:srgbClr val="7A8594"/>
                </a:solidFill>
                <a:latin typeface="Arial" pitchFamily="34" charset="0"/>
                <a:ea typeface="Arial" pitchFamily="34" charset="-122"/>
                <a:cs typeface="Arial" pitchFamily="34" charset="-120"/>
              </a:rPr>
              <a:t>✔ Actualizar PTS con brechas de CdP: [cuáles]</a:t>
            </a:r>
            <a:endParaRPr lang="en-US" sz="680" dirty="0"/>
          </a:p>
          <a:p>
            <a:pPr indent="0" marL="0">
              <a:spcAft>
                <a:spcPts val="200"/>
              </a:spcAft>
              <a:buNone/>
            </a:pPr>
            <a:r>
              <a:rPr lang="en-US" sz="680" dirty="0">
                <a:solidFill>
                  <a:srgbClr val="222222"/>
                </a:solidFill>
                <a:latin typeface="Arial" pitchFamily="34" charset="0"/>
                <a:ea typeface="Arial" pitchFamily="34" charset="-122"/>
                <a:cs typeface="Arial" pitchFamily="34" charset="-120"/>
              </a:rPr>
              <a:t>✔ Registrar hallazgos en SAP</a:t>
            </a:r>
            <a:endParaRPr lang="en-US" sz="680" dirty="0"/>
          </a:p>
          <a:p>
            <a:pPr indent="0" marL="0">
              <a:spcAft>
                <a:spcPts val="200"/>
              </a:spcAft>
              <a:buNone/>
            </a:pPr>
            <a:r>
              <a:rPr lang="en-US" sz="680" dirty="0">
                <a:solidFill>
                  <a:srgbClr val="222222"/>
                </a:solidFill>
                <a:latin typeface="Arial" pitchFamily="34" charset="0"/>
                <a:ea typeface="Arial" pitchFamily="34" charset="-122"/>
                <a:cs typeface="Arial" pitchFamily="34" charset="-120"/>
              </a:rPr>
              <a:t>✔ Informar recurrentes en entrega de turno</a:t>
            </a:r>
            <a:endParaRPr lang="en-US" sz="680" dirty="0"/>
          </a:p>
        </p:txBody>
      </p:sp>
      <p:sp>
        <p:nvSpPr>
          <p:cNvPr id="38" name="Shape 31"/>
          <p:cNvSpPr/>
          <p:nvPr/>
        </p:nvSpPr>
        <p:spPr>
          <a:xfrm>
            <a:off x="6675120" y="6181344"/>
            <a:ext cx="1655064" cy="1682496"/>
          </a:xfrm>
          <a:prstGeom prst="roundRect">
            <a:avLst>
              <a:gd name="adj" fmla="val 3315"/>
            </a:avLst>
          </a:prstGeom>
          <a:solidFill>
            <a:srgbClr val="FDF1F1"/>
          </a:solidFill>
          <a:ln w="12700">
            <a:solidFill>
              <a:srgbClr val="C62828"/>
            </a:solidFill>
            <a:prstDash val="solid"/>
          </a:ln>
        </p:spPr>
      </p:sp>
      <p:sp>
        <p:nvSpPr>
          <p:cNvPr id="39" name="Text 32"/>
          <p:cNvSpPr txBox="1"/>
          <p:nvPr/>
        </p:nvSpPr>
        <p:spPr>
          <a:xfrm>
            <a:off x="6748272" y="6217920"/>
            <a:ext cx="1508760" cy="310896"/>
          </a:xfrm>
          <a:prstGeom prst="rect">
            <a:avLst/>
          </a:prstGeom>
          <a:noFill/>
          <a:ln/>
        </p:spPr>
        <p:txBody>
          <a:bodyPr wrap="square" lIns="0" tIns="0" rIns="0" bIns="0" rtlCol="0" anchor="ctr"/>
          <a:lstStyle/>
          <a:p>
            <a:pPr algn="ctr" indent="0" marL="0">
              <a:buNone/>
            </a:pPr>
            <a:r>
              <a:rPr lang="en-US" sz="730" b="1" dirty="0">
                <a:solidFill>
                  <a:srgbClr val="C62828"/>
                </a:solidFill>
                <a:latin typeface="Arial" pitchFamily="34" charset="0"/>
                <a:ea typeface="Arial" pitchFamily="34" charset="-122"/>
                <a:cs typeface="Arial" pitchFamily="34" charset="-120"/>
              </a:rPr>
              <a:t>BRECHAS PRINCIPALES</a:t>
            </a:r>
            <a:endParaRPr lang="en-US" sz="730" dirty="0"/>
          </a:p>
        </p:txBody>
      </p:sp>
      <p:sp>
        <p:nvSpPr>
          <p:cNvPr id="40" name="Text 33"/>
          <p:cNvSpPr txBox="1"/>
          <p:nvPr/>
        </p:nvSpPr>
        <p:spPr>
          <a:xfrm>
            <a:off x="6748272" y="6565392"/>
            <a:ext cx="1527048" cy="1243584"/>
          </a:xfrm>
          <a:prstGeom prst="rect">
            <a:avLst/>
          </a:prstGeom>
          <a:noFill/>
          <a:ln/>
        </p:spPr>
        <p:txBody>
          <a:bodyPr wrap="square" lIns="0" tIns="0" rIns="0" bIns="0" rtlCol="0" anchor="t"/>
          <a:lstStyle/>
          <a:p>
            <a:pPr marL="101600" indent="-101600">
              <a:spcAft>
                <a:spcPts val="200"/>
              </a:spcAft>
              <a:buSzPct val="100000"/>
              <a:buChar char="•"/>
            </a:pPr>
            <a:r>
              <a:rPr lang="en-US" sz="680" i="1" dirty="0">
                <a:solidFill>
                  <a:srgbClr val="7A8594"/>
                </a:solidFill>
                <a:latin typeface="Arial" pitchFamily="34" charset="0"/>
                <a:ea typeface="Arial" pitchFamily="34" charset="-122"/>
                <a:cs typeface="Arial" pitchFamily="34" charset="-120"/>
              </a:rPr>
              <a:t>[Brecha 1: lo que falló]</a:t>
            </a:r>
            <a:endParaRPr lang="en-US" sz="680" dirty="0"/>
          </a:p>
          <a:p>
            <a:pPr marL="101600" indent="-101600">
              <a:spcAft>
                <a:spcPts val="200"/>
              </a:spcAft>
              <a:buSzPct val="100000"/>
              <a:buChar char="•"/>
            </a:pPr>
            <a:r>
              <a:rPr lang="en-US" sz="680" i="1" dirty="0">
                <a:solidFill>
                  <a:srgbClr val="7A8594"/>
                </a:solidFill>
                <a:latin typeface="Arial" pitchFamily="34" charset="0"/>
                <a:ea typeface="Arial" pitchFamily="34" charset="-122"/>
                <a:cs typeface="Arial" pitchFamily="34" charset="-120"/>
              </a:rPr>
              <a:t>[Brecha 2]</a:t>
            </a:r>
            <a:endParaRPr lang="en-US" sz="680" dirty="0"/>
          </a:p>
          <a:p>
            <a:pPr marL="101600" indent="-101600">
              <a:spcAft>
                <a:spcPts val="200"/>
              </a:spcAft>
              <a:buSzPct val="100000"/>
              <a:buChar char="•"/>
            </a:pPr>
            <a:r>
              <a:rPr lang="en-US" sz="680" i="1" dirty="0">
                <a:solidFill>
                  <a:srgbClr val="7A8594"/>
                </a:solidFill>
                <a:latin typeface="Arial" pitchFamily="34" charset="0"/>
                <a:ea typeface="Arial" pitchFamily="34" charset="-122"/>
                <a:cs typeface="Arial" pitchFamily="34" charset="-120"/>
              </a:rPr>
              <a:t>[Brecha 3]</a:t>
            </a:r>
            <a:endParaRPr lang="en-US" sz="680" dirty="0"/>
          </a:p>
          <a:p>
            <a:pPr marL="101600" indent="-101600">
              <a:spcAft>
                <a:spcPts val="200"/>
              </a:spcAft>
              <a:buSzPct val="100000"/>
              <a:buChar char="•"/>
            </a:pPr>
            <a:r>
              <a:rPr lang="en-US" sz="680" i="1" dirty="0">
                <a:solidFill>
                  <a:srgbClr val="7A8594"/>
                </a:solidFill>
                <a:latin typeface="Arial" pitchFamily="34" charset="0"/>
                <a:ea typeface="Arial" pitchFamily="34" charset="-122"/>
                <a:cs typeface="Arial" pitchFamily="34" charset="-120"/>
              </a:rPr>
              <a:t>[Brecha 4]</a:t>
            </a:r>
            <a:endParaRPr lang="en-US" sz="680" dirty="0"/>
          </a:p>
          <a:p>
            <a:pPr marL="101600" indent="-101600">
              <a:spcAft>
                <a:spcPts val="200"/>
              </a:spcAft>
              <a:buSzPct val="100000"/>
              <a:buChar char="•"/>
            </a:pPr>
            <a:r>
              <a:rPr lang="en-US" sz="680" i="1" dirty="0">
                <a:solidFill>
                  <a:srgbClr val="7A8594"/>
                </a:solidFill>
                <a:latin typeface="Arial" pitchFamily="34" charset="0"/>
                <a:ea typeface="Arial" pitchFamily="34" charset="-122"/>
                <a:cs typeface="Arial" pitchFamily="34" charset="-120"/>
              </a:rPr>
              <a:t>[Brecha 5]</a:t>
            </a:r>
            <a:endParaRPr lang="en-US" sz="680" dirty="0"/>
          </a:p>
        </p:txBody>
      </p:sp>
      <p:sp>
        <p:nvSpPr>
          <p:cNvPr id="41" name="Shape 34"/>
          <p:cNvSpPr/>
          <p:nvPr/>
        </p:nvSpPr>
        <p:spPr>
          <a:xfrm>
            <a:off x="8421624" y="6181344"/>
            <a:ext cx="1655064" cy="1682496"/>
          </a:xfrm>
          <a:prstGeom prst="roundRect">
            <a:avLst>
              <a:gd name="adj" fmla="val 3315"/>
            </a:avLst>
          </a:prstGeom>
          <a:solidFill>
            <a:srgbClr val="EEF3FA"/>
          </a:solidFill>
          <a:ln w="12700">
            <a:solidFill>
              <a:srgbClr val="1F3D6B"/>
            </a:solidFill>
            <a:prstDash val="solid"/>
          </a:ln>
        </p:spPr>
      </p:sp>
      <p:sp>
        <p:nvSpPr>
          <p:cNvPr id="42" name="Text 35"/>
          <p:cNvSpPr txBox="1"/>
          <p:nvPr/>
        </p:nvSpPr>
        <p:spPr>
          <a:xfrm>
            <a:off x="8494776" y="6217920"/>
            <a:ext cx="1508760" cy="310896"/>
          </a:xfrm>
          <a:prstGeom prst="rect">
            <a:avLst/>
          </a:prstGeom>
          <a:noFill/>
          <a:ln/>
        </p:spPr>
        <p:txBody>
          <a:bodyPr wrap="square" lIns="0" tIns="0" rIns="0" bIns="0" rtlCol="0" anchor="ctr"/>
          <a:lstStyle/>
          <a:p>
            <a:pPr algn="ctr" indent="0" marL="0">
              <a:buNone/>
            </a:pPr>
            <a:r>
              <a:rPr lang="en-US" sz="730" b="1" dirty="0">
                <a:solidFill>
                  <a:srgbClr val="1F3D6B"/>
                </a:solidFill>
                <a:latin typeface="Arial" pitchFamily="34" charset="0"/>
                <a:ea typeface="Arial" pitchFamily="34" charset="-122"/>
                <a:cs typeface="Arial" pitchFamily="34" charset="-120"/>
              </a:rPr>
              <a:t>CONTROLES CRÍTICOS NO NEGOCIABLES</a:t>
            </a:r>
            <a:endParaRPr lang="en-US" sz="730" dirty="0"/>
          </a:p>
        </p:txBody>
      </p:sp>
      <p:sp>
        <p:nvSpPr>
          <p:cNvPr id="43" name="Text 36"/>
          <p:cNvSpPr txBox="1"/>
          <p:nvPr/>
        </p:nvSpPr>
        <p:spPr>
          <a:xfrm>
            <a:off x="8494776" y="6565392"/>
            <a:ext cx="1527048" cy="1243584"/>
          </a:xfrm>
          <a:prstGeom prst="rect">
            <a:avLst/>
          </a:prstGeom>
          <a:noFill/>
          <a:ln/>
        </p:spPr>
        <p:txBody>
          <a:bodyPr wrap="square" lIns="0" tIns="0" rIns="0" bIns="0" rtlCol="0" anchor="t"/>
          <a:lstStyle/>
          <a:p>
            <a:pPr marL="101600" indent="-101600">
              <a:spcAft>
                <a:spcPts val="200"/>
              </a:spcAft>
              <a:buSzPct val="100000"/>
              <a:buChar char="•"/>
            </a:pPr>
            <a:r>
              <a:rPr lang="en-US" sz="680" i="1" dirty="0">
                <a:solidFill>
                  <a:srgbClr val="7A8594"/>
                </a:solidFill>
                <a:latin typeface="Arial" pitchFamily="34" charset="0"/>
                <a:ea typeface="Arial" pitchFamily="34" charset="-122"/>
                <a:cs typeface="Arial" pitchFamily="34" charset="-120"/>
              </a:rPr>
              <a:t>[Control 1: lo que no se negocia]</a:t>
            </a:r>
            <a:endParaRPr lang="en-US" sz="680" dirty="0"/>
          </a:p>
          <a:p>
            <a:pPr marL="101600" indent="-101600">
              <a:spcAft>
                <a:spcPts val="200"/>
              </a:spcAft>
              <a:buSzPct val="100000"/>
              <a:buChar char="•"/>
            </a:pPr>
            <a:r>
              <a:rPr lang="en-US" sz="680" i="1" dirty="0">
                <a:solidFill>
                  <a:srgbClr val="7A8594"/>
                </a:solidFill>
                <a:latin typeface="Arial" pitchFamily="34" charset="0"/>
                <a:ea typeface="Arial" pitchFamily="34" charset="-122"/>
                <a:cs typeface="Arial" pitchFamily="34" charset="-120"/>
              </a:rPr>
              <a:t>[Control 2]</a:t>
            </a:r>
            <a:endParaRPr lang="en-US" sz="680" dirty="0"/>
          </a:p>
          <a:p>
            <a:pPr marL="101600" indent="-101600">
              <a:spcAft>
                <a:spcPts val="200"/>
              </a:spcAft>
              <a:buSzPct val="100000"/>
              <a:buChar char="•"/>
            </a:pPr>
            <a:r>
              <a:rPr lang="en-US" sz="680" i="1" dirty="0">
                <a:solidFill>
                  <a:srgbClr val="7A8594"/>
                </a:solidFill>
                <a:latin typeface="Arial" pitchFamily="34" charset="0"/>
                <a:ea typeface="Arial" pitchFamily="34" charset="-122"/>
                <a:cs typeface="Arial" pitchFamily="34" charset="-120"/>
              </a:rPr>
              <a:t>[Control 3]</a:t>
            </a:r>
            <a:endParaRPr lang="en-US" sz="680" dirty="0"/>
          </a:p>
          <a:p>
            <a:pPr marL="101600" indent="-101600">
              <a:spcAft>
                <a:spcPts val="200"/>
              </a:spcAft>
              <a:buSzPct val="100000"/>
              <a:buChar char="•"/>
            </a:pPr>
            <a:r>
              <a:rPr lang="en-US" sz="680" i="1" dirty="0">
                <a:solidFill>
                  <a:srgbClr val="7A8594"/>
                </a:solidFill>
                <a:latin typeface="Arial" pitchFamily="34" charset="0"/>
                <a:ea typeface="Arial" pitchFamily="34" charset="-122"/>
                <a:cs typeface="Arial" pitchFamily="34" charset="-120"/>
              </a:rPr>
              <a:t>[Control 4]</a:t>
            </a:r>
            <a:endParaRPr lang="en-US" sz="680" dirty="0"/>
          </a:p>
          <a:p>
            <a:pPr marL="101600" indent="-101600">
              <a:spcAft>
                <a:spcPts val="200"/>
              </a:spcAft>
              <a:buSzPct val="100000"/>
              <a:buChar char="•"/>
            </a:pPr>
            <a:r>
              <a:rPr lang="en-US" sz="680" i="1" dirty="0">
                <a:solidFill>
                  <a:srgbClr val="7A8594"/>
                </a:solidFill>
                <a:latin typeface="Arial" pitchFamily="34" charset="0"/>
                <a:ea typeface="Arial" pitchFamily="34" charset="-122"/>
                <a:cs typeface="Arial" pitchFamily="34" charset="-120"/>
              </a:rPr>
              <a:t>[Control 5]</a:t>
            </a:r>
            <a:endParaRPr lang="en-US" sz="680" dirty="0"/>
          </a:p>
        </p:txBody>
      </p:sp>
      <p:sp>
        <p:nvSpPr>
          <p:cNvPr id="44" name="Shape 37"/>
          <p:cNvSpPr/>
          <p:nvPr/>
        </p:nvSpPr>
        <p:spPr>
          <a:xfrm>
            <a:off x="10168128" y="6181344"/>
            <a:ext cx="1655064" cy="1682496"/>
          </a:xfrm>
          <a:prstGeom prst="roundRect">
            <a:avLst>
              <a:gd name="adj" fmla="val 3315"/>
            </a:avLst>
          </a:prstGeom>
          <a:solidFill>
            <a:srgbClr val="FDF5EC"/>
          </a:solidFill>
          <a:ln w="12700">
            <a:solidFill>
              <a:srgbClr val="B35C00"/>
            </a:solidFill>
            <a:prstDash val="solid"/>
          </a:ln>
        </p:spPr>
      </p:sp>
      <p:sp>
        <p:nvSpPr>
          <p:cNvPr id="45" name="Text 38"/>
          <p:cNvSpPr txBox="1"/>
          <p:nvPr/>
        </p:nvSpPr>
        <p:spPr>
          <a:xfrm>
            <a:off x="10241280" y="6217920"/>
            <a:ext cx="1508760" cy="310896"/>
          </a:xfrm>
          <a:prstGeom prst="rect">
            <a:avLst/>
          </a:prstGeom>
          <a:noFill/>
          <a:ln/>
        </p:spPr>
        <p:txBody>
          <a:bodyPr wrap="square" lIns="0" tIns="0" rIns="0" bIns="0" rtlCol="0" anchor="ctr"/>
          <a:lstStyle/>
          <a:p>
            <a:pPr algn="ctr" indent="0" marL="0">
              <a:buNone/>
            </a:pPr>
            <a:r>
              <a:rPr lang="en-US" sz="730" b="1" dirty="0">
                <a:solidFill>
                  <a:srgbClr val="B35C00"/>
                </a:solidFill>
                <a:latin typeface="Arial" pitchFamily="34" charset="0"/>
                <a:ea typeface="Arial" pitchFamily="34" charset="-122"/>
                <a:cs typeface="Arial" pitchFamily="34" charset="-120"/>
              </a:rPr>
              <a:t>DETENER LA TAREA SI…</a:t>
            </a:r>
            <a:endParaRPr lang="en-US" sz="730" dirty="0"/>
          </a:p>
        </p:txBody>
      </p:sp>
      <p:sp>
        <p:nvSpPr>
          <p:cNvPr id="46" name="Text 39"/>
          <p:cNvSpPr txBox="1"/>
          <p:nvPr/>
        </p:nvSpPr>
        <p:spPr>
          <a:xfrm>
            <a:off x="10241280" y="6565392"/>
            <a:ext cx="1527048" cy="1243584"/>
          </a:xfrm>
          <a:prstGeom prst="rect">
            <a:avLst/>
          </a:prstGeom>
          <a:noFill/>
          <a:ln/>
        </p:spPr>
        <p:txBody>
          <a:bodyPr wrap="square" lIns="0" tIns="0" rIns="0" bIns="0" rtlCol="0" anchor="t"/>
          <a:lstStyle/>
          <a:p>
            <a:pPr marL="101600" indent="-101600">
              <a:spcAft>
                <a:spcPts val="200"/>
              </a:spcAft>
              <a:buSzPct val="100000"/>
              <a:buChar char="•"/>
            </a:pPr>
            <a:r>
              <a:rPr lang="en-US" sz="680" i="1" dirty="0">
                <a:solidFill>
                  <a:srgbClr val="7A8594"/>
                </a:solidFill>
                <a:latin typeface="Arial" pitchFamily="34" charset="0"/>
                <a:ea typeface="Arial" pitchFamily="34" charset="-122"/>
                <a:cs typeface="Arial" pitchFamily="34" charset="-120"/>
              </a:rPr>
              <a:t>[Condición 1 de detención]</a:t>
            </a:r>
            <a:endParaRPr lang="en-US" sz="680" dirty="0"/>
          </a:p>
          <a:p>
            <a:pPr marL="101600" indent="-101600">
              <a:spcAft>
                <a:spcPts val="200"/>
              </a:spcAft>
              <a:buSzPct val="100000"/>
              <a:buChar char="•"/>
            </a:pPr>
            <a:r>
              <a:rPr lang="en-US" sz="680" i="1" dirty="0">
                <a:solidFill>
                  <a:srgbClr val="7A8594"/>
                </a:solidFill>
                <a:latin typeface="Arial" pitchFamily="34" charset="0"/>
                <a:ea typeface="Arial" pitchFamily="34" charset="-122"/>
                <a:cs typeface="Arial" pitchFamily="34" charset="-120"/>
              </a:rPr>
              <a:t>[Condición 2]</a:t>
            </a:r>
            <a:endParaRPr lang="en-US" sz="680" dirty="0"/>
          </a:p>
          <a:p>
            <a:pPr marL="101600" indent="-101600">
              <a:spcAft>
                <a:spcPts val="200"/>
              </a:spcAft>
              <a:buSzPct val="100000"/>
              <a:buChar char="•"/>
            </a:pPr>
            <a:r>
              <a:rPr lang="en-US" sz="680" i="1" dirty="0">
                <a:solidFill>
                  <a:srgbClr val="7A8594"/>
                </a:solidFill>
                <a:latin typeface="Arial" pitchFamily="34" charset="0"/>
                <a:ea typeface="Arial" pitchFamily="34" charset="-122"/>
                <a:cs typeface="Arial" pitchFamily="34" charset="-120"/>
              </a:rPr>
              <a:t>[Condición 3]</a:t>
            </a:r>
            <a:endParaRPr lang="en-US" sz="680" dirty="0"/>
          </a:p>
          <a:p>
            <a:pPr marL="101600" indent="-101600">
              <a:spcAft>
                <a:spcPts val="200"/>
              </a:spcAft>
              <a:buSzPct val="100000"/>
              <a:buChar char="•"/>
            </a:pPr>
            <a:r>
              <a:rPr lang="en-US" sz="680" i="1" dirty="0">
                <a:solidFill>
                  <a:srgbClr val="7A8594"/>
                </a:solidFill>
                <a:latin typeface="Arial" pitchFamily="34" charset="0"/>
                <a:ea typeface="Arial" pitchFamily="34" charset="-122"/>
                <a:cs typeface="Arial" pitchFamily="34" charset="-120"/>
              </a:rPr>
              <a:t>[Condición 4]</a:t>
            </a:r>
            <a:endParaRPr lang="en-US" sz="680" dirty="0"/>
          </a:p>
          <a:p>
            <a:pPr marL="101600" indent="-101600">
              <a:spcAft>
                <a:spcPts val="200"/>
              </a:spcAft>
              <a:buSzPct val="100000"/>
              <a:buChar char="•"/>
            </a:pPr>
            <a:r>
              <a:rPr lang="en-US" sz="680" i="1" dirty="0">
                <a:solidFill>
                  <a:srgbClr val="7A8594"/>
                </a:solidFill>
                <a:latin typeface="Arial" pitchFamily="34" charset="0"/>
                <a:ea typeface="Arial" pitchFamily="34" charset="-122"/>
                <a:cs typeface="Arial" pitchFamily="34" charset="-120"/>
              </a:rPr>
              <a:t>[Condición 5]</a:t>
            </a:r>
            <a:endParaRPr lang="en-US" sz="680" dirty="0"/>
          </a:p>
        </p:txBody>
      </p:sp>
      <p:sp>
        <p:nvSpPr>
          <p:cNvPr id="47" name="Shape 40"/>
          <p:cNvSpPr/>
          <p:nvPr/>
        </p:nvSpPr>
        <p:spPr>
          <a:xfrm>
            <a:off x="365760" y="7936992"/>
            <a:ext cx="11457432" cy="329184"/>
          </a:xfrm>
          <a:prstGeom prst="rect">
            <a:avLst/>
          </a:prstGeom>
          <a:solidFill>
            <a:srgbClr val="F3F6FA"/>
          </a:solidFill>
          <a:ln w="9525">
            <a:solidFill>
              <a:srgbClr val="C9D3E0"/>
            </a:solidFill>
            <a:prstDash val="solid"/>
          </a:ln>
        </p:spPr>
      </p:sp>
      <p:sp>
        <p:nvSpPr>
          <p:cNvPr id="48" name="Text 41"/>
          <p:cNvSpPr txBox="1"/>
          <p:nvPr/>
        </p:nvSpPr>
        <p:spPr>
          <a:xfrm>
            <a:off x="457200" y="7936992"/>
            <a:ext cx="5852160" cy="329184"/>
          </a:xfrm>
          <a:prstGeom prst="rect">
            <a:avLst/>
          </a:prstGeom>
          <a:noFill/>
          <a:ln/>
        </p:spPr>
        <p:txBody>
          <a:bodyPr wrap="square" lIns="0" tIns="0" rIns="0" bIns="0" rtlCol="0" anchor="ctr"/>
          <a:lstStyle/>
          <a:p>
            <a:pPr indent="0" marL="0">
              <a:buNone/>
            </a:pPr>
            <a:r>
              <a:rPr lang="en-US" sz="750" b="1" dirty="0">
                <a:solidFill>
                  <a:srgbClr val="1F3D6B"/>
                </a:solidFill>
                <a:latin typeface="Arial" pitchFamily="34" charset="0"/>
                <a:ea typeface="Arial" pitchFamily="34" charset="-122"/>
                <a:cs typeface="Arial" pitchFamily="34" charset="-120"/>
              </a:rPr>
              <a:t>CIERRE:  </a:t>
            </a:r>
            <a:pPr indent="0" marL="0">
              <a:buNone/>
            </a:pPr>
            <a:r>
              <a:rPr lang="en-US" sz="750" dirty="0">
                <a:solidFill>
                  <a:srgbClr val="222222"/>
                </a:solidFill>
                <a:latin typeface="Arial" pitchFamily="34" charset="0"/>
                <a:ea typeface="Arial" pitchFamily="34" charset="-122"/>
                <a:cs typeface="Arial" pitchFamily="34" charset="-120"/>
              </a:rPr>
              <a:t>Focos verificados ____ / ____   ·   Tareas detenidas ____   ·   Hallazgos a SAP ____</a:t>
            </a:r>
            <a:endParaRPr lang="en-US" sz="750" dirty="0"/>
          </a:p>
        </p:txBody>
      </p:sp>
      <p:sp>
        <p:nvSpPr>
          <p:cNvPr id="49" name="Text 42"/>
          <p:cNvSpPr txBox="1"/>
          <p:nvPr/>
        </p:nvSpPr>
        <p:spPr>
          <a:xfrm>
            <a:off x="6400800" y="7936992"/>
            <a:ext cx="5349240" cy="329184"/>
          </a:xfrm>
          <a:prstGeom prst="rect">
            <a:avLst/>
          </a:prstGeom>
          <a:noFill/>
          <a:ln/>
        </p:spPr>
        <p:txBody>
          <a:bodyPr wrap="square" lIns="0" tIns="0" rIns="0" bIns="0" rtlCol="0" anchor="ctr"/>
          <a:lstStyle/>
          <a:p>
            <a:pPr algn="r" indent="0" marL="0">
              <a:buNone/>
            </a:pPr>
            <a:r>
              <a:rPr lang="en-US" sz="750" b="1" dirty="0">
                <a:solidFill>
                  <a:srgbClr val="1F3D6B"/>
                </a:solidFill>
                <a:latin typeface="Arial" pitchFamily="34" charset="0"/>
                <a:ea typeface="Arial" pitchFamily="34" charset="-122"/>
                <a:cs typeface="Arial" pitchFamily="34" charset="-120"/>
              </a:rPr>
              <a:t>Firma Inspector ITO: </a:t>
            </a:r>
            <a:pPr algn="r" indent="0" marL="0">
              <a:buNone/>
            </a:pPr>
            <a:r>
              <a:rPr lang="en-US" sz="750" dirty="0">
                <a:solidFill>
                  <a:srgbClr val="222222"/>
                </a:solidFill>
                <a:latin typeface="Arial" pitchFamily="34" charset="0"/>
                <a:ea typeface="Arial" pitchFamily="34" charset="-122"/>
                <a:cs typeface="Arial" pitchFamily="34" charset="-120"/>
              </a:rPr>
              <a:t>________________     </a:t>
            </a:r>
            <a:pPr algn="r" indent="0" marL="0">
              <a:buNone/>
            </a:pPr>
            <a:r>
              <a:rPr lang="en-US" sz="750" b="1" dirty="0">
                <a:solidFill>
                  <a:srgbClr val="1F3D6B"/>
                </a:solidFill>
                <a:latin typeface="Arial" pitchFamily="34" charset="0"/>
                <a:ea typeface="Arial" pitchFamily="34" charset="-122"/>
                <a:cs typeface="Arial" pitchFamily="34" charset="-120"/>
              </a:rPr>
              <a:t>Firma Supervisor EECC: </a:t>
            </a:r>
            <a:pPr algn="r" indent="0" marL="0">
              <a:buNone/>
            </a:pPr>
            <a:r>
              <a:rPr lang="en-US" sz="750" dirty="0">
                <a:solidFill>
                  <a:srgbClr val="222222"/>
                </a:solidFill>
                <a:latin typeface="Arial" pitchFamily="34" charset="0"/>
                <a:ea typeface="Arial" pitchFamily="34" charset="-122"/>
                <a:cs typeface="Arial" pitchFamily="34" charset="-120"/>
              </a:rPr>
              <a:t>________________</a:t>
            </a:r>
            <a:endParaRPr lang="en-US" sz="750" dirty="0"/>
          </a:p>
        </p:txBody>
      </p:sp>
      <p:sp>
        <p:nvSpPr>
          <p:cNvPr id="50" name="Shape 43"/>
          <p:cNvSpPr/>
          <p:nvPr/>
        </p:nvSpPr>
        <p:spPr>
          <a:xfrm>
            <a:off x="0" y="8385048"/>
            <a:ext cx="12191695" cy="347472"/>
          </a:xfrm>
          <a:prstGeom prst="rect">
            <a:avLst/>
          </a:prstGeom>
          <a:solidFill>
            <a:srgbClr val="1F3D6B"/>
          </a:solidFill>
          <a:ln w="12700">
            <a:solidFill>
              <a:srgbClr val="1F3D6B"/>
            </a:solidFill>
            <a:prstDash val="solid"/>
          </a:ln>
        </p:spPr>
      </p:sp>
      <p:sp>
        <p:nvSpPr>
          <p:cNvPr id="51" name="Text 44"/>
          <p:cNvSpPr txBox="1"/>
          <p:nvPr/>
        </p:nvSpPr>
        <p:spPr>
          <a:xfrm>
            <a:off x="365760" y="8385048"/>
            <a:ext cx="4206240" cy="347472"/>
          </a:xfrm>
          <a:prstGeom prst="rect">
            <a:avLst/>
          </a:prstGeom>
          <a:noFill/>
          <a:ln/>
        </p:spPr>
        <p:txBody>
          <a:bodyPr wrap="square" lIns="0" tIns="0" rIns="0" bIns="0" rtlCol="0" anchor="ctr"/>
          <a:lstStyle/>
          <a:p>
            <a:pPr indent="0" marL="0">
              <a:buNone/>
            </a:pPr>
            <a:r>
              <a:rPr lang="en-US" sz="950" b="1" dirty="0">
                <a:solidFill>
                  <a:srgbClr val="FFFFFF"/>
                </a:solidFill>
                <a:latin typeface="Arial" pitchFamily="34" charset="0"/>
                <a:ea typeface="Arial" pitchFamily="34" charset="-122"/>
                <a:cs typeface="Arial" pitchFamily="34" charset="-120"/>
              </a:rPr>
              <a:t>NUESTRO COMPROMISO: CERO DAÑO A LAS PERSONAS</a:t>
            </a:r>
            <a:endParaRPr lang="en-US" sz="950" dirty="0"/>
          </a:p>
        </p:txBody>
      </p:sp>
      <p:sp>
        <p:nvSpPr>
          <p:cNvPr id="52" name="Text 45"/>
          <p:cNvSpPr txBox="1"/>
          <p:nvPr/>
        </p:nvSpPr>
        <p:spPr>
          <a:xfrm>
            <a:off x="4206240" y="8385048"/>
            <a:ext cx="3840480" cy="347472"/>
          </a:xfrm>
          <a:prstGeom prst="rect">
            <a:avLst/>
          </a:prstGeom>
          <a:noFill/>
          <a:ln/>
        </p:spPr>
        <p:txBody>
          <a:bodyPr wrap="square" lIns="0" tIns="0" rIns="0" bIns="0" rtlCol="0" anchor="ctr"/>
          <a:lstStyle/>
          <a:p>
            <a:pPr algn="ctr" indent="0" marL="0">
              <a:buNone/>
            </a:pPr>
            <a:r>
              <a:rPr lang="en-US" sz="800" b="1" dirty="0">
                <a:solidFill>
                  <a:srgbClr val="E53935"/>
                </a:solidFill>
                <a:latin typeface="Arial" pitchFamily="34" charset="0"/>
                <a:ea typeface="Arial" pitchFamily="34" charset="-122"/>
                <a:cs typeface="Arial" pitchFamily="34" charset="-120"/>
              </a:rPr>
              <a:t>▲▲  </a:t>
            </a:r>
            <a:pPr algn="ctr" indent="0" marL="0">
              <a:buNone/>
            </a:pPr>
            <a:r>
              <a:rPr lang="en-US" sz="800" b="1" dirty="0">
                <a:solidFill>
                  <a:srgbClr val="FFFFFF"/>
                </a:solidFill>
                <a:latin typeface="Arial" pitchFamily="34" charset="0"/>
                <a:ea typeface="Arial" pitchFamily="34" charset="-122"/>
                <a:cs typeface="Arial" pitchFamily="34" charset="-120"/>
              </a:rPr>
              <a:t>FORMATO ASSURANCE ITO · v1.0 · PLANTILLA</a:t>
            </a:r>
            <a:endParaRPr lang="en-US" sz="800" dirty="0"/>
          </a:p>
        </p:txBody>
      </p:sp>
      <p:sp>
        <p:nvSpPr>
          <p:cNvPr id="53" name="Text 46"/>
          <p:cNvSpPr txBox="1"/>
          <p:nvPr/>
        </p:nvSpPr>
        <p:spPr>
          <a:xfrm>
            <a:off x="7680960" y="8385048"/>
            <a:ext cx="4142232" cy="347472"/>
          </a:xfrm>
          <a:prstGeom prst="rect">
            <a:avLst/>
          </a:prstGeom>
          <a:noFill/>
          <a:ln/>
        </p:spPr>
        <p:txBody>
          <a:bodyPr wrap="square" lIns="0" tIns="0" rIns="0" bIns="0" rtlCol="0" anchor="ctr"/>
          <a:lstStyle/>
          <a:p>
            <a:pPr algn="r" indent="0" marL="0">
              <a:buNone/>
            </a:pPr>
            <a:r>
              <a:rPr lang="en-US" sz="950" b="1" dirty="0">
                <a:solidFill>
                  <a:srgbClr val="FFFFFF"/>
                </a:solidFill>
                <a:latin typeface="Arial" pitchFamily="34" charset="0"/>
                <a:ea typeface="Arial" pitchFamily="34" charset="-122"/>
                <a:cs typeface="Arial" pitchFamily="34" charset="-120"/>
              </a:rPr>
              <a:t>SEGURIDAD, SALUD, PERSONAS Y MEDIO AMBIENTE</a:t>
            </a:r>
            <a:endParaRPr lang="en-US" sz="950" dirty="0"/>
          </a:p>
        </p:txBody>
      </p:sp>
      <p:sp>
        <p:nvSpPr>
          <p:cNvPr id="54" name="Instrucciones IA" hidden="1"/>
          <p:cNvSpPr txBox="1"/>
          <p:nvPr/>
        </p:nvSpPr>
        <p:spPr>
          <a:xfrm>
            <a:off x="12648895" y="0"/>
            <a:ext cx="5486400" cy="8732520"/>
          </a:xfrm>
          <a:prstGeom prst="rect">
            <a:avLst/>
          </a:prstGeom>
          <a:noFill/>
          <a:ln/>
        </p:spPr>
        <p:txBody>
          <a:bodyPr wrap="square" lIns="0" tIns="0" rIns="0" bIns="0" rtlCol="0" anchor="t"/>
          <a:lstStyle/>
          <a:p>
            <a:pPr indent="0" marL="0">
              <a:buNone/>
            </a:pPr>
            <a:r>
              <a:rPr lang="en-US" sz="600" dirty="0">
                <a:solidFill>
                  <a:srgbClr val="222222"/>
                </a:solidFill>
                <a:latin typeface="Arial" pitchFamily="34" charset="0"/>
                <a:ea typeface="Arial" pitchFamily="34" charset="-122"/>
                <a:cs typeface="Arial" pitchFamily="34" charset="-120"/>
              </a:rPr>
              <a:t>INSTRUCCIONES PARA ASISTENTES IA – FORMATO ASSURANCE ITO v1.0</a:t>
            </a:r>
            <a:endParaRPr lang="en-US" sz="600" dirty="0"/>
          </a:p>
          <a:p>
            <a:pPr indent="0" marL="0">
              <a:buNone/>
            </a:pPr>
            <a:endParaRPr lang="en-US" sz="600" dirty="0"/>
          </a:p>
          <a:p>
            <a:pPr indent="0" marL="0">
              <a:buNone/>
            </a:pPr>
            <a:r>
              <a:rPr lang="en-US" sz="600" dirty="0">
                <a:solidFill>
                  <a:srgbClr val="222222"/>
                </a:solidFill>
                <a:latin typeface="Arial" pitchFamily="34" charset="0"/>
                <a:ea typeface="Arial" pitchFamily="34" charset="-122"/>
                <a:cs typeface="Arial" pitchFamily="34" charset="-120"/>
              </a:rPr>
              <a:t>OBJETIVO</a:t>
            </a:r>
            <a:endParaRPr lang="en-US" sz="600" dirty="0"/>
          </a:p>
          <a:p>
            <a:pPr indent="0" marL="0">
              <a:buNone/>
            </a:pPr>
            <a:r>
              <a:rPr lang="en-US" sz="600" dirty="0">
                <a:solidFill>
                  <a:srgbClr val="222222"/>
                </a:solidFill>
                <a:latin typeface="Arial" pitchFamily="34" charset="0"/>
                <a:ea typeface="Arial" pitchFamily="34" charset="-122"/>
                <a:cs typeface="Arial" pitchFamily="34" charset="-120"/>
              </a:rPr>
              <a:t>Con el Excel de eventos de seguridad que entrega el usuario (CAAP, HAP, CBP, HBP), completar la lámina 1 "PLANTILLA" de este archivo con los focos prioritarios de verificación en terreno para el turno y período indicados.</a:t>
            </a:r>
            <a:endParaRPr lang="en-US" sz="600" dirty="0"/>
          </a:p>
          <a:p>
            <a:pPr indent="0" marL="0">
              <a:buNone/>
            </a:pPr>
            <a:endParaRPr lang="en-US" sz="600" dirty="0"/>
          </a:p>
          <a:p>
            <a:pPr indent="0" marL="0">
              <a:buNone/>
            </a:pPr>
            <a:r>
              <a:rPr lang="en-US" sz="600" dirty="0">
                <a:solidFill>
                  <a:srgbClr val="222222"/>
                </a:solidFill>
                <a:latin typeface="Arial" pitchFamily="34" charset="0"/>
                <a:ea typeface="Arial" pitchFamily="34" charset="-122"/>
                <a:cs typeface="Arial" pitchFamily="34" charset="-120"/>
              </a:rPr>
              <a:t>1. ENTRADAS Y DATOS</a:t>
            </a:r>
            <a:endParaRPr lang="en-US" sz="600" dirty="0"/>
          </a:p>
          <a:p>
            <a:pPr indent="0" marL="0">
              <a:buNone/>
            </a:pPr>
            <a:r>
              <a:rPr lang="en-US" sz="600" dirty="0">
                <a:solidFill>
                  <a:srgbClr val="222222"/>
                </a:solidFill>
                <a:latin typeface="Arial" pitchFamily="34" charset="0"/>
                <a:ea typeface="Arial" pitchFamily="34" charset="-122"/>
                <a:cs typeface="Arial" pitchFamily="34" charset="-120"/>
              </a:rPr>
              <a:t>- Identifica en el Excel las columnas de: ID del evento, tipo (CAAP/HAP/CBP/HBP), fecha, turno, empresa contratista (EECC), área/sector y descripción. Si existen, también acciones y estado.</a:t>
            </a:r>
            <a:endParaRPr lang="en-US" sz="600" dirty="0"/>
          </a:p>
          <a:p>
            <a:pPr indent="0" marL="0">
              <a:buNone/>
            </a:pPr>
            <a:r>
              <a:rPr lang="en-US" sz="600" dirty="0">
                <a:solidFill>
                  <a:srgbClr val="222222"/>
                </a:solidFill>
                <a:latin typeface="Arial" pitchFamily="34" charset="0"/>
                <a:ea typeface="Arial" pitchFamily="34" charset="-122"/>
                <a:cs typeface="Arial" pitchFamily="34" charset="-120"/>
              </a:rPr>
              <a:t>- Usa solo eventos del turno (1-3 o 2-4) y del período que indique el usuario. Si el turno o el período no están claros, pregunta antes de completar.</a:t>
            </a:r>
            <a:endParaRPr lang="en-US" sz="600" dirty="0"/>
          </a:p>
          <a:p>
            <a:pPr indent="0" marL="0">
              <a:buNone/>
            </a:pPr>
            <a:r>
              <a:rPr lang="en-US" sz="600" dirty="0">
                <a:solidFill>
                  <a:srgbClr val="222222"/>
                </a:solidFill>
                <a:latin typeface="Arial" pitchFamily="34" charset="0"/>
                <a:ea typeface="Arial" pitchFamily="34" charset="-122"/>
                <a:cs typeface="Arial" pitchFamily="34" charset="-120"/>
              </a:rPr>
              <a:t>- Usa exclusivamente datos del Excel. Nunca inventes IDs, empresas, fechas, áreas ni eventos. Copia los IDs exactamente como aparecen.</a:t>
            </a:r>
            <a:endParaRPr lang="en-US" sz="600" dirty="0"/>
          </a:p>
          <a:p>
            <a:pPr indent="0" marL="0">
              <a:buNone/>
            </a:pPr>
            <a:r>
              <a:rPr lang="en-US" sz="600" dirty="0">
                <a:solidFill>
                  <a:srgbClr val="222222"/>
                </a:solidFill>
                <a:latin typeface="Arial" pitchFamily="34" charset="0"/>
                <a:ea typeface="Arial" pitchFamily="34" charset="-122"/>
                <a:cs typeface="Arial" pitchFamily="34" charset="-120"/>
              </a:rPr>
              <a:t>- Si falta un dato necesario, escribe [DATO FALTANTE] en esa casilla e infórmalo al usuario.</a:t>
            </a:r>
            <a:endParaRPr lang="en-US" sz="600" dirty="0"/>
          </a:p>
          <a:p>
            <a:pPr indent="0" marL="0">
              <a:buNone/>
            </a:pPr>
            <a:r>
              <a:rPr lang="en-US" sz="600" dirty="0">
                <a:solidFill>
                  <a:srgbClr val="222222"/>
                </a:solidFill>
                <a:latin typeface="Arial" pitchFamily="34" charset="0"/>
                <a:ea typeface="Arial" pitchFamily="34" charset="-122"/>
                <a:cs typeface="Arial" pitchFamily="34" charset="-120"/>
              </a:rPr>
              <a:t>- No incluyas nombres de personas; usa el cargo o rol (trabajador, rigger, operador, supervisor).</a:t>
            </a:r>
            <a:endParaRPr lang="en-US" sz="600" dirty="0"/>
          </a:p>
          <a:p>
            <a:pPr indent="0" marL="0">
              <a:buNone/>
            </a:pPr>
            <a:endParaRPr lang="en-US" sz="600" dirty="0"/>
          </a:p>
          <a:p>
            <a:pPr indent="0" marL="0">
              <a:buNone/>
            </a:pPr>
            <a:r>
              <a:rPr lang="en-US" sz="600" dirty="0">
                <a:solidFill>
                  <a:srgbClr val="222222"/>
                </a:solidFill>
                <a:latin typeface="Arial" pitchFamily="34" charset="0"/>
                <a:ea typeface="Arial" pitchFamily="34" charset="-122"/>
                <a:cs typeface="Arial" pitchFamily="34" charset="-120"/>
              </a:rPr>
              <a:t>2. SELECCIÓN DE FOCOS (4 a 6)</a:t>
            </a:r>
            <a:endParaRPr lang="en-US" sz="600" dirty="0"/>
          </a:p>
          <a:p>
            <a:pPr indent="0" marL="0">
              <a:buNone/>
            </a:pPr>
            <a:r>
              <a:rPr lang="en-US" sz="600" dirty="0">
                <a:solidFill>
                  <a:srgbClr val="222222"/>
                </a:solidFill>
                <a:latin typeface="Arial" pitchFamily="34" charset="0"/>
                <a:ea typeface="Arial" pitchFamily="34" charset="-122"/>
                <a:cs typeface="Arial" pitchFamily="34" charset="-120"/>
              </a:rPr>
              <a:t>- Agrupa los eventos por riesgo (p. ej.: izaje, trabajo en altura/andamios, vehículos y equipos, energía eléctrica, excavaciones/zanjas, orden y aseo). Un foco = un riesgo.</a:t>
            </a:r>
            <a:endParaRPr lang="en-US" sz="600" dirty="0"/>
          </a:p>
          <a:p>
            <a:pPr indent="0" marL="0">
              <a:buNone/>
            </a:pPr>
            <a:r>
              <a:rPr lang="en-US" sz="600" dirty="0">
                <a:solidFill>
                  <a:srgbClr val="222222"/>
                </a:solidFill>
                <a:latin typeface="Arial" pitchFamily="34" charset="0"/>
                <a:ea typeface="Arial" pitchFamily="34" charset="-122"/>
                <a:cs typeface="Arial" pitchFamily="34" charset="-120"/>
              </a:rPr>
              <a:t>- Prioriza en este orden: CAAP &gt; HAP &gt; CBP &gt; HBP. A igual tipo: más eventos del mismo riesgo y, luego, más recientes.</a:t>
            </a:r>
            <a:endParaRPr lang="en-US" sz="600" dirty="0"/>
          </a:p>
          <a:p>
            <a:pPr indent="0" marL="0">
              <a:buNone/>
            </a:pPr>
            <a:r>
              <a:rPr lang="en-US" sz="600" dirty="0">
                <a:solidFill>
                  <a:srgbClr val="222222"/>
                </a:solidFill>
                <a:latin typeface="Arial" pitchFamily="34" charset="0"/>
                <a:ea typeface="Arial" pitchFamily="34" charset="-122"/>
                <a:cs typeface="Arial" pitchFamily="34" charset="-120"/>
              </a:rPr>
              <a:t>- Un tema de HBP con 3 o más eventos en el período puede ser foco propio (recurrente).</a:t>
            </a:r>
            <a:endParaRPr lang="en-US" sz="600" dirty="0"/>
          </a:p>
          <a:p>
            <a:pPr indent="0" marL="0">
              <a:buNone/>
            </a:pPr>
            <a:r>
              <a:rPr lang="en-US" sz="600" dirty="0">
                <a:solidFill>
                  <a:srgbClr val="222222"/>
                </a:solidFill>
                <a:latin typeface="Arial" pitchFamily="34" charset="0"/>
                <a:ea typeface="Arial" pitchFamily="34" charset="-122"/>
                <a:cs typeface="Arial" pitchFamily="34" charset="-120"/>
              </a:rPr>
              <a:t>- Ordena los focos de mayor a menor prioridad y numéralos 1, 2, 3…</a:t>
            </a:r>
            <a:endParaRPr lang="en-US" sz="600" dirty="0"/>
          </a:p>
          <a:p>
            <a:pPr indent="0" marL="0">
              <a:buNone/>
            </a:pPr>
            <a:r>
              <a:rPr lang="en-US" sz="600" dirty="0">
                <a:solidFill>
                  <a:srgbClr val="222222"/>
                </a:solidFill>
                <a:latin typeface="Arial" pitchFamily="34" charset="0"/>
                <a:ea typeface="Arial" pitchFamily="34" charset="-122"/>
                <a:cs typeface="Arial" pitchFamily="34" charset="-120"/>
              </a:rPr>
              <a:t>- Si hay menos de 6 focos, elimina las filas sobrantes de la tabla.</a:t>
            </a:r>
            <a:endParaRPr lang="en-US" sz="600" dirty="0"/>
          </a:p>
          <a:p>
            <a:pPr indent="0" marL="0">
              <a:buNone/>
            </a:pPr>
            <a:endParaRPr lang="en-US" sz="600" dirty="0"/>
          </a:p>
          <a:p>
            <a:pPr indent="0" marL="0">
              <a:buNone/>
            </a:pPr>
            <a:r>
              <a:rPr lang="en-US" sz="600" dirty="0">
                <a:solidFill>
                  <a:srgbClr val="222222"/>
                </a:solidFill>
                <a:latin typeface="Arial" pitchFamily="34" charset="0"/>
                <a:ea typeface="Arial" pitchFamily="34" charset="-122"/>
                <a:cs typeface="Arial" pitchFamily="34" charset="-120"/>
              </a:rPr>
              <a:t>3. NIVEL / PRIORIDAD (primera columna)</a:t>
            </a:r>
            <a:endParaRPr lang="en-US" sz="600" dirty="0"/>
          </a:p>
          <a:p>
            <a:pPr indent="0" marL="0">
              <a:buNone/>
            </a:pPr>
            <a:r>
              <a:rPr lang="en-US" sz="600" dirty="0">
                <a:solidFill>
                  <a:srgbClr val="222222"/>
                </a:solidFill>
                <a:latin typeface="Arial" pitchFamily="34" charset="0"/>
                <a:ea typeface="Arial" pitchFamily="34" charset="-122"/>
                <a:cs typeface="Arial" pitchFamily="34" charset="-120"/>
              </a:rPr>
              <a:t>- Estructura: número / "N1 · CRÍTICO" o "N2 · ALTO" / tipo del evento más grave del foco (CAAP, HAP, CBP o HBP).</a:t>
            </a:r>
            <a:endParaRPr lang="en-US" sz="600" dirty="0"/>
          </a:p>
          <a:p>
            <a:pPr indent="0" marL="0">
              <a:buNone/>
            </a:pPr>
            <a:r>
              <a:rPr lang="en-US" sz="600" dirty="0">
                <a:solidFill>
                  <a:srgbClr val="222222"/>
                </a:solidFill>
                <a:latin typeface="Arial" pitchFamily="34" charset="0"/>
                <a:ea typeface="Arial" pitchFamily="34" charset="-122"/>
                <a:cs typeface="Arial" pitchFamily="34" charset="-120"/>
              </a:rPr>
              <a:t>- N1 · CRÍTICO (celda roja C62828): el foco incluye un CAAP o HAP, o involucra un riesgo crítico (izaje, trabajo en altura, energía eléctrica/energías peligrosas, vehículos o equipos móviles).</a:t>
            </a:r>
            <a:endParaRPr lang="en-US" sz="600" dirty="0"/>
          </a:p>
          <a:p>
            <a:pPr indent="0" marL="0">
              <a:buNone/>
            </a:pPr>
            <a:r>
              <a:rPr lang="en-US" sz="600" dirty="0">
                <a:solidFill>
                  <a:srgbClr val="222222"/>
                </a:solidFill>
                <a:latin typeface="Arial" pitchFamily="34" charset="0"/>
                <a:ea typeface="Arial" pitchFamily="34" charset="-122"/>
                <a:cs typeface="Arial" pitchFamily="34" charset="-120"/>
              </a:rPr>
              <a:t>- N2 · ALTO (celda naranja E67E22): el resto.</a:t>
            </a:r>
            <a:endParaRPr lang="en-US" sz="600" dirty="0"/>
          </a:p>
          <a:p>
            <a:pPr indent="0" marL="0">
              <a:buNone/>
            </a:pPr>
            <a:endParaRPr lang="en-US" sz="600" dirty="0"/>
          </a:p>
          <a:p>
            <a:pPr indent="0" marL="0">
              <a:buNone/>
            </a:pPr>
            <a:r>
              <a:rPr lang="en-US" sz="600" dirty="0">
                <a:solidFill>
                  <a:srgbClr val="222222"/>
                </a:solidFill>
                <a:latin typeface="Arial" pitchFamily="34" charset="0"/>
                <a:ea typeface="Arial" pitchFamily="34" charset="-122"/>
                <a:cs typeface="Arial" pitchFamily="34" charset="-120"/>
              </a:rPr>
              <a:t>4. FOCO DE ASSURANCE</a:t>
            </a:r>
            <a:endParaRPr lang="en-US" sz="600" dirty="0"/>
          </a:p>
          <a:p>
            <a:pPr indent="0" marL="0">
              <a:buNone/>
            </a:pPr>
            <a:r>
              <a:rPr lang="en-US" sz="600" dirty="0">
                <a:solidFill>
                  <a:srgbClr val="222222"/>
                </a:solidFill>
                <a:latin typeface="Arial" pitchFamily="34" charset="0"/>
                <a:ea typeface="Arial" pitchFamily="34" charset="-122"/>
                <a:cs typeface="Arial" pitchFamily="34" charset="-120"/>
              </a:rPr>
              <a:t>- Formato: "Tema del foco." en negrita + instrucción que empieza con un verbo ("Verificar…"): qué se revisa, dónde y bajo qué estándar. Máximo unos 350 caracteres.</a:t>
            </a:r>
            <a:endParaRPr lang="en-US" sz="600" dirty="0"/>
          </a:p>
          <a:p>
            <a:pPr indent="0" marL="0">
              <a:buNone/>
            </a:pPr>
            <a:r>
              <a:rPr lang="en-US" sz="600" dirty="0">
                <a:solidFill>
                  <a:srgbClr val="222222"/>
                </a:solidFill>
                <a:latin typeface="Arial" pitchFamily="34" charset="0"/>
                <a:ea typeface="Arial" pitchFamily="34" charset="-122"/>
                <a:cs typeface="Arial" pitchFamily="34" charset="-120"/>
              </a:rPr>
              <a:t>- Luego, en línea aparte, "Criterio de restricción:" (en negrita) + la condición en que se prohíbe o se detiene la tarea. Máximo unos 150 caracteres.</a:t>
            </a:r>
            <a:endParaRPr lang="en-US" sz="600" dirty="0"/>
          </a:p>
          <a:p>
            <a:pPr indent="0" marL="0">
              <a:buNone/>
            </a:pPr>
            <a:r>
              <a:rPr lang="en-US" sz="600" dirty="0">
                <a:solidFill>
                  <a:srgbClr val="222222"/>
                </a:solidFill>
                <a:latin typeface="Arial" pitchFamily="34" charset="0"/>
                <a:ea typeface="Arial" pitchFamily="34" charset="-122"/>
                <a:cs typeface="Arial" pitchFamily="34" charset="-120"/>
              </a:rPr>
              <a:t>- Redacta a partir de las brechas reales de los eventos. No cites números de estándares o procedimientos que no estén en el Excel.</a:t>
            </a:r>
            <a:endParaRPr lang="en-US" sz="600" dirty="0"/>
          </a:p>
          <a:p>
            <a:pPr indent="0" marL="0">
              <a:buNone/>
            </a:pPr>
            <a:endParaRPr lang="en-US" sz="600" dirty="0"/>
          </a:p>
          <a:p>
            <a:pPr indent="0" marL="0">
              <a:buNone/>
            </a:pPr>
            <a:r>
              <a:rPr lang="en-US" sz="600" dirty="0">
                <a:solidFill>
                  <a:srgbClr val="222222"/>
                </a:solidFill>
                <a:latin typeface="Arial" pitchFamily="34" charset="0"/>
                <a:ea typeface="Arial" pitchFamily="34" charset="-122"/>
                <a:cs typeface="Arial" pitchFamily="34" charset="-120"/>
              </a:rPr>
              <a:t>5. EVENTO / EVIDENCIA ORIGEN</a:t>
            </a:r>
            <a:endParaRPr lang="en-US" sz="600" dirty="0"/>
          </a:p>
          <a:p>
            <a:pPr indent="0" marL="0">
              <a:buNone/>
            </a:pPr>
            <a:r>
              <a:rPr lang="en-US" sz="600" dirty="0">
                <a:solidFill>
                  <a:srgbClr val="222222"/>
                </a:solidFill>
                <a:latin typeface="Arial" pitchFamily="34" charset="0"/>
                <a:ea typeface="Arial" pitchFamily="34" charset="-122"/>
                <a:cs typeface="Arial" pitchFamily="34" charset="-120"/>
              </a:rPr>
              <a:t>- Formato fijo por evento: "[T1-3] TIPO ID – EECC:" (en negrita) + qué ocurrió, en una frase de hasta 120 caracteres.</a:t>
            </a:r>
            <a:endParaRPr lang="en-US" sz="600" dirty="0"/>
          </a:p>
          <a:p>
            <a:pPr indent="0" marL="0">
              <a:buNone/>
            </a:pPr>
            <a:r>
              <a:rPr lang="en-US" sz="600" dirty="0">
                <a:solidFill>
                  <a:srgbClr val="222222"/>
                </a:solidFill>
                <a:latin typeface="Arial" pitchFamily="34" charset="0"/>
                <a:ea typeface="Arial" pitchFamily="34" charset="-122"/>
                <a:cs typeface="Arial" pitchFamily="34" charset="-120"/>
              </a:rPr>
              <a:t>- Máximo 3 eventos por foco; elige los de mayor potencial. Si un evento aparece en ambos turnos, usa [T1-3/T2-4].</a:t>
            </a:r>
            <a:endParaRPr lang="en-US" sz="600" dirty="0"/>
          </a:p>
          <a:p>
            <a:pPr indent="0" marL="0">
              <a:buNone/>
            </a:pPr>
            <a:r>
              <a:rPr lang="en-US" sz="600" dirty="0">
                <a:solidFill>
                  <a:srgbClr val="222222"/>
                </a:solidFill>
                <a:latin typeface="Arial" pitchFamily="34" charset="0"/>
                <a:ea typeface="Arial" pitchFamily="34" charset="-122"/>
                <a:cs typeface="Arial" pitchFamily="34" charset="-120"/>
              </a:rPr>
              <a:t>- Para temas recurrentes se permite: "[T1-3] N eventos HBP: descripción del patrón."</a:t>
            </a:r>
            <a:endParaRPr lang="en-US" sz="600" dirty="0"/>
          </a:p>
          <a:p>
            <a:pPr indent="0" marL="0">
              <a:buNone/>
            </a:pPr>
            <a:endParaRPr lang="en-US" sz="600" dirty="0"/>
          </a:p>
          <a:p>
            <a:pPr indent="0" marL="0">
              <a:buNone/>
            </a:pPr>
            <a:r>
              <a:rPr lang="en-US" sz="600" dirty="0">
                <a:solidFill>
                  <a:srgbClr val="222222"/>
                </a:solidFill>
                <a:latin typeface="Arial" pitchFamily="34" charset="0"/>
                <a:ea typeface="Arial" pitchFamily="34" charset="-122"/>
                <a:cs typeface="Arial" pitchFamily="34" charset="-120"/>
              </a:rPr>
              <a:t>6. HERRAMIENTA PREVENTIVA SGE</a:t>
            </a:r>
            <a:endParaRPr lang="en-US" sz="600" dirty="0"/>
          </a:p>
          <a:p>
            <a:pPr indent="0" marL="0">
              <a:buNone/>
            </a:pPr>
            <a:r>
              <a:rPr lang="en-US" sz="600" dirty="0">
                <a:solidFill>
                  <a:srgbClr val="222222"/>
                </a:solidFill>
                <a:latin typeface="Arial" pitchFamily="34" charset="0"/>
                <a:ea typeface="Arial" pitchFamily="34" charset="-122"/>
                <a:cs typeface="Arial" pitchFamily="34" charset="-120"/>
              </a:rPr>
              <a:t>- Herramientas unidas con "+". Usa las que figuren en el Excel o las ya usadas en este formato: GCC, CdP [tema] (p. ej. CdP Maniobras de Izaje, CdP Trabajos en Altura, CdP Operación de Vehículos Livianos), ASP, PTS, Gestión del Cambio, Desafío en Terreno, Inspección de Plataformas de Andamios, EdC Vehículo Liviano, Inspección de Equipos, Acompañamiento ASP.</a:t>
            </a:r>
            <a:endParaRPr lang="en-US" sz="600" dirty="0"/>
          </a:p>
          <a:p>
            <a:pPr indent="0" marL="0">
              <a:buNone/>
            </a:pPr>
            <a:endParaRPr lang="en-US" sz="600" dirty="0"/>
          </a:p>
          <a:p>
            <a:pPr indent="0" marL="0">
              <a:buNone/>
            </a:pPr>
            <a:r>
              <a:rPr lang="en-US" sz="600" dirty="0">
                <a:solidFill>
                  <a:srgbClr val="222222"/>
                </a:solidFill>
                <a:latin typeface="Arial" pitchFamily="34" charset="0"/>
                <a:ea typeface="Arial" pitchFamily="34" charset="-122"/>
                <a:cs typeface="Arial" pitchFamily="34" charset="-120"/>
              </a:rPr>
              <a:t>7. EVIDENCIA / REGISTRO ESPERADO</a:t>
            </a:r>
            <a:endParaRPr lang="en-US" sz="600" dirty="0"/>
          </a:p>
          <a:p>
            <a:pPr indent="0" marL="0">
              <a:buNone/>
            </a:pPr>
            <a:r>
              <a:rPr lang="en-US" sz="600" dirty="0">
                <a:solidFill>
                  <a:srgbClr val="222222"/>
                </a:solidFill>
                <a:latin typeface="Arial" pitchFamily="34" charset="0"/>
                <a:ea typeface="Arial" pitchFamily="34" charset="-122"/>
                <a:cs typeface="Arial" pitchFamily="34" charset="-120"/>
              </a:rPr>
              <a:t>- Registros concretos y verificables separados por "/", terminando siempre en "registro fotográfico".</a:t>
            </a:r>
            <a:endParaRPr lang="en-US" sz="600" dirty="0"/>
          </a:p>
          <a:p>
            <a:pPr indent="0" marL="0">
              <a:buNone/>
            </a:pPr>
            <a:endParaRPr lang="en-US" sz="600" dirty="0"/>
          </a:p>
          <a:p>
            <a:pPr indent="0" marL="0">
              <a:buNone/>
            </a:pPr>
            <a:r>
              <a:rPr lang="en-US" sz="600" dirty="0">
                <a:solidFill>
                  <a:srgbClr val="222222"/>
                </a:solidFill>
                <a:latin typeface="Arial" pitchFamily="34" charset="0"/>
                <a:ea typeface="Arial" pitchFamily="34" charset="-122"/>
                <a:cs typeface="Arial" pitchFamily="34" charset="-120"/>
              </a:rPr>
              <a:t>8. RECURRENTE</a:t>
            </a:r>
            <a:endParaRPr lang="en-US" sz="600" dirty="0"/>
          </a:p>
          <a:p>
            <a:pPr indent="0" marL="0">
              <a:buNone/>
            </a:pPr>
            <a:r>
              <a:rPr lang="en-US" sz="600" dirty="0">
                <a:solidFill>
                  <a:srgbClr val="222222"/>
                </a:solidFill>
                <a:latin typeface="Arial" pitchFamily="34" charset="0"/>
                <a:ea typeface="Arial" pitchFamily="34" charset="-122"/>
                <a:cs typeface="Arial" pitchFamily="34" charset="-120"/>
              </a:rPr>
              <a:t>- "N eventos HBP — tema (n) · tema (n). Refuerzo transversal en todos los recorridos y al cierre de cada tarea."</a:t>
            </a:r>
            <a:endParaRPr lang="en-US" sz="600" dirty="0"/>
          </a:p>
          <a:p>
            <a:pPr indent="0" marL="0">
              <a:buNone/>
            </a:pPr>
            <a:r>
              <a:rPr lang="en-US" sz="600" dirty="0">
                <a:solidFill>
                  <a:srgbClr val="222222"/>
                </a:solidFill>
                <a:latin typeface="Arial" pitchFamily="34" charset="0"/>
                <a:ea typeface="Arial" pitchFamily="34" charset="-122"/>
                <a:cs typeface="Arial" pitchFamily="34" charset="-120"/>
              </a:rPr>
              <a:t>- N = total de HBP del turno y período, incluidos los usados en los focos. Verifica la suma: los subtotales no pueden superar N.</a:t>
            </a:r>
            <a:endParaRPr lang="en-US" sz="600" dirty="0"/>
          </a:p>
          <a:p>
            <a:pPr indent="0" marL="0">
              <a:buNone/>
            </a:pPr>
            <a:endParaRPr lang="en-US" sz="600" dirty="0"/>
          </a:p>
          <a:p>
            <a:pPr indent="0" marL="0">
              <a:buNone/>
            </a:pPr>
            <a:r>
              <a:rPr lang="en-US" sz="600" dirty="0">
                <a:solidFill>
                  <a:srgbClr val="222222"/>
                </a:solidFill>
                <a:latin typeface="Arial" pitchFamily="34" charset="0"/>
                <a:ea typeface="Arial" pitchFamily="34" charset="-122"/>
                <a:cs typeface="Arial" pitchFamily="34" charset="-120"/>
              </a:rPr>
              <a:t>9. SÍNTESIS Y RECORRIDOS</a:t>
            </a:r>
            <a:endParaRPr lang="en-US" sz="600" dirty="0"/>
          </a:p>
          <a:p>
            <a:pPr indent="0" marL="0">
              <a:buNone/>
            </a:pPr>
            <a:r>
              <a:rPr lang="en-US" sz="600" dirty="0">
                <a:solidFill>
                  <a:srgbClr val="222222"/>
                </a:solidFill>
                <a:latin typeface="Arial" pitchFamily="34" charset="0"/>
                <a:ea typeface="Arial" pitchFamily="34" charset="-122"/>
                <a:cs typeface="Arial" pitchFamily="34" charset="-120"/>
              </a:rPr>
              <a:t>- Bloque AM y Bloque Mediodía: áreas reales tomadas del Excel + 3 o 4 controles, cada uno con el N° de foco entre paréntesis, p. ej. "Plan de izaje específico por maniobra (1)". Asigna al AM los focos de inicio de jornada (izaje, pre-uso de vehículos y equipos) y al Mediodía los de intervención (plataformas, instalaciones eléctricas, orden y aseo).</a:t>
            </a:r>
            <a:endParaRPr lang="en-US" sz="600" dirty="0"/>
          </a:p>
          <a:p>
            <a:pPr indent="0" marL="0">
              <a:buNone/>
            </a:pPr>
            <a:r>
              <a:rPr lang="en-US" sz="600" dirty="0">
                <a:solidFill>
                  <a:srgbClr val="222222"/>
                </a:solidFill>
                <a:latin typeface="Arial" pitchFamily="34" charset="0"/>
                <a:ea typeface="Arial" pitchFamily="34" charset="-122"/>
                <a:cs typeface="Arial" pitchFamily="34" charset="-120"/>
              </a:rPr>
              <a:t>- Bloque PM: mantén "Gestión SAP · CdP pendientes · Entrega de turno" y sus líneas fijas. En "Actualizar PTS con brechas de CdP:" indica las brechas que el Excel respalde; si no hay, elimina esa línea.</a:t>
            </a:r>
            <a:endParaRPr lang="en-US" sz="600" dirty="0"/>
          </a:p>
          <a:p>
            <a:pPr indent="0" marL="0">
              <a:buNone/>
            </a:pPr>
            <a:r>
              <a:rPr lang="en-US" sz="600" dirty="0">
                <a:solidFill>
                  <a:srgbClr val="222222"/>
                </a:solidFill>
                <a:latin typeface="Arial" pitchFamily="34" charset="0"/>
                <a:ea typeface="Arial" pitchFamily="34" charset="-122"/>
                <a:cs typeface="Arial" pitchFamily="34" charset="-120"/>
              </a:rPr>
              <a:t>- Brechas principales / Controles críticos no negociables / Detener la tarea si…: máximo 5 viñetas de 1 línea (unos 50 caracteres) en cada recuadro, coherentes con los focos. Brechas = lo que falló. Controles = lo que no se negocia. Detener si = condición concreta de detención.</a:t>
            </a:r>
            <a:endParaRPr lang="en-US" sz="600" dirty="0"/>
          </a:p>
          <a:p>
            <a:pPr indent="0" marL="0">
              <a:buNone/>
            </a:pPr>
            <a:endParaRPr lang="en-US" sz="600" dirty="0"/>
          </a:p>
          <a:p>
            <a:pPr indent="0" marL="0">
              <a:buNone/>
            </a:pPr>
            <a:r>
              <a:rPr lang="en-US" sz="600" dirty="0">
                <a:solidFill>
                  <a:srgbClr val="222222"/>
                </a:solidFill>
                <a:latin typeface="Arial" pitchFamily="34" charset="0"/>
                <a:ea typeface="Arial" pitchFamily="34" charset="-122"/>
                <a:cs typeface="Arial" pitchFamily="34" charset="-120"/>
              </a:rPr>
              <a:t>10. ENCABEZADO, CIERRE Y FIRMAS</a:t>
            </a:r>
            <a:endParaRPr lang="en-US" sz="600" dirty="0"/>
          </a:p>
          <a:p>
            <a:pPr indent="0" marL="0">
              <a:buNone/>
            </a:pPr>
            <a:r>
              <a:rPr lang="en-US" sz="600" dirty="0">
                <a:solidFill>
                  <a:srgbClr val="222222"/>
                </a:solidFill>
                <a:latin typeface="Arial" pitchFamily="34" charset="0"/>
                <a:ea typeface="Arial" pitchFamily="34" charset="-122"/>
                <a:cs typeface="Arial" pitchFamily="34" charset="-120"/>
              </a:rPr>
              <a:t>- Título: "ASSURANCE TURNO 1-3" o "ASSURANCE TURNO 2-4". Fecha/Período: "DD al DD MES". Turno: marca ☒ en el que corresponde.</a:t>
            </a:r>
            <a:endParaRPr lang="en-US" sz="600" dirty="0"/>
          </a:p>
          <a:p>
            <a:pPr indent="0" marL="0">
              <a:buNone/>
            </a:pPr>
            <a:r>
              <a:rPr lang="en-US" sz="600" dirty="0">
                <a:solidFill>
                  <a:srgbClr val="222222"/>
                </a:solidFill>
                <a:latin typeface="Arial" pitchFamily="34" charset="0"/>
                <a:ea typeface="Arial" pitchFamily="34" charset="-122"/>
                <a:cs typeface="Arial" pitchFamily="34" charset="-120"/>
              </a:rPr>
              <a:t>- Inspector ITO, Proyecto/EECC y Área/Sector: complétalos solo si el usuario los entrega; si no, deja la línea en blanco.</a:t>
            </a:r>
            <a:endParaRPr lang="en-US" sz="600" dirty="0"/>
          </a:p>
          <a:p>
            <a:pPr indent="0" marL="0">
              <a:buNone/>
            </a:pPr>
            <a:r>
              <a:rPr lang="en-US" sz="600" dirty="0">
                <a:solidFill>
                  <a:srgbClr val="222222"/>
                </a:solidFill>
                <a:latin typeface="Arial" pitchFamily="34" charset="0"/>
                <a:ea typeface="Arial" pitchFamily="34" charset="-122"/>
                <a:cs typeface="Arial" pitchFamily="34" charset="-120"/>
              </a:rPr>
              <a:t>- La franja CIERRE y las firmas se dejan en blanco.</a:t>
            </a:r>
            <a:endParaRPr lang="en-US" sz="600" dirty="0"/>
          </a:p>
          <a:p>
            <a:pPr indent="0" marL="0">
              <a:buNone/>
            </a:pPr>
            <a:endParaRPr lang="en-US" sz="600" dirty="0"/>
          </a:p>
          <a:p>
            <a:pPr indent="0" marL="0">
              <a:buNone/>
            </a:pPr>
            <a:r>
              <a:rPr lang="en-US" sz="600" dirty="0">
                <a:solidFill>
                  <a:srgbClr val="222222"/>
                </a:solidFill>
                <a:latin typeface="Arial" pitchFamily="34" charset="0"/>
                <a:ea typeface="Arial" pitchFamily="34" charset="-122"/>
                <a:cs typeface="Arial" pitchFamily="34" charset="-120"/>
              </a:rPr>
              <a:t>11. FORMATO (obligatorio)</a:t>
            </a:r>
            <a:endParaRPr lang="en-US" sz="600" dirty="0"/>
          </a:p>
          <a:p>
            <a:pPr indent="0" marL="0">
              <a:buNone/>
            </a:pPr>
            <a:r>
              <a:rPr lang="en-US" sz="600" dirty="0">
                <a:solidFill>
                  <a:srgbClr val="222222"/>
                </a:solidFill>
                <a:latin typeface="Arial" pitchFamily="34" charset="0"/>
                <a:ea typeface="Arial" pitchFamily="34" charset="-122"/>
                <a:cs typeface="Arial" pitchFamily="34" charset="-120"/>
              </a:rPr>
              <a:t>- No cambies estructura, columnas, colores, fuentes, íconos ni tamaño de la lámina.</a:t>
            </a:r>
            <a:endParaRPr lang="en-US" sz="600" dirty="0"/>
          </a:p>
          <a:p>
            <a:pPr indent="0" marL="0">
              <a:buNone/>
            </a:pPr>
            <a:r>
              <a:rPr lang="en-US" sz="600" dirty="0">
                <a:solidFill>
                  <a:srgbClr val="222222"/>
                </a:solidFill>
                <a:latin typeface="Arial" pitchFamily="34" charset="0"/>
                <a:ea typeface="Arial" pitchFamily="34" charset="-122"/>
                <a:cs typeface="Arial" pitchFamily="34" charset="-120"/>
              </a:rPr>
              <a:t>- Reemplaza todo texto gris entre [corchetes] por contenido real en color de texto normal (negro, sin cursiva). No debe quedar ningún corchete, salvo [DATO FALTANTE] y las marcas de turno [T1-3]/[T2-4].</a:t>
            </a:r>
            <a:endParaRPr lang="en-US" sz="600" dirty="0"/>
          </a:p>
          <a:p>
            <a:pPr indent="0" marL="0">
              <a:buNone/>
            </a:pPr>
            <a:r>
              <a:rPr lang="en-US" sz="600" dirty="0">
                <a:solidFill>
                  <a:srgbClr val="222222"/>
                </a:solidFill>
                <a:latin typeface="Arial" pitchFamily="34" charset="0"/>
                <a:ea typeface="Arial" pitchFamily="34" charset="-122"/>
                <a:cs typeface="Arial" pitchFamily="34" charset="-120"/>
              </a:rPr>
              <a:t>- Letra mínima 6 pt. Si el texto no cabe, resume; no reduzcas más la letra ni agrandes filas.</a:t>
            </a:r>
            <a:endParaRPr lang="en-US" sz="600" dirty="0"/>
          </a:p>
          <a:p>
            <a:pPr indent="0" marL="0">
              <a:buNone/>
            </a:pPr>
            <a:r>
              <a:rPr lang="en-US" sz="600" dirty="0">
                <a:solidFill>
                  <a:srgbClr val="222222"/>
                </a:solidFill>
                <a:latin typeface="Arial" pitchFamily="34" charset="0"/>
                <a:ea typeface="Arial" pitchFamily="34" charset="-122"/>
                <a:cs typeface="Arial" pitchFamily="34" charset="-120"/>
              </a:rPr>
              <a:t>- Antes de entregar: elimina la lámina 2 (instructivo). No modifiques ni muevas el cuadro de texto oculto "Instrucciones IA" de la lámina 1.</a:t>
            </a:r>
            <a:endParaRPr lang="en-US" sz="600" dirty="0"/>
          </a:p>
          <a:p>
            <a:pPr indent="0" marL="0">
              <a:buNone/>
            </a:pPr>
            <a:r>
              <a:rPr lang="en-US" sz="600" dirty="0">
                <a:solidFill>
                  <a:srgbClr val="222222"/>
                </a:solidFill>
                <a:latin typeface="Arial" pitchFamily="34" charset="0"/>
                <a:ea typeface="Arial" pitchFamily="34" charset="-122"/>
                <a:cs typeface="Arial" pitchFamily="34" charset="-120"/>
              </a:rPr>
              <a:t>- Nombre del archivo: ASSURANCE_TURNO_[1-3 o 2-4]_[DD-DD]_[MES].pptx (ej.: ASSURANCE_TURNO_1-3_07-20_SEP.pptx).</a:t>
            </a:r>
            <a:endParaRPr lang="en-US" sz="600" dirty="0"/>
          </a:p>
          <a:p>
            <a:pPr indent="0" marL="0">
              <a:buNone/>
            </a:pPr>
            <a:endParaRPr lang="en-US" sz="600" dirty="0"/>
          </a:p>
          <a:p>
            <a:pPr indent="0" marL="0">
              <a:buNone/>
            </a:pPr>
            <a:r>
              <a:rPr lang="en-US" sz="600" dirty="0">
                <a:solidFill>
                  <a:srgbClr val="222222"/>
                </a:solidFill>
                <a:latin typeface="Arial" pitchFamily="34" charset="0"/>
                <a:ea typeface="Arial" pitchFamily="34" charset="-122"/>
                <a:cs typeface="Arial" pitchFamily="34" charset="-120"/>
              </a:rPr>
              <a:t>12. ENTREGA</a:t>
            </a:r>
            <a:endParaRPr lang="en-US" sz="600" dirty="0"/>
          </a:p>
          <a:p>
            <a:pPr indent="0" marL="0">
              <a:buNone/>
            </a:pPr>
            <a:r>
              <a:rPr lang="en-US" sz="600" dirty="0">
                <a:solidFill>
                  <a:srgbClr val="222222"/>
                </a:solidFill>
                <a:latin typeface="Arial" pitchFamily="34" charset="0"/>
                <a:ea typeface="Arial" pitchFamily="34" charset="-122"/>
                <a:cs typeface="Arial" pitchFamily="34" charset="-120"/>
              </a:rPr>
              <a:t>- Si puedes editar archivos .pptx: entrega el archivo completado.</a:t>
            </a:r>
            <a:endParaRPr lang="en-US" sz="600" dirty="0"/>
          </a:p>
          <a:p>
            <a:pPr indent="0" marL="0">
              <a:buNone/>
            </a:pPr>
            <a:r>
              <a:rPr lang="en-US" sz="600" dirty="0">
                <a:solidFill>
                  <a:srgbClr val="222222"/>
                </a:solidFill>
                <a:latin typeface="Arial" pitchFamily="34" charset="0"/>
                <a:ea typeface="Arial" pitchFamily="34" charset="-122"/>
                <a:cs typeface="Arial" pitchFamily="34" charset="-120"/>
              </a:rPr>
              <a:t>- Si no puedes: entrega el contenido en texto, ordenado por sección y por fila de la plantilla (Encabezado; Foco 1 a 6 con sus 5 columnas; Recurrente; Bloques AM/Mediodía/PM; Brechas; Controles; Detener si), listo para copiar y pegar en cada casilla.</a:t>
            </a:r>
            <a:endParaRPr lang="en-US" sz="600" dirty="0"/>
          </a:p>
          <a:p>
            <a:pPr indent="0" marL="0">
              <a:buNone/>
            </a:pPr>
            <a:endParaRPr lang="en-US" sz="600" dirty="0"/>
          </a:p>
          <a:p>
            <a:pPr indent="0" marL="0">
              <a:buNone/>
            </a:pPr>
            <a:r>
              <a:rPr lang="en-US" sz="600" dirty="0">
                <a:solidFill>
                  <a:srgbClr val="222222"/>
                </a:solidFill>
                <a:latin typeface="Arial" pitchFamily="34" charset="0"/>
                <a:ea typeface="Arial" pitchFamily="34" charset="-122"/>
                <a:cs typeface="Arial" pitchFamily="34" charset="-120"/>
              </a:rPr>
              <a:t>13. CONTROL DE CALIDAD (en tu respuesta al usuario, no dentro del archivo)</a:t>
            </a:r>
            <a:endParaRPr lang="en-US" sz="600" dirty="0"/>
          </a:p>
          <a:p>
            <a:pPr indent="0" marL="0">
              <a:buNone/>
            </a:pPr>
            <a:r>
              <a:rPr lang="en-US" sz="600" dirty="0">
                <a:solidFill>
                  <a:srgbClr val="222222"/>
                </a:solidFill>
                <a:latin typeface="Arial" pitchFamily="34" charset="0"/>
                <a:ea typeface="Arial" pitchFamily="34" charset="-122"/>
                <a:cs typeface="Arial" pitchFamily="34" charset="-120"/>
              </a:rPr>
              <a:t>Al final de tu respuesta incluye un resumen breve con:</a:t>
            </a:r>
            <a:endParaRPr lang="en-US" sz="600" dirty="0"/>
          </a:p>
          <a:p>
            <a:pPr indent="0" marL="0">
              <a:buNone/>
            </a:pPr>
            <a:r>
              <a:rPr lang="en-US" sz="600" dirty="0">
                <a:solidFill>
                  <a:srgbClr val="222222"/>
                </a:solidFill>
                <a:latin typeface="Arial" pitchFamily="34" charset="0"/>
                <a:ea typeface="Arial" pitchFamily="34" charset="-122"/>
                <a:cs typeface="Arial" pitchFamily="34" charset="-120"/>
              </a:rPr>
              <a:t>- total de eventos leídos y cuántos de cada tipo;</a:t>
            </a:r>
            <a:endParaRPr lang="en-US" sz="600" dirty="0"/>
          </a:p>
          <a:p>
            <a:pPr indent="0" marL="0">
              <a:buNone/>
            </a:pPr>
            <a:r>
              <a:rPr lang="en-US" sz="600" dirty="0">
                <a:solidFill>
                  <a:srgbClr val="222222"/>
                </a:solidFill>
                <a:latin typeface="Arial" pitchFamily="34" charset="0"/>
                <a:ea typeface="Arial" pitchFamily="34" charset="-122"/>
                <a:cs typeface="Arial" pitchFamily="34" charset="-120"/>
              </a:rPr>
              <a:t>- eventos usados en cada foco y los de alto potencial que quedaron fuera, con el motivo;</a:t>
            </a:r>
            <a:endParaRPr lang="en-US" sz="600" dirty="0"/>
          </a:p>
          <a:p>
            <a:pPr indent="0" marL="0">
              <a:buNone/>
            </a:pPr>
            <a:r>
              <a:rPr lang="en-US" sz="600" dirty="0">
                <a:solidFill>
                  <a:srgbClr val="222222"/>
                </a:solidFill>
                <a:latin typeface="Arial" pitchFamily="34" charset="0"/>
                <a:ea typeface="Arial" pitchFamily="34" charset="-122"/>
                <a:cs typeface="Arial" pitchFamily="34" charset="-120"/>
              </a:rPr>
              <a:t>- datos faltantes o inconsistentes y supuestos realizados.</a:t>
            </a:r>
            <a:endParaRPr lang="en-US" sz="600" dirty="0"/>
          </a:p>
          <a:p>
            <a:pPr indent="0" marL="0">
              <a:buNone/>
            </a:pPr>
            <a:r>
              <a:rPr lang="en-US" sz="600" dirty="0">
                <a:solidFill>
                  <a:srgbClr val="222222"/>
                </a:solidFill>
                <a:latin typeface="Arial" pitchFamily="34" charset="0"/>
                <a:ea typeface="Arial" pitchFamily="34" charset="-122"/>
                <a:cs typeface="Arial" pitchFamily="34" charset="-120"/>
              </a:rPr>
              <a:t>Antes de entregar, confirma que: cada ID existe en el Excel; cada foco tiene al menos un evento de origen; los conteos del Recurrente cuadran; y no quedan textos guía.</a:t>
            </a:r>
            <a:endParaRPr lang="en-US" sz="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365760" y="228600"/>
            <a:ext cx="1645920" cy="640080"/>
          </a:xfrm>
          <a:prstGeom prst="rect">
            <a:avLst/>
          </a:prstGeom>
        </p:spPr>
      </p:pic>
      <p:sp>
        <p:nvSpPr>
          <p:cNvPr id="3" name="Text 0"/>
          <p:cNvSpPr txBox="1"/>
          <p:nvPr/>
        </p:nvSpPr>
        <p:spPr>
          <a:xfrm>
            <a:off x="2194560" y="182880"/>
            <a:ext cx="7772400" cy="502920"/>
          </a:xfrm>
          <a:prstGeom prst="rect">
            <a:avLst/>
          </a:prstGeom>
          <a:noFill/>
          <a:ln/>
        </p:spPr>
        <p:txBody>
          <a:bodyPr wrap="square" lIns="0" tIns="0" rIns="0" bIns="0" rtlCol="0" anchor="ctr"/>
          <a:lstStyle/>
          <a:p>
            <a:pPr algn="ctr" indent="0" marL="0">
              <a:buNone/>
            </a:pPr>
            <a:r>
              <a:rPr lang="en-US" sz="2600" b="1" dirty="0">
                <a:solidFill>
                  <a:srgbClr val="1F3D6B"/>
                </a:solidFill>
                <a:latin typeface="Arial" pitchFamily="34" charset="0"/>
                <a:ea typeface="Arial" pitchFamily="34" charset="-122"/>
                <a:cs typeface="Arial" pitchFamily="34" charset="-120"/>
              </a:rPr>
              <a:t>INSTRUCTIVO DE LLENADO</a:t>
            </a:r>
            <a:endParaRPr lang="en-US" sz="2600" dirty="0"/>
          </a:p>
        </p:txBody>
      </p:sp>
      <p:sp>
        <p:nvSpPr>
          <p:cNvPr id="4" name="Text 1"/>
          <p:cNvSpPr txBox="1"/>
          <p:nvPr/>
        </p:nvSpPr>
        <p:spPr>
          <a:xfrm>
            <a:off x="2194560" y="685800"/>
            <a:ext cx="7772400" cy="256032"/>
          </a:xfrm>
          <a:prstGeom prst="rect">
            <a:avLst/>
          </a:prstGeom>
          <a:noFill/>
          <a:ln/>
        </p:spPr>
        <p:txBody>
          <a:bodyPr wrap="square" lIns="0" tIns="0" rIns="0" bIns="0" rtlCol="0" anchor="ctr"/>
          <a:lstStyle/>
          <a:p>
            <a:pPr algn="ctr" indent="0" marL="0">
              <a:buNone/>
            </a:pPr>
            <a:r>
              <a:rPr lang="en-US" sz="1150" b="1" dirty="0">
                <a:solidFill>
                  <a:srgbClr val="1F3D6B"/>
                </a:solidFill>
                <a:latin typeface="Arial" pitchFamily="34" charset="0"/>
                <a:ea typeface="Arial" pitchFamily="34" charset="-122"/>
                <a:cs typeface="Arial" pitchFamily="34" charset="-120"/>
              </a:rPr>
              <a:t>CÓMO COMPLETAR EL FORMATO ASSURANCE ITO CADA SEMANA</a:t>
            </a:r>
            <a:endParaRPr lang="en-US" sz="1150" dirty="0"/>
          </a:p>
        </p:txBody>
      </p:sp>
      <p:sp>
        <p:nvSpPr>
          <p:cNvPr id="5" name="Shape 2"/>
          <p:cNvSpPr/>
          <p:nvPr/>
        </p:nvSpPr>
        <p:spPr>
          <a:xfrm>
            <a:off x="365760" y="1188720"/>
            <a:ext cx="3749040" cy="1298448"/>
          </a:xfrm>
          <a:prstGeom prst="roundRect">
            <a:avLst>
              <a:gd name="adj" fmla="val 4225"/>
            </a:avLst>
          </a:prstGeom>
          <a:solidFill>
            <a:srgbClr val="F3F6FA"/>
          </a:solidFill>
          <a:ln w="9525">
            <a:solidFill>
              <a:srgbClr val="C9D3E0"/>
            </a:solidFill>
            <a:prstDash val="solid"/>
          </a:ln>
        </p:spPr>
      </p:sp>
      <p:sp>
        <p:nvSpPr>
          <p:cNvPr id="6" name="Shape 3"/>
          <p:cNvSpPr/>
          <p:nvPr/>
        </p:nvSpPr>
        <p:spPr>
          <a:xfrm>
            <a:off x="502920" y="1307592"/>
            <a:ext cx="329184" cy="329184"/>
          </a:xfrm>
          <a:prstGeom prst="ellipse">
            <a:avLst/>
          </a:prstGeom>
          <a:solidFill>
            <a:srgbClr val="1F3D6B"/>
          </a:solidFill>
          <a:ln w="12700">
            <a:solidFill>
              <a:srgbClr val="1F3D6B"/>
            </a:solidFill>
            <a:prstDash val="solid"/>
          </a:ln>
        </p:spPr>
      </p:sp>
      <p:sp>
        <p:nvSpPr>
          <p:cNvPr id="7" name="Text 4"/>
          <p:cNvSpPr txBox="1"/>
          <p:nvPr/>
        </p:nvSpPr>
        <p:spPr>
          <a:xfrm>
            <a:off x="502920" y="1307592"/>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Arial" pitchFamily="34" charset="0"/>
                <a:ea typeface="Arial" pitchFamily="34" charset="-122"/>
                <a:cs typeface="Arial" pitchFamily="34" charset="-120"/>
              </a:rPr>
              <a:t>1</a:t>
            </a:r>
            <a:endParaRPr lang="en-US" sz="1100" dirty="0"/>
          </a:p>
        </p:txBody>
      </p:sp>
      <p:sp>
        <p:nvSpPr>
          <p:cNvPr id="8" name="Text 5"/>
          <p:cNvSpPr txBox="1"/>
          <p:nvPr/>
        </p:nvSpPr>
        <p:spPr>
          <a:xfrm>
            <a:off x="932688" y="1307592"/>
            <a:ext cx="3063240" cy="329184"/>
          </a:xfrm>
          <a:prstGeom prst="rect">
            <a:avLst/>
          </a:prstGeom>
          <a:noFill/>
          <a:ln/>
        </p:spPr>
        <p:txBody>
          <a:bodyPr wrap="square" lIns="0" tIns="0" rIns="0" bIns="0" rtlCol="0" anchor="ctr"/>
          <a:lstStyle/>
          <a:p>
            <a:pPr indent="0" marL="0">
              <a:buNone/>
            </a:pPr>
            <a:r>
              <a:rPr lang="en-US" sz="1050" b="1" dirty="0">
                <a:solidFill>
                  <a:srgbClr val="1F3D6B"/>
                </a:solidFill>
                <a:latin typeface="Arial" pitchFamily="34" charset="0"/>
                <a:ea typeface="Arial" pitchFamily="34" charset="-122"/>
                <a:cs typeface="Arial" pitchFamily="34" charset="-120"/>
              </a:rPr>
              <a:t>ENCABEZADO</a:t>
            </a:r>
            <a:endParaRPr lang="en-US" sz="1050" dirty="0"/>
          </a:p>
        </p:txBody>
      </p:sp>
      <p:sp>
        <p:nvSpPr>
          <p:cNvPr id="9" name="Text 6"/>
          <p:cNvSpPr txBox="1"/>
          <p:nvPr/>
        </p:nvSpPr>
        <p:spPr>
          <a:xfrm>
            <a:off x="530352" y="1719072"/>
            <a:ext cx="3447288" cy="713232"/>
          </a:xfrm>
          <a:prstGeom prst="rect">
            <a:avLst/>
          </a:prstGeom>
          <a:noFill/>
          <a:ln/>
        </p:spPr>
        <p:txBody>
          <a:bodyPr wrap="square" lIns="0" tIns="0" rIns="0" bIns="0" rtlCol="0" anchor="t"/>
          <a:lstStyle/>
          <a:p>
            <a:pPr indent="0" marL="0">
              <a:buNone/>
            </a:pPr>
            <a:r>
              <a:rPr lang="en-US" sz="930" dirty="0">
                <a:solidFill>
                  <a:srgbClr val="222222"/>
                </a:solidFill>
                <a:latin typeface="Arial" pitchFamily="34" charset="0"/>
                <a:ea typeface="Arial" pitchFamily="34" charset="-122"/>
                <a:cs typeface="Arial" pitchFamily="34" charset="-120"/>
              </a:rPr>
              <a:t>Título según turno (ASSURANCE TURNO 1-3 o 2-4). Completar período de vigencia (del __ al __), turno, Inspector ITO, Proyecto / EECC y Área.</a:t>
            </a:r>
            <a:endParaRPr lang="en-US" sz="930" dirty="0"/>
          </a:p>
        </p:txBody>
      </p:sp>
      <p:sp>
        <p:nvSpPr>
          <p:cNvPr id="10" name="Shape 7"/>
          <p:cNvSpPr/>
          <p:nvPr/>
        </p:nvSpPr>
        <p:spPr>
          <a:xfrm>
            <a:off x="4219956" y="1188720"/>
            <a:ext cx="3749040" cy="1298448"/>
          </a:xfrm>
          <a:prstGeom prst="roundRect">
            <a:avLst>
              <a:gd name="adj" fmla="val 4225"/>
            </a:avLst>
          </a:prstGeom>
          <a:solidFill>
            <a:srgbClr val="F3F6FA"/>
          </a:solidFill>
          <a:ln w="9525">
            <a:solidFill>
              <a:srgbClr val="C9D3E0"/>
            </a:solidFill>
            <a:prstDash val="solid"/>
          </a:ln>
        </p:spPr>
      </p:sp>
      <p:sp>
        <p:nvSpPr>
          <p:cNvPr id="11" name="Shape 8"/>
          <p:cNvSpPr/>
          <p:nvPr/>
        </p:nvSpPr>
        <p:spPr>
          <a:xfrm>
            <a:off x="4357116" y="1307592"/>
            <a:ext cx="329184" cy="329184"/>
          </a:xfrm>
          <a:prstGeom prst="ellipse">
            <a:avLst/>
          </a:prstGeom>
          <a:solidFill>
            <a:srgbClr val="1F3D6B"/>
          </a:solidFill>
          <a:ln w="12700">
            <a:solidFill>
              <a:srgbClr val="1F3D6B"/>
            </a:solidFill>
            <a:prstDash val="solid"/>
          </a:ln>
        </p:spPr>
      </p:sp>
      <p:sp>
        <p:nvSpPr>
          <p:cNvPr id="12" name="Text 9"/>
          <p:cNvSpPr txBox="1"/>
          <p:nvPr/>
        </p:nvSpPr>
        <p:spPr>
          <a:xfrm>
            <a:off x="4357116" y="1307592"/>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Arial" pitchFamily="34" charset="0"/>
                <a:ea typeface="Arial" pitchFamily="34" charset="-122"/>
                <a:cs typeface="Arial" pitchFamily="34" charset="-120"/>
              </a:rPr>
              <a:t>2</a:t>
            </a:r>
            <a:endParaRPr lang="en-US" sz="1100" dirty="0"/>
          </a:p>
        </p:txBody>
      </p:sp>
      <p:sp>
        <p:nvSpPr>
          <p:cNvPr id="13" name="Text 10"/>
          <p:cNvSpPr txBox="1"/>
          <p:nvPr/>
        </p:nvSpPr>
        <p:spPr>
          <a:xfrm>
            <a:off x="4786884" y="1307592"/>
            <a:ext cx="3063240" cy="329184"/>
          </a:xfrm>
          <a:prstGeom prst="rect">
            <a:avLst/>
          </a:prstGeom>
          <a:noFill/>
          <a:ln/>
        </p:spPr>
        <p:txBody>
          <a:bodyPr wrap="square" lIns="0" tIns="0" rIns="0" bIns="0" rtlCol="0" anchor="ctr"/>
          <a:lstStyle/>
          <a:p>
            <a:pPr indent="0" marL="0">
              <a:buNone/>
            </a:pPr>
            <a:r>
              <a:rPr lang="en-US" sz="1050" b="1" dirty="0">
                <a:solidFill>
                  <a:srgbClr val="1F3D6B"/>
                </a:solidFill>
                <a:latin typeface="Arial" pitchFamily="34" charset="0"/>
                <a:ea typeface="Arial" pitchFamily="34" charset="-122"/>
                <a:cs typeface="Arial" pitchFamily="34" charset="-120"/>
              </a:rPr>
              <a:t>SELECCIÓN DE FOCOS</a:t>
            </a:r>
            <a:endParaRPr lang="en-US" sz="1050" dirty="0"/>
          </a:p>
        </p:txBody>
      </p:sp>
      <p:sp>
        <p:nvSpPr>
          <p:cNvPr id="14" name="Text 11"/>
          <p:cNvSpPr txBox="1"/>
          <p:nvPr/>
        </p:nvSpPr>
        <p:spPr>
          <a:xfrm>
            <a:off x="4384548" y="1719072"/>
            <a:ext cx="3447288" cy="713232"/>
          </a:xfrm>
          <a:prstGeom prst="rect">
            <a:avLst/>
          </a:prstGeom>
          <a:noFill/>
          <a:ln/>
        </p:spPr>
        <p:txBody>
          <a:bodyPr wrap="square" lIns="0" tIns="0" rIns="0" bIns="0" rtlCol="0" anchor="t"/>
          <a:lstStyle/>
          <a:p>
            <a:pPr indent="0" marL="0">
              <a:buNone/>
            </a:pPr>
            <a:r>
              <a:rPr lang="en-US" sz="930" dirty="0">
                <a:solidFill>
                  <a:srgbClr val="222222"/>
                </a:solidFill>
                <a:latin typeface="Arial" pitchFamily="34" charset="0"/>
                <a:ea typeface="Arial" pitchFamily="34" charset="-122"/>
                <a:cs typeface="Arial" pitchFamily="34" charset="-120"/>
              </a:rPr>
              <a:t>Entre 4 y 6 focos, a partir de los eventos del período anterior (CAAP, HAP, CBP, HBP). Un foco = un riesgo: agrupar en un mismo foco los eventos del mismo riesgo. Priorizar los de alto potencial.</a:t>
            </a:r>
            <a:endParaRPr lang="en-US" sz="930" dirty="0"/>
          </a:p>
        </p:txBody>
      </p:sp>
      <p:sp>
        <p:nvSpPr>
          <p:cNvPr id="15" name="Shape 12"/>
          <p:cNvSpPr/>
          <p:nvPr/>
        </p:nvSpPr>
        <p:spPr>
          <a:xfrm>
            <a:off x="8074152" y="1188720"/>
            <a:ext cx="3749040" cy="1298448"/>
          </a:xfrm>
          <a:prstGeom prst="roundRect">
            <a:avLst>
              <a:gd name="adj" fmla="val 4225"/>
            </a:avLst>
          </a:prstGeom>
          <a:solidFill>
            <a:srgbClr val="F3F6FA"/>
          </a:solidFill>
          <a:ln w="9525">
            <a:solidFill>
              <a:srgbClr val="C9D3E0"/>
            </a:solidFill>
            <a:prstDash val="solid"/>
          </a:ln>
        </p:spPr>
      </p:sp>
      <p:sp>
        <p:nvSpPr>
          <p:cNvPr id="16" name="Shape 13"/>
          <p:cNvSpPr/>
          <p:nvPr/>
        </p:nvSpPr>
        <p:spPr>
          <a:xfrm>
            <a:off x="8211312" y="1307592"/>
            <a:ext cx="329184" cy="329184"/>
          </a:xfrm>
          <a:prstGeom prst="ellipse">
            <a:avLst/>
          </a:prstGeom>
          <a:solidFill>
            <a:srgbClr val="1F3D6B"/>
          </a:solidFill>
          <a:ln w="12700">
            <a:solidFill>
              <a:srgbClr val="1F3D6B"/>
            </a:solidFill>
            <a:prstDash val="solid"/>
          </a:ln>
        </p:spPr>
      </p:sp>
      <p:sp>
        <p:nvSpPr>
          <p:cNvPr id="17" name="Text 14"/>
          <p:cNvSpPr txBox="1"/>
          <p:nvPr/>
        </p:nvSpPr>
        <p:spPr>
          <a:xfrm>
            <a:off x="8211312" y="1307592"/>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Arial" pitchFamily="34" charset="0"/>
                <a:ea typeface="Arial" pitchFamily="34" charset="-122"/>
                <a:cs typeface="Arial" pitchFamily="34" charset="-120"/>
              </a:rPr>
              <a:t>3</a:t>
            </a:r>
            <a:endParaRPr lang="en-US" sz="1100" dirty="0"/>
          </a:p>
        </p:txBody>
      </p:sp>
      <p:sp>
        <p:nvSpPr>
          <p:cNvPr id="18" name="Text 15"/>
          <p:cNvSpPr txBox="1"/>
          <p:nvPr/>
        </p:nvSpPr>
        <p:spPr>
          <a:xfrm>
            <a:off x="8641080" y="1307592"/>
            <a:ext cx="3063240" cy="329184"/>
          </a:xfrm>
          <a:prstGeom prst="rect">
            <a:avLst/>
          </a:prstGeom>
          <a:noFill/>
          <a:ln/>
        </p:spPr>
        <p:txBody>
          <a:bodyPr wrap="square" lIns="0" tIns="0" rIns="0" bIns="0" rtlCol="0" anchor="ctr"/>
          <a:lstStyle/>
          <a:p>
            <a:pPr indent="0" marL="0">
              <a:buNone/>
            </a:pPr>
            <a:r>
              <a:rPr lang="en-US" sz="1050" b="1" dirty="0">
                <a:solidFill>
                  <a:srgbClr val="1F3D6B"/>
                </a:solidFill>
                <a:latin typeface="Arial" pitchFamily="34" charset="0"/>
                <a:ea typeface="Arial" pitchFamily="34" charset="-122"/>
                <a:cs typeface="Arial" pitchFamily="34" charset="-120"/>
              </a:rPr>
              <a:t>NIVEL / PRIORIDAD</a:t>
            </a:r>
            <a:endParaRPr lang="en-US" sz="1050" dirty="0"/>
          </a:p>
        </p:txBody>
      </p:sp>
      <p:sp>
        <p:nvSpPr>
          <p:cNvPr id="19" name="Text 16"/>
          <p:cNvSpPr txBox="1"/>
          <p:nvPr/>
        </p:nvSpPr>
        <p:spPr>
          <a:xfrm>
            <a:off x="8238744" y="1719072"/>
            <a:ext cx="3447288" cy="713232"/>
          </a:xfrm>
          <a:prstGeom prst="rect">
            <a:avLst/>
          </a:prstGeom>
          <a:noFill/>
          <a:ln/>
        </p:spPr>
        <p:txBody>
          <a:bodyPr wrap="square" lIns="0" tIns="0" rIns="0" bIns="0" rtlCol="0" anchor="t"/>
          <a:lstStyle/>
          <a:p>
            <a:pPr indent="0" marL="0">
              <a:buNone/>
            </a:pPr>
            <a:r>
              <a:rPr lang="en-US" sz="930" dirty="0">
                <a:solidFill>
                  <a:srgbClr val="222222"/>
                </a:solidFill>
                <a:latin typeface="Arial" pitchFamily="34" charset="0"/>
                <a:ea typeface="Arial" pitchFamily="34" charset="-122"/>
                <a:cs typeface="Arial" pitchFamily="34" charset="-120"/>
              </a:rPr>
              <a:t>N° + nivel + tipo del evento más grave del foco. N1 · CRÍTICO = celda roja; N2 · ALTO = celda naranja. Ordenar de mayor a menor. Para cambiar color: clic en la celda › Diseño de tabla › Sombreado.</a:t>
            </a:r>
            <a:endParaRPr lang="en-US" sz="930" dirty="0"/>
          </a:p>
        </p:txBody>
      </p:sp>
      <p:sp>
        <p:nvSpPr>
          <p:cNvPr id="20" name="Shape 17"/>
          <p:cNvSpPr/>
          <p:nvPr/>
        </p:nvSpPr>
        <p:spPr>
          <a:xfrm>
            <a:off x="365760" y="2596896"/>
            <a:ext cx="3749040" cy="1298448"/>
          </a:xfrm>
          <a:prstGeom prst="roundRect">
            <a:avLst>
              <a:gd name="adj" fmla="val 4225"/>
            </a:avLst>
          </a:prstGeom>
          <a:solidFill>
            <a:srgbClr val="F3F6FA"/>
          </a:solidFill>
          <a:ln w="9525">
            <a:solidFill>
              <a:srgbClr val="C9D3E0"/>
            </a:solidFill>
            <a:prstDash val="solid"/>
          </a:ln>
        </p:spPr>
      </p:sp>
      <p:sp>
        <p:nvSpPr>
          <p:cNvPr id="21" name="Shape 18"/>
          <p:cNvSpPr/>
          <p:nvPr/>
        </p:nvSpPr>
        <p:spPr>
          <a:xfrm>
            <a:off x="502920" y="2715768"/>
            <a:ext cx="329184" cy="329184"/>
          </a:xfrm>
          <a:prstGeom prst="ellipse">
            <a:avLst/>
          </a:prstGeom>
          <a:solidFill>
            <a:srgbClr val="1F3D6B"/>
          </a:solidFill>
          <a:ln w="12700">
            <a:solidFill>
              <a:srgbClr val="1F3D6B"/>
            </a:solidFill>
            <a:prstDash val="solid"/>
          </a:ln>
        </p:spPr>
      </p:sp>
      <p:sp>
        <p:nvSpPr>
          <p:cNvPr id="22" name="Text 19"/>
          <p:cNvSpPr txBox="1"/>
          <p:nvPr/>
        </p:nvSpPr>
        <p:spPr>
          <a:xfrm>
            <a:off x="502920" y="2715768"/>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Arial" pitchFamily="34" charset="0"/>
                <a:ea typeface="Arial" pitchFamily="34" charset="-122"/>
                <a:cs typeface="Arial" pitchFamily="34" charset="-120"/>
              </a:rPr>
              <a:t>4</a:t>
            </a:r>
            <a:endParaRPr lang="en-US" sz="1100" dirty="0"/>
          </a:p>
        </p:txBody>
      </p:sp>
      <p:sp>
        <p:nvSpPr>
          <p:cNvPr id="23" name="Text 20"/>
          <p:cNvSpPr txBox="1"/>
          <p:nvPr/>
        </p:nvSpPr>
        <p:spPr>
          <a:xfrm>
            <a:off x="932688" y="2715768"/>
            <a:ext cx="3063240" cy="329184"/>
          </a:xfrm>
          <a:prstGeom prst="rect">
            <a:avLst/>
          </a:prstGeom>
          <a:noFill/>
          <a:ln/>
        </p:spPr>
        <p:txBody>
          <a:bodyPr wrap="square" lIns="0" tIns="0" rIns="0" bIns="0" rtlCol="0" anchor="ctr"/>
          <a:lstStyle/>
          <a:p>
            <a:pPr indent="0" marL="0">
              <a:buNone/>
            </a:pPr>
            <a:r>
              <a:rPr lang="en-US" sz="1050" b="1" dirty="0">
                <a:solidFill>
                  <a:srgbClr val="1F3D6B"/>
                </a:solidFill>
                <a:latin typeface="Arial" pitchFamily="34" charset="0"/>
                <a:ea typeface="Arial" pitchFamily="34" charset="-122"/>
                <a:cs typeface="Arial" pitchFamily="34" charset="-120"/>
              </a:rPr>
              <a:t>FOCO DE ASSURANCE</a:t>
            </a:r>
            <a:endParaRPr lang="en-US" sz="1050" dirty="0"/>
          </a:p>
        </p:txBody>
      </p:sp>
      <p:sp>
        <p:nvSpPr>
          <p:cNvPr id="24" name="Text 21"/>
          <p:cNvSpPr txBox="1"/>
          <p:nvPr/>
        </p:nvSpPr>
        <p:spPr>
          <a:xfrm>
            <a:off x="530352" y="3127248"/>
            <a:ext cx="3447288" cy="713232"/>
          </a:xfrm>
          <a:prstGeom prst="rect">
            <a:avLst/>
          </a:prstGeom>
          <a:noFill/>
          <a:ln/>
        </p:spPr>
        <p:txBody>
          <a:bodyPr wrap="square" lIns="0" tIns="0" rIns="0" bIns="0" rtlCol="0" anchor="t"/>
          <a:lstStyle/>
          <a:p>
            <a:pPr indent="0" marL="0">
              <a:buNone/>
            </a:pPr>
            <a:r>
              <a:rPr lang="en-US" sz="930" dirty="0">
                <a:solidFill>
                  <a:srgbClr val="222222"/>
                </a:solidFill>
                <a:latin typeface="Arial" pitchFamily="34" charset="0"/>
                <a:ea typeface="Arial" pitchFamily="34" charset="-122"/>
                <a:cs typeface="Arial" pitchFamily="34" charset="-120"/>
              </a:rPr>
              <a:t>Tema en negrita + instrucción que parte con verbo ("Verificar…"): qué, dónde y bajo qué estándar (máx. 3 líneas). Cerrar con "Criterio de restricción": cuándo se prohíbe o se detiene la tarea (máx. 2 líneas).</a:t>
            </a:r>
            <a:endParaRPr lang="en-US" sz="930" dirty="0"/>
          </a:p>
        </p:txBody>
      </p:sp>
      <p:sp>
        <p:nvSpPr>
          <p:cNvPr id="25" name="Shape 22"/>
          <p:cNvSpPr/>
          <p:nvPr/>
        </p:nvSpPr>
        <p:spPr>
          <a:xfrm>
            <a:off x="4219956" y="2596896"/>
            <a:ext cx="3749040" cy="1298448"/>
          </a:xfrm>
          <a:prstGeom prst="roundRect">
            <a:avLst>
              <a:gd name="adj" fmla="val 4225"/>
            </a:avLst>
          </a:prstGeom>
          <a:solidFill>
            <a:srgbClr val="F3F6FA"/>
          </a:solidFill>
          <a:ln w="9525">
            <a:solidFill>
              <a:srgbClr val="C9D3E0"/>
            </a:solidFill>
            <a:prstDash val="solid"/>
          </a:ln>
        </p:spPr>
      </p:sp>
      <p:sp>
        <p:nvSpPr>
          <p:cNvPr id="26" name="Shape 23"/>
          <p:cNvSpPr/>
          <p:nvPr/>
        </p:nvSpPr>
        <p:spPr>
          <a:xfrm>
            <a:off x="4357116" y="2715768"/>
            <a:ext cx="329184" cy="329184"/>
          </a:xfrm>
          <a:prstGeom prst="ellipse">
            <a:avLst/>
          </a:prstGeom>
          <a:solidFill>
            <a:srgbClr val="1F3D6B"/>
          </a:solidFill>
          <a:ln w="12700">
            <a:solidFill>
              <a:srgbClr val="1F3D6B"/>
            </a:solidFill>
            <a:prstDash val="solid"/>
          </a:ln>
        </p:spPr>
      </p:sp>
      <p:sp>
        <p:nvSpPr>
          <p:cNvPr id="27" name="Text 24"/>
          <p:cNvSpPr txBox="1"/>
          <p:nvPr/>
        </p:nvSpPr>
        <p:spPr>
          <a:xfrm>
            <a:off x="4357116" y="2715768"/>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Arial" pitchFamily="34" charset="0"/>
                <a:ea typeface="Arial" pitchFamily="34" charset="-122"/>
                <a:cs typeface="Arial" pitchFamily="34" charset="-120"/>
              </a:rPr>
              <a:t>5</a:t>
            </a:r>
            <a:endParaRPr lang="en-US" sz="1100" dirty="0"/>
          </a:p>
        </p:txBody>
      </p:sp>
      <p:sp>
        <p:nvSpPr>
          <p:cNvPr id="28" name="Text 25"/>
          <p:cNvSpPr txBox="1"/>
          <p:nvPr/>
        </p:nvSpPr>
        <p:spPr>
          <a:xfrm>
            <a:off x="4786884" y="2715768"/>
            <a:ext cx="3063240" cy="329184"/>
          </a:xfrm>
          <a:prstGeom prst="rect">
            <a:avLst/>
          </a:prstGeom>
          <a:noFill/>
          <a:ln/>
        </p:spPr>
        <p:txBody>
          <a:bodyPr wrap="square" lIns="0" tIns="0" rIns="0" bIns="0" rtlCol="0" anchor="ctr"/>
          <a:lstStyle/>
          <a:p>
            <a:pPr indent="0" marL="0">
              <a:buNone/>
            </a:pPr>
            <a:r>
              <a:rPr lang="en-US" sz="1050" b="1" dirty="0">
                <a:solidFill>
                  <a:srgbClr val="1F3D6B"/>
                </a:solidFill>
                <a:latin typeface="Arial" pitchFamily="34" charset="0"/>
                <a:ea typeface="Arial" pitchFamily="34" charset="-122"/>
                <a:cs typeface="Arial" pitchFamily="34" charset="-120"/>
              </a:rPr>
              <a:t>EVENTO / EVIDENCIA ORIGEN</a:t>
            </a:r>
            <a:endParaRPr lang="en-US" sz="1050" dirty="0"/>
          </a:p>
        </p:txBody>
      </p:sp>
      <p:sp>
        <p:nvSpPr>
          <p:cNvPr id="29" name="Text 26"/>
          <p:cNvSpPr txBox="1"/>
          <p:nvPr/>
        </p:nvSpPr>
        <p:spPr>
          <a:xfrm>
            <a:off x="4384548" y="3127248"/>
            <a:ext cx="3447288" cy="713232"/>
          </a:xfrm>
          <a:prstGeom prst="rect">
            <a:avLst/>
          </a:prstGeom>
          <a:noFill/>
          <a:ln/>
        </p:spPr>
        <p:txBody>
          <a:bodyPr wrap="square" lIns="0" tIns="0" rIns="0" bIns="0" rtlCol="0" anchor="t"/>
          <a:lstStyle/>
          <a:p>
            <a:pPr indent="0" marL="0">
              <a:buNone/>
            </a:pPr>
            <a:r>
              <a:rPr lang="en-US" sz="930" dirty="0">
                <a:solidFill>
                  <a:srgbClr val="222222"/>
                </a:solidFill>
                <a:latin typeface="Arial" pitchFamily="34" charset="0"/>
                <a:ea typeface="Arial" pitchFamily="34" charset="-122"/>
                <a:cs typeface="Arial" pitchFamily="34" charset="-120"/>
              </a:rPr>
              <a:t>Formato fijo: [Turno] TIPO ID – EECC: qué ocurrió.</a:t>
            </a:r>
            <a:endParaRPr lang="en-US" sz="930" dirty="0"/>
          </a:p>
          <a:p>
            <a:pPr indent="0" marL="0">
              <a:buNone/>
            </a:pPr>
            <a:r>
              <a:rPr lang="en-US" sz="930" dirty="0">
                <a:solidFill>
                  <a:srgbClr val="222222"/>
                </a:solidFill>
                <a:latin typeface="Arial" pitchFamily="34" charset="0"/>
                <a:ea typeface="Arial" pitchFamily="34" charset="-122"/>
                <a:cs typeface="Arial" pitchFamily="34" charset="-120"/>
              </a:rPr>
              <a:t>Ej.: [T1-3] HAP 553767 – JEJ: camioneta con neumático dañado.</a:t>
            </a:r>
            <a:endParaRPr lang="en-US" sz="930" dirty="0"/>
          </a:p>
          <a:p>
            <a:pPr indent="0" marL="0">
              <a:buNone/>
            </a:pPr>
            <a:r>
              <a:rPr lang="en-US" sz="930" dirty="0">
                <a:solidFill>
                  <a:srgbClr val="222222"/>
                </a:solidFill>
                <a:latin typeface="Arial" pitchFamily="34" charset="0"/>
                <a:ea typeface="Arial" pitchFamily="34" charset="-122"/>
                <a:cs typeface="Arial" pitchFamily="34" charset="-120"/>
              </a:rPr>
              <a:t>Máx. 3 eventos por foco, 1–2 líneas cada uno.</a:t>
            </a:r>
            <a:endParaRPr lang="en-US" sz="930" dirty="0"/>
          </a:p>
        </p:txBody>
      </p:sp>
      <p:sp>
        <p:nvSpPr>
          <p:cNvPr id="30" name="Shape 27"/>
          <p:cNvSpPr/>
          <p:nvPr/>
        </p:nvSpPr>
        <p:spPr>
          <a:xfrm>
            <a:off x="8074152" y="2596896"/>
            <a:ext cx="3749040" cy="1298448"/>
          </a:xfrm>
          <a:prstGeom prst="roundRect">
            <a:avLst>
              <a:gd name="adj" fmla="val 4225"/>
            </a:avLst>
          </a:prstGeom>
          <a:solidFill>
            <a:srgbClr val="F3F6FA"/>
          </a:solidFill>
          <a:ln w="9525">
            <a:solidFill>
              <a:srgbClr val="C9D3E0"/>
            </a:solidFill>
            <a:prstDash val="solid"/>
          </a:ln>
        </p:spPr>
      </p:sp>
      <p:sp>
        <p:nvSpPr>
          <p:cNvPr id="31" name="Shape 28"/>
          <p:cNvSpPr/>
          <p:nvPr/>
        </p:nvSpPr>
        <p:spPr>
          <a:xfrm>
            <a:off x="8211312" y="2715768"/>
            <a:ext cx="329184" cy="329184"/>
          </a:xfrm>
          <a:prstGeom prst="ellipse">
            <a:avLst/>
          </a:prstGeom>
          <a:solidFill>
            <a:srgbClr val="1F3D6B"/>
          </a:solidFill>
          <a:ln w="12700">
            <a:solidFill>
              <a:srgbClr val="1F3D6B"/>
            </a:solidFill>
            <a:prstDash val="solid"/>
          </a:ln>
        </p:spPr>
      </p:sp>
      <p:sp>
        <p:nvSpPr>
          <p:cNvPr id="32" name="Text 29"/>
          <p:cNvSpPr txBox="1"/>
          <p:nvPr/>
        </p:nvSpPr>
        <p:spPr>
          <a:xfrm>
            <a:off x="8211312" y="2715768"/>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Arial" pitchFamily="34" charset="0"/>
                <a:ea typeface="Arial" pitchFamily="34" charset="-122"/>
                <a:cs typeface="Arial" pitchFamily="34" charset="-120"/>
              </a:rPr>
              <a:t>6</a:t>
            </a:r>
            <a:endParaRPr lang="en-US" sz="1100" dirty="0"/>
          </a:p>
        </p:txBody>
      </p:sp>
      <p:sp>
        <p:nvSpPr>
          <p:cNvPr id="33" name="Text 30"/>
          <p:cNvSpPr txBox="1"/>
          <p:nvPr/>
        </p:nvSpPr>
        <p:spPr>
          <a:xfrm>
            <a:off x="8641080" y="2715768"/>
            <a:ext cx="3063240" cy="329184"/>
          </a:xfrm>
          <a:prstGeom prst="rect">
            <a:avLst/>
          </a:prstGeom>
          <a:noFill/>
          <a:ln/>
        </p:spPr>
        <p:txBody>
          <a:bodyPr wrap="square" lIns="0" tIns="0" rIns="0" bIns="0" rtlCol="0" anchor="ctr"/>
          <a:lstStyle/>
          <a:p>
            <a:pPr indent="0" marL="0">
              <a:buNone/>
            </a:pPr>
            <a:r>
              <a:rPr lang="en-US" sz="1050" b="1" dirty="0">
                <a:solidFill>
                  <a:srgbClr val="1F3D6B"/>
                </a:solidFill>
                <a:latin typeface="Arial" pitchFamily="34" charset="0"/>
                <a:ea typeface="Arial" pitchFamily="34" charset="-122"/>
                <a:cs typeface="Arial" pitchFamily="34" charset="-120"/>
              </a:rPr>
              <a:t>HERRAMIENTA PREVENTIVA SGE</a:t>
            </a:r>
            <a:endParaRPr lang="en-US" sz="1050" dirty="0"/>
          </a:p>
        </p:txBody>
      </p:sp>
      <p:sp>
        <p:nvSpPr>
          <p:cNvPr id="34" name="Text 31"/>
          <p:cNvSpPr txBox="1"/>
          <p:nvPr/>
        </p:nvSpPr>
        <p:spPr>
          <a:xfrm>
            <a:off x="8238744" y="3127248"/>
            <a:ext cx="3447288" cy="713232"/>
          </a:xfrm>
          <a:prstGeom prst="rect">
            <a:avLst/>
          </a:prstGeom>
          <a:noFill/>
          <a:ln/>
        </p:spPr>
        <p:txBody>
          <a:bodyPr wrap="square" lIns="0" tIns="0" rIns="0" bIns="0" rtlCol="0" anchor="t"/>
          <a:lstStyle/>
          <a:p>
            <a:pPr indent="0" marL="0">
              <a:buNone/>
            </a:pPr>
            <a:r>
              <a:rPr lang="en-US" sz="930" dirty="0">
                <a:solidFill>
                  <a:srgbClr val="222222"/>
                </a:solidFill>
                <a:latin typeface="Arial" pitchFamily="34" charset="0"/>
                <a:ea typeface="Arial" pitchFamily="34" charset="-122"/>
                <a:cs typeface="Arial" pitchFamily="34" charset="-120"/>
              </a:rPr>
              <a:t>Herramienta(s) del SGE con que se verifica el foco, unidas con "+".</a:t>
            </a:r>
            <a:endParaRPr lang="en-US" sz="930" dirty="0"/>
          </a:p>
          <a:p>
            <a:pPr indent="0" marL="0">
              <a:buNone/>
            </a:pPr>
            <a:r>
              <a:rPr lang="en-US" sz="930" dirty="0">
                <a:solidFill>
                  <a:srgbClr val="222222"/>
                </a:solidFill>
                <a:latin typeface="Arial" pitchFamily="34" charset="0"/>
                <a:ea typeface="Arial" pitchFamily="34" charset="-122"/>
                <a:cs typeface="Arial" pitchFamily="34" charset="-120"/>
              </a:rPr>
              <a:t>Ej.: GCC + CdP Maniobras de Izaje + ASP.</a:t>
            </a:r>
            <a:endParaRPr lang="en-US" sz="930" dirty="0"/>
          </a:p>
        </p:txBody>
      </p:sp>
      <p:sp>
        <p:nvSpPr>
          <p:cNvPr id="35" name="Shape 32"/>
          <p:cNvSpPr/>
          <p:nvPr/>
        </p:nvSpPr>
        <p:spPr>
          <a:xfrm>
            <a:off x="365760" y="4005072"/>
            <a:ext cx="3749040" cy="1298448"/>
          </a:xfrm>
          <a:prstGeom prst="roundRect">
            <a:avLst>
              <a:gd name="adj" fmla="val 4225"/>
            </a:avLst>
          </a:prstGeom>
          <a:solidFill>
            <a:srgbClr val="F3F6FA"/>
          </a:solidFill>
          <a:ln w="9525">
            <a:solidFill>
              <a:srgbClr val="C9D3E0"/>
            </a:solidFill>
            <a:prstDash val="solid"/>
          </a:ln>
        </p:spPr>
      </p:sp>
      <p:sp>
        <p:nvSpPr>
          <p:cNvPr id="36" name="Shape 33"/>
          <p:cNvSpPr/>
          <p:nvPr/>
        </p:nvSpPr>
        <p:spPr>
          <a:xfrm>
            <a:off x="502920" y="4123944"/>
            <a:ext cx="329184" cy="329184"/>
          </a:xfrm>
          <a:prstGeom prst="ellipse">
            <a:avLst/>
          </a:prstGeom>
          <a:solidFill>
            <a:srgbClr val="1F3D6B"/>
          </a:solidFill>
          <a:ln w="12700">
            <a:solidFill>
              <a:srgbClr val="1F3D6B"/>
            </a:solidFill>
            <a:prstDash val="solid"/>
          </a:ln>
        </p:spPr>
      </p:sp>
      <p:sp>
        <p:nvSpPr>
          <p:cNvPr id="37" name="Text 34"/>
          <p:cNvSpPr txBox="1"/>
          <p:nvPr/>
        </p:nvSpPr>
        <p:spPr>
          <a:xfrm>
            <a:off x="502920" y="4123944"/>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Arial" pitchFamily="34" charset="0"/>
                <a:ea typeface="Arial" pitchFamily="34" charset="-122"/>
                <a:cs typeface="Arial" pitchFamily="34" charset="-120"/>
              </a:rPr>
              <a:t>7</a:t>
            </a:r>
            <a:endParaRPr lang="en-US" sz="1100" dirty="0"/>
          </a:p>
        </p:txBody>
      </p:sp>
      <p:sp>
        <p:nvSpPr>
          <p:cNvPr id="38" name="Text 35"/>
          <p:cNvSpPr txBox="1"/>
          <p:nvPr/>
        </p:nvSpPr>
        <p:spPr>
          <a:xfrm>
            <a:off x="932688" y="4123944"/>
            <a:ext cx="3063240" cy="329184"/>
          </a:xfrm>
          <a:prstGeom prst="rect">
            <a:avLst/>
          </a:prstGeom>
          <a:noFill/>
          <a:ln/>
        </p:spPr>
        <p:txBody>
          <a:bodyPr wrap="square" lIns="0" tIns="0" rIns="0" bIns="0" rtlCol="0" anchor="ctr"/>
          <a:lstStyle/>
          <a:p>
            <a:pPr indent="0" marL="0">
              <a:buNone/>
            </a:pPr>
            <a:r>
              <a:rPr lang="en-US" sz="1050" b="1" dirty="0">
                <a:solidFill>
                  <a:srgbClr val="1F3D6B"/>
                </a:solidFill>
                <a:latin typeface="Arial" pitchFamily="34" charset="0"/>
                <a:ea typeface="Arial" pitchFamily="34" charset="-122"/>
                <a:cs typeface="Arial" pitchFamily="34" charset="-120"/>
              </a:rPr>
              <a:t>EVIDENCIA / REGISTRO ESPERADO</a:t>
            </a:r>
            <a:endParaRPr lang="en-US" sz="1050" dirty="0"/>
          </a:p>
        </p:txBody>
      </p:sp>
      <p:sp>
        <p:nvSpPr>
          <p:cNvPr id="39" name="Text 36"/>
          <p:cNvSpPr txBox="1"/>
          <p:nvPr/>
        </p:nvSpPr>
        <p:spPr>
          <a:xfrm>
            <a:off x="530352" y="4535424"/>
            <a:ext cx="3447288" cy="713232"/>
          </a:xfrm>
          <a:prstGeom prst="rect">
            <a:avLst/>
          </a:prstGeom>
          <a:noFill/>
          <a:ln/>
        </p:spPr>
        <p:txBody>
          <a:bodyPr wrap="square" lIns="0" tIns="0" rIns="0" bIns="0" rtlCol="0" anchor="t"/>
          <a:lstStyle/>
          <a:p>
            <a:pPr indent="0" marL="0">
              <a:buNone/>
            </a:pPr>
            <a:r>
              <a:rPr lang="en-US" sz="930" dirty="0">
                <a:solidFill>
                  <a:srgbClr val="222222"/>
                </a:solidFill>
                <a:latin typeface="Arial" pitchFamily="34" charset="0"/>
                <a:ea typeface="Arial" pitchFamily="34" charset="-122"/>
                <a:cs typeface="Arial" pitchFamily="34" charset="-120"/>
              </a:rPr>
              <a:t>Registro concreto y verificable que debe quedar, separado por "/". Incluir siempre registro fotográfico.</a:t>
            </a:r>
            <a:endParaRPr lang="en-US" sz="930" dirty="0"/>
          </a:p>
          <a:p>
            <a:pPr indent="0" marL="0">
              <a:buNone/>
            </a:pPr>
            <a:r>
              <a:rPr lang="en-US" sz="930" dirty="0">
                <a:solidFill>
                  <a:srgbClr val="222222"/>
                </a:solidFill>
                <a:latin typeface="Arial" pitchFamily="34" charset="0"/>
                <a:ea typeface="Arial" pitchFamily="34" charset="-122"/>
                <a:cs typeface="Arial" pitchFamily="34" charset="-120"/>
              </a:rPr>
              <a:t>Ej.: Área segregada / radio operativa / registro fotográfico.</a:t>
            </a:r>
            <a:endParaRPr lang="en-US" sz="930" dirty="0"/>
          </a:p>
        </p:txBody>
      </p:sp>
      <p:sp>
        <p:nvSpPr>
          <p:cNvPr id="40" name="Shape 37"/>
          <p:cNvSpPr/>
          <p:nvPr/>
        </p:nvSpPr>
        <p:spPr>
          <a:xfrm>
            <a:off x="4219956" y="4005072"/>
            <a:ext cx="3749040" cy="1298448"/>
          </a:xfrm>
          <a:prstGeom prst="roundRect">
            <a:avLst>
              <a:gd name="adj" fmla="val 4225"/>
            </a:avLst>
          </a:prstGeom>
          <a:solidFill>
            <a:srgbClr val="F3F6FA"/>
          </a:solidFill>
          <a:ln w="9525">
            <a:solidFill>
              <a:srgbClr val="C9D3E0"/>
            </a:solidFill>
            <a:prstDash val="solid"/>
          </a:ln>
        </p:spPr>
      </p:sp>
      <p:sp>
        <p:nvSpPr>
          <p:cNvPr id="41" name="Shape 38"/>
          <p:cNvSpPr/>
          <p:nvPr/>
        </p:nvSpPr>
        <p:spPr>
          <a:xfrm>
            <a:off x="4357116" y="4123944"/>
            <a:ext cx="329184" cy="329184"/>
          </a:xfrm>
          <a:prstGeom prst="ellipse">
            <a:avLst/>
          </a:prstGeom>
          <a:solidFill>
            <a:srgbClr val="1F3D6B"/>
          </a:solidFill>
          <a:ln w="12700">
            <a:solidFill>
              <a:srgbClr val="1F3D6B"/>
            </a:solidFill>
            <a:prstDash val="solid"/>
          </a:ln>
        </p:spPr>
      </p:sp>
      <p:sp>
        <p:nvSpPr>
          <p:cNvPr id="42" name="Text 39"/>
          <p:cNvSpPr txBox="1"/>
          <p:nvPr/>
        </p:nvSpPr>
        <p:spPr>
          <a:xfrm>
            <a:off x="4357116" y="4123944"/>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Arial" pitchFamily="34" charset="0"/>
                <a:ea typeface="Arial" pitchFamily="34" charset="-122"/>
                <a:cs typeface="Arial" pitchFamily="34" charset="-120"/>
              </a:rPr>
              <a:t>8</a:t>
            </a:r>
            <a:endParaRPr lang="en-US" sz="1100" dirty="0"/>
          </a:p>
        </p:txBody>
      </p:sp>
      <p:sp>
        <p:nvSpPr>
          <p:cNvPr id="43" name="Text 40"/>
          <p:cNvSpPr txBox="1"/>
          <p:nvPr/>
        </p:nvSpPr>
        <p:spPr>
          <a:xfrm>
            <a:off x="4786884" y="4123944"/>
            <a:ext cx="3063240" cy="329184"/>
          </a:xfrm>
          <a:prstGeom prst="rect">
            <a:avLst/>
          </a:prstGeom>
          <a:noFill/>
          <a:ln/>
        </p:spPr>
        <p:txBody>
          <a:bodyPr wrap="square" lIns="0" tIns="0" rIns="0" bIns="0" rtlCol="0" anchor="ctr"/>
          <a:lstStyle/>
          <a:p>
            <a:pPr indent="0" marL="0">
              <a:buNone/>
            </a:pPr>
            <a:r>
              <a:rPr lang="en-US" sz="1050" b="1" dirty="0">
                <a:solidFill>
                  <a:srgbClr val="1F3D6B"/>
                </a:solidFill>
                <a:latin typeface="Arial" pitchFamily="34" charset="0"/>
                <a:ea typeface="Arial" pitchFamily="34" charset="-122"/>
                <a:cs typeface="Arial" pitchFamily="34" charset="-120"/>
              </a:rPr>
              <a:t>RECURRENTE</a:t>
            </a:r>
            <a:endParaRPr lang="en-US" sz="1050" dirty="0"/>
          </a:p>
        </p:txBody>
      </p:sp>
      <p:sp>
        <p:nvSpPr>
          <p:cNvPr id="44" name="Text 41"/>
          <p:cNvSpPr txBox="1"/>
          <p:nvPr/>
        </p:nvSpPr>
        <p:spPr>
          <a:xfrm>
            <a:off x="4384548" y="4535424"/>
            <a:ext cx="3447288" cy="713232"/>
          </a:xfrm>
          <a:prstGeom prst="rect">
            <a:avLst/>
          </a:prstGeom>
          <a:noFill/>
          <a:ln/>
        </p:spPr>
        <p:txBody>
          <a:bodyPr wrap="square" lIns="0" tIns="0" rIns="0" bIns="0" rtlCol="0" anchor="t"/>
          <a:lstStyle/>
          <a:p>
            <a:pPr indent="0" marL="0">
              <a:buNone/>
            </a:pPr>
            <a:r>
              <a:rPr lang="en-US" sz="930" dirty="0">
                <a:solidFill>
                  <a:srgbClr val="222222"/>
                </a:solidFill>
                <a:latin typeface="Arial" pitchFamily="34" charset="0"/>
                <a:ea typeface="Arial" pitchFamily="34" charset="-122"/>
                <a:cs typeface="Arial" pitchFamily="34" charset="-120"/>
              </a:rPr>
              <a:t>Total de eventos HBP del período y los temas más repetidos con su cantidad.</a:t>
            </a:r>
            <a:endParaRPr lang="en-US" sz="930" dirty="0"/>
          </a:p>
          <a:p>
            <a:pPr indent="0" marL="0">
              <a:buNone/>
            </a:pPr>
            <a:r>
              <a:rPr lang="en-US" sz="930" dirty="0">
                <a:solidFill>
                  <a:srgbClr val="222222"/>
                </a:solidFill>
                <a:latin typeface="Arial" pitchFamily="34" charset="0"/>
                <a:ea typeface="Arial" pitchFamily="34" charset="-122"/>
                <a:cs typeface="Arial" pitchFamily="34" charset="-120"/>
              </a:rPr>
              <a:t>Ej.: 7 eventos HBP — acopio deficiente (4) · extensiones sin pasacable (3).</a:t>
            </a:r>
            <a:endParaRPr lang="en-US" sz="930" dirty="0"/>
          </a:p>
        </p:txBody>
      </p:sp>
      <p:sp>
        <p:nvSpPr>
          <p:cNvPr id="45" name="Shape 42"/>
          <p:cNvSpPr/>
          <p:nvPr/>
        </p:nvSpPr>
        <p:spPr>
          <a:xfrm>
            <a:off x="8074152" y="4005072"/>
            <a:ext cx="3749040" cy="1298448"/>
          </a:xfrm>
          <a:prstGeom prst="roundRect">
            <a:avLst>
              <a:gd name="adj" fmla="val 4225"/>
            </a:avLst>
          </a:prstGeom>
          <a:solidFill>
            <a:srgbClr val="F3F6FA"/>
          </a:solidFill>
          <a:ln w="9525">
            <a:solidFill>
              <a:srgbClr val="C9D3E0"/>
            </a:solidFill>
            <a:prstDash val="solid"/>
          </a:ln>
        </p:spPr>
      </p:sp>
      <p:sp>
        <p:nvSpPr>
          <p:cNvPr id="46" name="Shape 43"/>
          <p:cNvSpPr/>
          <p:nvPr/>
        </p:nvSpPr>
        <p:spPr>
          <a:xfrm>
            <a:off x="8211312" y="4123944"/>
            <a:ext cx="329184" cy="329184"/>
          </a:xfrm>
          <a:prstGeom prst="ellipse">
            <a:avLst/>
          </a:prstGeom>
          <a:solidFill>
            <a:srgbClr val="1F3D6B"/>
          </a:solidFill>
          <a:ln w="12700">
            <a:solidFill>
              <a:srgbClr val="1F3D6B"/>
            </a:solidFill>
            <a:prstDash val="solid"/>
          </a:ln>
        </p:spPr>
      </p:sp>
      <p:sp>
        <p:nvSpPr>
          <p:cNvPr id="47" name="Text 44"/>
          <p:cNvSpPr txBox="1"/>
          <p:nvPr/>
        </p:nvSpPr>
        <p:spPr>
          <a:xfrm>
            <a:off x="8211312" y="4123944"/>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Arial" pitchFamily="34" charset="0"/>
                <a:ea typeface="Arial" pitchFamily="34" charset="-122"/>
                <a:cs typeface="Arial" pitchFamily="34" charset="-120"/>
              </a:rPr>
              <a:t>9</a:t>
            </a:r>
            <a:endParaRPr lang="en-US" sz="1100" dirty="0"/>
          </a:p>
        </p:txBody>
      </p:sp>
      <p:sp>
        <p:nvSpPr>
          <p:cNvPr id="48" name="Text 45"/>
          <p:cNvSpPr txBox="1"/>
          <p:nvPr/>
        </p:nvSpPr>
        <p:spPr>
          <a:xfrm>
            <a:off x="8641080" y="4123944"/>
            <a:ext cx="3063240" cy="329184"/>
          </a:xfrm>
          <a:prstGeom prst="rect">
            <a:avLst/>
          </a:prstGeom>
          <a:noFill/>
          <a:ln/>
        </p:spPr>
        <p:txBody>
          <a:bodyPr wrap="square" lIns="0" tIns="0" rIns="0" bIns="0" rtlCol="0" anchor="ctr"/>
          <a:lstStyle/>
          <a:p>
            <a:pPr indent="0" marL="0">
              <a:buNone/>
            </a:pPr>
            <a:r>
              <a:rPr lang="en-US" sz="1050" b="1" dirty="0">
                <a:solidFill>
                  <a:srgbClr val="1F3D6B"/>
                </a:solidFill>
                <a:latin typeface="Arial" pitchFamily="34" charset="0"/>
                <a:ea typeface="Arial" pitchFamily="34" charset="-122"/>
                <a:cs typeface="Arial" pitchFamily="34" charset="-120"/>
              </a:rPr>
              <a:t>RECORRIDOS AM · MEDIODÍA · PM</a:t>
            </a:r>
            <a:endParaRPr lang="en-US" sz="1050" dirty="0"/>
          </a:p>
        </p:txBody>
      </p:sp>
      <p:sp>
        <p:nvSpPr>
          <p:cNvPr id="49" name="Text 46"/>
          <p:cNvSpPr txBox="1"/>
          <p:nvPr/>
        </p:nvSpPr>
        <p:spPr>
          <a:xfrm>
            <a:off x="8238744" y="4535424"/>
            <a:ext cx="3447288" cy="713232"/>
          </a:xfrm>
          <a:prstGeom prst="rect">
            <a:avLst/>
          </a:prstGeom>
          <a:noFill/>
          <a:ln/>
        </p:spPr>
        <p:txBody>
          <a:bodyPr wrap="square" lIns="0" tIns="0" rIns="0" bIns="0" rtlCol="0" anchor="t"/>
          <a:lstStyle/>
          <a:p>
            <a:pPr indent="0" marL="0">
              <a:buNone/>
            </a:pPr>
            <a:r>
              <a:rPr lang="en-US" sz="930" dirty="0">
                <a:solidFill>
                  <a:srgbClr val="222222"/>
                </a:solidFill>
                <a:latin typeface="Arial" pitchFamily="34" charset="0"/>
                <a:ea typeface="Arial" pitchFamily="34" charset="-122"/>
                <a:cs typeface="Arial" pitchFamily="34" charset="-120"/>
              </a:rPr>
              <a:t>Por bloque: áreas a recorrer y 3–4 controles con el N° de foco entre paréntesis. El bloque PM se reserva para gestión SAP, CdP pendientes, actualización de PTS y entrega de turno.</a:t>
            </a:r>
            <a:endParaRPr lang="en-US" sz="930" dirty="0"/>
          </a:p>
        </p:txBody>
      </p:sp>
      <p:sp>
        <p:nvSpPr>
          <p:cNvPr id="50" name="Shape 47"/>
          <p:cNvSpPr/>
          <p:nvPr/>
        </p:nvSpPr>
        <p:spPr>
          <a:xfrm>
            <a:off x="365760" y="5413248"/>
            <a:ext cx="5676138" cy="1298448"/>
          </a:xfrm>
          <a:prstGeom prst="roundRect">
            <a:avLst>
              <a:gd name="adj" fmla="val 4225"/>
            </a:avLst>
          </a:prstGeom>
          <a:solidFill>
            <a:srgbClr val="F3F6FA"/>
          </a:solidFill>
          <a:ln w="9525">
            <a:solidFill>
              <a:srgbClr val="C9D3E0"/>
            </a:solidFill>
            <a:prstDash val="solid"/>
          </a:ln>
        </p:spPr>
      </p:sp>
      <p:sp>
        <p:nvSpPr>
          <p:cNvPr id="51" name="Shape 48"/>
          <p:cNvSpPr/>
          <p:nvPr/>
        </p:nvSpPr>
        <p:spPr>
          <a:xfrm>
            <a:off x="502920" y="5532120"/>
            <a:ext cx="329184" cy="329184"/>
          </a:xfrm>
          <a:prstGeom prst="ellipse">
            <a:avLst/>
          </a:prstGeom>
          <a:solidFill>
            <a:srgbClr val="1F3D6B"/>
          </a:solidFill>
          <a:ln w="12700">
            <a:solidFill>
              <a:srgbClr val="1F3D6B"/>
            </a:solidFill>
            <a:prstDash val="solid"/>
          </a:ln>
        </p:spPr>
      </p:sp>
      <p:sp>
        <p:nvSpPr>
          <p:cNvPr id="52" name="Text 49"/>
          <p:cNvSpPr txBox="1"/>
          <p:nvPr/>
        </p:nvSpPr>
        <p:spPr>
          <a:xfrm>
            <a:off x="502920" y="5532120"/>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Arial" pitchFamily="34" charset="0"/>
                <a:ea typeface="Arial" pitchFamily="34" charset="-122"/>
                <a:cs typeface="Arial" pitchFamily="34" charset="-120"/>
              </a:rPr>
              <a:t>10</a:t>
            </a:r>
            <a:endParaRPr lang="en-US" sz="1100" dirty="0"/>
          </a:p>
        </p:txBody>
      </p:sp>
      <p:sp>
        <p:nvSpPr>
          <p:cNvPr id="53" name="Text 50"/>
          <p:cNvSpPr txBox="1"/>
          <p:nvPr/>
        </p:nvSpPr>
        <p:spPr>
          <a:xfrm>
            <a:off x="932688" y="5532120"/>
            <a:ext cx="4990338" cy="329184"/>
          </a:xfrm>
          <a:prstGeom prst="rect">
            <a:avLst/>
          </a:prstGeom>
          <a:noFill/>
          <a:ln/>
        </p:spPr>
        <p:txBody>
          <a:bodyPr wrap="square" lIns="0" tIns="0" rIns="0" bIns="0" rtlCol="0" anchor="ctr"/>
          <a:lstStyle/>
          <a:p>
            <a:pPr indent="0" marL="0">
              <a:buNone/>
            </a:pPr>
            <a:r>
              <a:rPr lang="en-US" sz="1050" b="1" dirty="0">
                <a:solidFill>
                  <a:srgbClr val="1F3D6B"/>
                </a:solidFill>
                <a:latin typeface="Arial" pitchFamily="34" charset="0"/>
                <a:ea typeface="Arial" pitchFamily="34" charset="-122"/>
                <a:cs typeface="Arial" pitchFamily="34" charset="-120"/>
              </a:rPr>
              <a:t>BRECHAS · CONTROLES · DETENER SI</a:t>
            </a:r>
            <a:endParaRPr lang="en-US" sz="1050" dirty="0"/>
          </a:p>
        </p:txBody>
      </p:sp>
      <p:sp>
        <p:nvSpPr>
          <p:cNvPr id="54" name="Text 51"/>
          <p:cNvSpPr txBox="1"/>
          <p:nvPr/>
        </p:nvSpPr>
        <p:spPr>
          <a:xfrm>
            <a:off x="530352" y="5943600"/>
            <a:ext cx="5374386" cy="713232"/>
          </a:xfrm>
          <a:prstGeom prst="rect">
            <a:avLst/>
          </a:prstGeom>
          <a:noFill/>
          <a:ln/>
        </p:spPr>
        <p:txBody>
          <a:bodyPr wrap="square" lIns="0" tIns="0" rIns="0" bIns="0" rtlCol="0" anchor="t"/>
          <a:lstStyle/>
          <a:p>
            <a:pPr indent="0" marL="0">
              <a:buNone/>
            </a:pPr>
            <a:r>
              <a:rPr lang="en-US" sz="930" dirty="0">
                <a:solidFill>
                  <a:srgbClr val="222222"/>
                </a:solidFill>
                <a:latin typeface="Arial" pitchFamily="34" charset="0"/>
                <a:ea typeface="Arial" pitchFamily="34" charset="-122"/>
                <a:cs typeface="Arial" pitchFamily="34" charset="-120"/>
              </a:rPr>
              <a:t>Máx. 5 viñetas de 1 línea por recuadro. Brechas = lo que falló. Controles = lo que no se negocia. Detener si = condición concreta de detención.</a:t>
            </a:r>
            <a:endParaRPr lang="en-US" sz="930" dirty="0"/>
          </a:p>
        </p:txBody>
      </p:sp>
      <p:sp>
        <p:nvSpPr>
          <p:cNvPr id="55" name="Shape 52"/>
          <p:cNvSpPr/>
          <p:nvPr/>
        </p:nvSpPr>
        <p:spPr>
          <a:xfrm>
            <a:off x="6147054" y="5413248"/>
            <a:ext cx="5676138" cy="1298448"/>
          </a:xfrm>
          <a:prstGeom prst="roundRect">
            <a:avLst>
              <a:gd name="adj" fmla="val 4225"/>
            </a:avLst>
          </a:prstGeom>
          <a:solidFill>
            <a:srgbClr val="F3F6FA"/>
          </a:solidFill>
          <a:ln w="9525">
            <a:solidFill>
              <a:srgbClr val="C9D3E0"/>
            </a:solidFill>
            <a:prstDash val="solid"/>
          </a:ln>
        </p:spPr>
      </p:sp>
      <p:sp>
        <p:nvSpPr>
          <p:cNvPr id="56" name="Shape 53"/>
          <p:cNvSpPr/>
          <p:nvPr/>
        </p:nvSpPr>
        <p:spPr>
          <a:xfrm>
            <a:off x="6284214" y="5532120"/>
            <a:ext cx="329184" cy="329184"/>
          </a:xfrm>
          <a:prstGeom prst="ellipse">
            <a:avLst/>
          </a:prstGeom>
          <a:solidFill>
            <a:srgbClr val="1F3D6B"/>
          </a:solidFill>
          <a:ln w="12700">
            <a:solidFill>
              <a:srgbClr val="1F3D6B"/>
            </a:solidFill>
            <a:prstDash val="solid"/>
          </a:ln>
        </p:spPr>
      </p:sp>
      <p:sp>
        <p:nvSpPr>
          <p:cNvPr id="57" name="Text 54"/>
          <p:cNvSpPr txBox="1"/>
          <p:nvPr/>
        </p:nvSpPr>
        <p:spPr>
          <a:xfrm>
            <a:off x="6284214" y="5532120"/>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Arial" pitchFamily="34" charset="0"/>
                <a:ea typeface="Arial" pitchFamily="34" charset="-122"/>
                <a:cs typeface="Arial" pitchFamily="34" charset="-120"/>
              </a:rPr>
              <a:t>11</a:t>
            </a:r>
            <a:endParaRPr lang="en-US" sz="1100" dirty="0"/>
          </a:p>
        </p:txBody>
      </p:sp>
      <p:sp>
        <p:nvSpPr>
          <p:cNvPr id="58" name="Text 55"/>
          <p:cNvSpPr txBox="1"/>
          <p:nvPr/>
        </p:nvSpPr>
        <p:spPr>
          <a:xfrm>
            <a:off x="6713982" y="5532120"/>
            <a:ext cx="4990338" cy="329184"/>
          </a:xfrm>
          <a:prstGeom prst="rect">
            <a:avLst/>
          </a:prstGeom>
          <a:noFill/>
          <a:ln/>
        </p:spPr>
        <p:txBody>
          <a:bodyPr wrap="square" lIns="0" tIns="0" rIns="0" bIns="0" rtlCol="0" anchor="ctr"/>
          <a:lstStyle/>
          <a:p>
            <a:pPr indent="0" marL="0">
              <a:buNone/>
            </a:pPr>
            <a:r>
              <a:rPr lang="en-US" sz="1050" b="1" dirty="0">
                <a:solidFill>
                  <a:srgbClr val="1F3D6B"/>
                </a:solidFill>
                <a:latin typeface="Arial" pitchFamily="34" charset="0"/>
                <a:ea typeface="Arial" pitchFamily="34" charset="-122"/>
                <a:cs typeface="Arial" pitchFamily="34" charset="-120"/>
              </a:rPr>
              <a:t>CIERRE Y FIRMAS</a:t>
            </a:r>
            <a:endParaRPr lang="en-US" sz="1050" dirty="0"/>
          </a:p>
        </p:txBody>
      </p:sp>
      <p:sp>
        <p:nvSpPr>
          <p:cNvPr id="59" name="Text 56"/>
          <p:cNvSpPr txBox="1"/>
          <p:nvPr/>
        </p:nvSpPr>
        <p:spPr>
          <a:xfrm>
            <a:off x="6311646" y="5943600"/>
            <a:ext cx="5374386" cy="713232"/>
          </a:xfrm>
          <a:prstGeom prst="rect">
            <a:avLst/>
          </a:prstGeom>
          <a:noFill/>
          <a:ln/>
        </p:spPr>
        <p:txBody>
          <a:bodyPr wrap="square" lIns="0" tIns="0" rIns="0" bIns="0" rtlCol="0" anchor="t"/>
          <a:lstStyle/>
          <a:p>
            <a:pPr indent="0" marL="0">
              <a:buNone/>
            </a:pPr>
            <a:r>
              <a:rPr lang="en-US" sz="930" dirty="0">
                <a:solidFill>
                  <a:srgbClr val="222222"/>
                </a:solidFill>
                <a:latin typeface="Arial" pitchFamily="34" charset="0"/>
                <a:ea typeface="Arial" pitchFamily="34" charset="-122"/>
                <a:cs typeface="Arial" pitchFamily="34" charset="-120"/>
              </a:rPr>
              <a:t>Lo completa el Inspector ITO al terminar el turno: focos verificados, tareas detenidas y hallazgos subidos a SAP. Firman ITO y Supervisor EECC.</a:t>
            </a:r>
            <a:endParaRPr lang="en-US" sz="930" dirty="0"/>
          </a:p>
        </p:txBody>
      </p:sp>
      <p:sp>
        <p:nvSpPr>
          <p:cNvPr id="60" name="Shape 57"/>
          <p:cNvSpPr/>
          <p:nvPr/>
        </p:nvSpPr>
        <p:spPr>
          <a:xfrm>
            <a:off x="365760" y="6839712"/>
            <a:ext cx="11457432" cy="1435608"/>
          </a:xfrm>
          <a:prstGeom prst="roundRect">
            <a:avLst>
              <a:gd name="adj" fmla="val 3822"/>
            </a:avLst>
          </a:prstGeom>
          <a:solidFill>
            <a:srgbClr val="FDF1F1"/>
          </a:solidFill>
          <a:ln w="12700">
            <a:solidFill>
              <a:srgbClr val="C62828"/>
            </a:solidFill>
            <a:prstDash val="solid"/>
          </a:ln>
        </p:spPr>
      </p:sp>
      <p:sp>
        <p:nvSpPr>
          <p:cNvPr id="61" name="Text 58"/>
          <p:cNvSpPr txBox="1"/>
          <p:nvPr/>
        </p:nvSpPr>
        <p:spPr>
          <a:xfrm>
            <a:off x="548640" y="6912864"/>
            <a:ext cx="2743200" cy="274320"/>
          </a:xfrm>
          <a:prstGeom prst="rect">
            <a:avLst/>
          </a:prstGeom>
          <a:noFill/>
          <a:ln/>
        </p:spPr>
        <p:txBody>
          <a:bodyPr wrap="square" lIns="0" tIns="0" rIns="0" bIns="0" rtlCol="0" anchor="ctr"/>
          <a:lstStyle/>
          <a:p>
            <a:pPr indent="0" marL="0">
              <a:buNone/>
            </a:pPr>
            <a:r>
              <a:rPr lang="en-US" sz="1050" b="1" dirty="0">
                <a:solidFill>
                  <a:srgbClr val="C62828"/>
                </a:solidFill>
                <a:latin typeface="Arial" pitchFamily="34" charset="0"/>
                <a:ea typeface="Arial" pitchFamily="34" charset="-122"/>
                <a:cs typeface="Arial" pitchFamily="34" charset="-120"/>
              </a:rPr>
              <a:t>REGLAS GENERALES</a:t>
            </a:r>
            <a:endParaRPr lang="en-US" sz="1050" dirty="0"/>
          </a:p>
        </p:txBody>
      </p:sp>
      <p:sp>
        <p:nvSpPr>
          <p:cNvPr id="62" name="Text 59"/>
          <p:cNvSpPr txBox="1"/>
          <p:nvPr/>
        </p:nvSpPr>
        <p:spPr>
          <a:xfrm>
            <a:off x="548640" y="7223760"/>
            <a:ext cx="11064240" cy="978408"/>
          </a:xfrm>
          <a:prstGeom prst="rect">
            <a:avLst/>
          </a:prstGeom>
          <a:noFill/>
          <a:ln/>
        </p:spPr>
        <p:txBody>
          <a:bodyPr wrap="square" lIns="0" tIns="0" rIns="0" bIns="0" rtlCol="0" anchor="t"/>
          <a:lstStyle/>
          <a:p>
            <a:pPr marL="152400" indent="-152400">
              <a:spcAft>
                <a:spcPts val="200"/>
              </a:spcAft>
              <a:buSzPct val="100000"/>
              <a:buChar char="•"/>
            </a:pPr>
            <a:r>
              <a:rPr lang="en-US" sz="930" dirty="0">
                <a:solidFill>
                  <a:srgbClr val="222222"/>
                </a:solidFill>
                <a:latin typeface="Arial" pitchFamily="34" charset="0"/>
                <a:ea typeface="Arial" pitchFamily="34" charset="-122"/>
                <a:cs typeface="Arial" pitchFamily="34" charset="-120"/>
              </a:rPr>
              <a:t>No modificar columnas, colores, orden de secciones ni tamaño de la lámina.</a:t>
            </a:r>
            <a:endParaRPr lang="en-US" sz="930" dirty="0"/>
          </a:p>
          <a:p>
            <a:pPr marL="152400" indent="-152400">
              <a:spcAft>
                <a:spcPts val="200"/>
              </a:spcAft>
              <a:buSzPct val="100000"/>
              <a:buChar char="•"/>
            </a:pPr>
            <a:r>
              <a:rPr lang="en-US" sz="930" dirty="0">
                <a:solidFill>
                  <a:srgbClr val="222222"/>
                </a:solidFill>
                <a:latin typeface="Arial" pitchFamily="34" charset="0"/>
                <a:ea typeface="Arial" pitchFamily="34" charset="-122"/>
                <a:cs typeface="Arial" pitchFamily="34" charset="-120"/>
              </a:rPr>
              <a:t>Reemplazar todo texto gris entre [corchetes]; el formato publicado no debe tener corchetes ni texto gris.</a:t>
            </a:r>
            <a:endParaRPr lang="en-US" sz="930" dirty="0"/>
          </a:p>
          <a:p>
            <a:pPr marL="152400" indent="-152400">
              <a:spcAft>
                <a:spcPts val="200"/>
              </a:spcAft>
              <a:buSzPct val="100000"/>
              <a:buChar char="•"/>
            </a:pPr>
            <a:r>
              <a:rPr lang="en-US" sz="930" dirty="0">
                <a:solidFill>
                  <a:srgbClr val="222222"/>
                </a:solidFill>
                <a:latin typeface="Arial" pitchFamily="34" charset="0"/>
                <a:ea typeface="Arial" pitchFamily="34" charset="-122"/>
                <a:cs typeface="Arial" pitchFamily="34" charset="-120"/>
              </a:rPr>
              <a:t>Si el texto no cabe, resumir: letra mínima 6 pt. Si hay menos de 6 focos, eliminar la fila sobrante (clic derecho › Eliminar fila).</a:t>
            </a:r>
            <a:endParaRPr lang="en-US" sz="930" dirty="0"/>
          </a:p>
          <a:p>
            <a:pPr marL="152400" indent="-152400">
              <a:spcAft>
                <a:spcPts val="200"/>
              </a:spcAft>
              <a:buSzPct val="100000"/>
              <a:buChar char="•"/>
            </a:pPr>
            <a:r>
              <a:rPr lang="en-US" sz="930" dirty="0">
                <a:solidFill>
                  <a:srgbClr val="222222"/>
                </a:solidFill>
                <a:latin typeface="Arial" pitchFamily="34" charset="0"/>
                <a:ea typeface="Arial" pitchFamily="34" charset="-122"/>
                <a:cs typeface="Arial" pitchFamily="34" charset="-120"/>
              </a:rPr>
              <a:t>Nombre de archivo: ASSURANCE_TURNO_[1-3 ó 2-4]_[DD-DD]_[MES].pptx  (ej.: ASSURANCE_TURNO_1-3_07-20_SEP.pptx).</a:t>
            </a:r>
            <a:endParaRPr lang="en-US" sz="930" dirty="0"/>
          </a:p>
          <a:p>
            <a:pPr marL="152400" indent="-152400">
              <a:spcAft>
                <a:spcPts val="200"/>
              </a:spcAft>
              <a:buSzPct val="100000"/>
              <a:buChar char="•"/>
            </a:pPr>
            <a:r>
              <a:rPr lang="en-US" sz="930" dirty="0">
                <a:solidFill>
                  <a:srgbClr val="222222"/>
                </a:solidFill>
                <a:latin typeface="Arial" pitchFamily="34" charset="0"/>
                <a:ea typeface="Arial" pitchFamily="34" charset="-122"/>
                <a:cs typeface="Arial" pitchFamily="34" charset="-120"/>
              </a:rPr>
              <a:t>Para publicar: dejar solo la lámina PLANTILLA completada y eliminar este instructivo.</a:t>
            </a:r>
            <a:endParaRPr lang="en-US" sz="930" dirty="0"/>
          </a:p>
        </p:txBody>
      </p:sp>
      <p:sp>
        <p:nvSpPr>
          <p:cNvPr id="63" name="Shape 60"/>
          <p:cNvSpPr/>
          <p:nvPr/>
        </p:nvSpPr>
        <p:spPr>
          <a:xfrm>
            <a:off x="0" y="8385048"/>
            <a:ext cx="12191695" cy="347472"/>
          </a:xfrm>
          <a:prstGeom prst="rect">
            <a:avLst/>
          </a:prstGeom>
          <a:solidFill>
            <a:srgbClr val="1F3D6B"/>
          </a:solidFill>
          <a:ln w="12700">
            <a:solidFill>
              <a:srgbClr val="1F3D6B"/>
            </a:solidFill>
            <a:prstDash val="solid"/>
          </a:ln>
        </p:spPr>
      </p:sp>
      <p:sp>
        <p:nvSpPr>
          <p:cNvPr id="64" name="Text 61"/>
          <p:cNvSpPr txBox="1"/>
          <p:nvPr/>
        </p:nvSpPr>
        <p:spPr>
          <a:xfrm>
            <a:off x="365760" y="8385048"/>
            <a:ext cx="4206240" cy="347472"/>
          </a:xfrm>
          <a:prstGeom prst="rect">
            <a:avLst/>
          </a:prstGeom>
          <a:noFill/>
          <a:ln/>
        </p:spPr>
        <p:txBody>
          <a:bodyPr wrap="square" lIns="0" tIns="0" rIns="0" bIns="0" rtlCol="0" anchor="ctr"/>
          <a:lstStyle/>
          <a:p>
            <a:pPr indent="0" marL="0">
              <a:buNone/>
            </a:pPr>
            <a:r>
              <a:rPr lang="en-US" sz="950" b="1" dirty="0">
                <a:solidFill>
                  <a:srgbClr val="FFFFFF"/>
                </a:solidFill>
                <a:latin typeface="Arial" pitchFamily="34" charset="0"/>
                <a:ea typeface="Arial" pitchFamily="34" charset="-122"/>
                <a:cs typeface="Arial" pitchFamily="34" charset="-120"/>
              </a:rPr>
              <a:t>NUESTRO COMPROMISO: CERO DAÑO A LAS PERSONAS</a:t>
            </a:r>
            <a:endParaRPr lang="en-US" sz="950" dirty="0"/>
          </a:p>
        </p:txBody>
      </p:sp>
      <p:sp>
        <p:nvSpPr>
          <p:cNvPr id="65" name="Text 62"/>
          <p:cNvSpPr txBox="1"/>
          <p:nvPr/>
        </p:nvSpPr>
        <p:spPr>
          <a:xfrm>
            <a:off x="4206240" y="8385048"/>
            <a:ext cx="3840480" cy="347472"/>
          </a:xfrm>
          <a:prstGeom prst="rect">
            <a:avLst/>
          </a:prstGeom>
          <a:noFill/>
          <a:ln/>
        </p:spPr>
        <p:txBody>
          <a:bodyPr wrap="square" lIns="0" tIns="0" rIns="0" bIns="0" rtlCol="0" anchor="ctr"/>
          <a:lstStyle/>
          <a:p>
            <a:pPr algn="ctr" indent="0" marL="0">
              <a:buNone/>
            </a:pPr>
            <a:r>
              <a:rPr lang="en-US" sz="800" b="1" dirty="0">
                <a:solidFill>
                  <a:srgbClr val="E53935"/>
                </a:solidFill>
                <a:latin typeface="Arial" pitchFamily="34" charset="0"/>
                <a:ea typeface="Arial" pitchFamily="34" charset="-122"/>
                <a:cs typeface="Arial" pitchFamily="34" charset="-120"/>
              </a:rPr>
              <a:t>▲▲  </a:t>
            </a:r>
            <a:pPr algn="ctr" indent="0" marL="0">
              <a:buNone/>
            </a:pPr>
            <a:r>
              <a:rPr lang="en-US" sz="800" b="1" dirty="0">
                <a:solidFill>
                  <a:srgbClr val="FFFFFF"/>
                </a:solidFill>
                <a:latin typeface="Arial" pitchFamily="34" charset="0"/>
                <a:ea typeface="Arial" pitchFamily="34" charset="-122"/>
                <a:cs typeface="Arial" pitchFamily="34" charset="-120"/>
              </a:rPr>
              <a:t>FORMATO ASSURANCE ITO · v1.0 · INSTRUCTIVO</a:t>
            </a:r>
            <a:endParaRPr lang="en-US" sz="800" dirty="0"/>
          </a:p>
        </p:txBody>
      </p:sp>
      <p:sp>
        <p:nvSpPr>
          <p:cNvPr id="66" name="Text 63"/>
          <p:cNvSpPr txBox="1"/>
          <p:nvPr/>
        </p:nvSpPr>
        <p:spPr>
          <a:xfrm>
            <a:off x="7680960" y="8385048"/>
            <a:ext cx="4142232" cy="347472"/>
          </a:xfrm>
          <a:prstGeom prst="rect">
            <a:avLst/>
          </a:prstGeom>
          <a:noFill/>
          <a:ln/>
        </p:spPr>
        <p:txBody>
          <a:bodyPr wrap="square" lIns="0" tIns="0" rIns="0" bIns="0" rtlCol="0" anchor="ctr"/>
          <a:lstStyle/>
          <a:p>
            <a:pPr algn="r" indent="0" marL="0">
              <a:buNone/>
            </a:pPr>
            <a:r>
              <a:rPr lang="en-US" sz="950" b="1" dirty="0">
                <a:solidFill>
                  <a:srgbClr val="FFFFFF"/>
                </a:solidFill>
                <a:latin typeface="Arial" pitchFamily="34" charset="0"/>
                <a:ea typeface="Arial" pitchFamily="34" charset="-122"/>
                <a:cs typeface="Arial" pitchFamily="34" charset="-120"/>
              </a:rPr>
              <a:t>SEGURIDAD, SALUD, PERSONAS Y MEDIO AMBIENTE</a:t>
            </a:r>
            <a:endParaRPr lang="en-US" sz="9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vt:i4>
      </vt:variant>
    </vt:vector>
  </HeadingPairs>
  <TitlesOfParts>
    <vt:vector size="5" baseType="lpstr">
      <vt:lpstr>Arial</vt:lpstr>
      <vt:lpstr>Calibri</vt:lpstr>
      <vt:lpstr>Office Theme</vt:lpstr>
      <vt:lpstr>Slide 1</vt:lpstr>
      <vt:lpstr>Slide 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Formato Assurance ITO</dc:title>
  <dc:subject>PptxGenJS Presentation</dc:subject>
  <dc:creator>PptxGenJS</dc:creator>
  <cp:lastModifiedBy>PptxGenJS</cp:lastModifiedBy>
  <cp:revision>1</cp:revision>
  <dcterms:created xsi:type="dcterms:W3CDTF">2026-09-23T12:41:28Z</dcterms:created>
  <dcterms:modified xsi:type="dcterms:W3CDTF">2026-09-23T12:41:28Z</dcterms:modified>
</cp:coreProperties>
</file>