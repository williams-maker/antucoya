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8732838"/>
  <p:notesSz cx="8732838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7976C1-A6A9-481D-9A68-C32BE593E4DC}" v="9" dt="2026-09-23T20:26:01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29" autoAdjust="0"/>
    <p:restoredTop sz="94610"/>
  </p:normalViewPr>
  <p:slideViewPr>
    <p:cSldViewPr snapToGrid="0" snapToObjects="1">
      <p:cViewPr>
        <p:scale>
          <a:sx n="142" d="100"/>
          <a:sy n="142" d="100"/>
        </p:scale>
        <p:origin x="-210" y="-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6/11/relationships/changesInfo" Target="changesInfos/changesInfo1.xml"/><Relationship Id="rId1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s Matias Fernandez Martinez" userId="b35b62b0-c00e-4781-840a-3475327a3ced" providerId="ADAL" clId="{5B976092-39BD-47F6-AA12-0792861D9583}"/>
    <pc:docChg chg="custSel modSld">
      <pc:chgData name="Williams Matias Fernandez Martinez" userId="b35b62b0-c00e-4781-840a-3475327a3ced" providerId="ADAL" clId="{5B976092-39BD-47F6-AA12-0792861D9583}" dt="2026-09-23T20:38:58.885" v="545" actId="20577"/>
      <pc:docMkLst>
        <pc:docMk/>
      </pc:docMkLst>
      <pc:sldChg chg="delSp modSp mod">
        <pc:chgData name="Williams Matias Fernandez Martinez" userId="b35b62b0-c00e-4781-840a-3475327a3ced" providerId="ADAL" clId="{5B976092-39BD-47F6-AA12-0792861D9583}" dt="2026-09-23T20:38:58.885" v="545" actId="20577"/>
        <pc:sldMkLst>
          <pc:docMk/>
          <pc:sldMk cId="0" sldId="256"/>
        </pc:sldMkLst>
        <pc:spChg chg="mod">
          <ac:chgData name="Williams Matias Fernandez Martinez" userId="b35b62b0-c00e-4781-840a-3475327a3ced" providerId="ADAL" clId="{5B976092-39BD-47F6-AA12-0792861D9583}" dt="2026-09-23T20:38:58.885" v="545" actId="2057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20:38:55.219" v="539" actId="20577"/>
          <ac:spMkLst>
            <pc:docMk/>
            <pc:sldMk cId="0" sldId="256"/>
            <ac:spMk id="20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20:33:54.474" v="483" actId="20577"/>
          <ac:spMkLst>
            <pc:docMk/>
            <pc:sldMk cId="0" sldId="256"/>
            <ac:spMk id="24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18:47:13.828" v="7"/>
          <ac:spMkLst>
            <pc:docMk/>
            <pc:sldMk cId="0" sldId="256"/>
            <ac:spMk id="41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20:36:20.827" v="535" actId="20577"/>
          <ac:spMkLst>
            <pc:docMk/>
            <pc:sldMk cId="0" sldId="256"/>
            <ac:spMk id="42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18:47:13.829" v="11"/>
          <ac:spMkLst>
            <pc:docMk/>
            <pc:sldMk cId="0" sldId="256"/>
            <ac:spMk id="43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18:47:13.829" v="13"/>
          <ac:spMkLst>
            <pc:docMk/>
            <pc:sldMk cId="0" sldId="256"/>
            <ac:spMk id="44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20:35:35.153" v="499" actId="20577"/>
          <ac:spMkLst>
            <pc:docMk/>
            <pc:sldMk cId="0" sldId="256"/>
            <ac:spMk id="45" creationId="{00000000-0000-0000-0000-000000000000}"/>
          </ac:spMkLst>
        </pc:spChg>
        <pc:spChg chg="mod">
          <ac:chgData name="Williams Matias Fernandez Martinez" userId="b35b62b0-c00e-4781-840a-3475327a3ced" providerId="ADAL" clId="{5B976092-39BD-47F6-AA12-0792861D9583}" dt="2026-09-23T18:47:13.830" v="17"/>
          <ac:spMkLst>
            <pc:docMk/>
            <pc:sldMk cId="0" sldId="256"/>
            <ac:spMk id="46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0" v="0"/>
          <ac:spMkLst>
            <pc:docMk/>
            <pc:sldMk cId="0" sldId="256"/>
            <ac:spMk id="47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1" v="1"/>
          <ac:spMkLst>
            <pc:docMk/>
            <pc:sldMk cId="0" sldId="256"/>
            <ac:spMk id="48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2" v="2"/>
          <ac:spMkLst>
            <pc:docMk/>
            <pc:sldMk cId="0" sldId="256"/>
            <ac:spMk id="49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2" v="3"/>
          <ac:spMkLst>
            <pc:docMk/>
            <pc:sldMk cId="0" sldId="256"/>
            <ac:spMk id="50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2" v="4"/>
          <ac:spMkLst>
            <pc:docMk/>
            <pc:sldMk cId="0" sldId="256"/>
            <ac:spMk id="51" creationId="{00000000-0000-0000-0000-000000000000}"/>
          </ac:spMkLst>
        </pc:spChg>
        <pc:spChg chg="del">
          <ac:chgData name="Williams Matias Fernandez Martinez" userId="b35b62b0-c00e-4781-840a-3475327a3ced" providerId="ADAL" clId="{5B976092-39BD-47F6-AA12-0792861D9583}" dt="2026-09-23T18:46:48.982" v="5"/>
          <ac:spMkLst>
            <pc:docMk/>
            <pc:sldMk cId="0" sldId="256"/>
            <ac:spMk id="52" creationId="{00000000-0000-0000-0000-000000000000}"/>
          </ac:spMkLst>
        </pc:spChg>
        <pc:graphicFrameChg chg="mod modGraphic">
          <ac:chgData name="Williams Matias Fernandez Martinez" userId="b35b62b0-c00e-4781-840a-3475327a3ced" providerId="ADAL" clId="{5B976092-39BD-47F6-AA12-0792861D9583}" dt="2026-09-23T20:28:54.706" v="428" actId="20577"/>
          <ac:graphicFrameMkLst>
            <pc:docMk/>
            <pc:sldMk cId="0" sldId="256"/>
            <ac:graphicFrameMk id="21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4431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164592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0" y="1828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 TURNO [1-3 / 2-4]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2194560" y="68580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FOCOS PRIORITARIOS DE VERIFICACIÓN EN TERRENO – ITO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9144000" y="12801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/ PERÍODO: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0424160" y="12801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[del __ al __ / MES]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9144000" y="3108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TURNO: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424160" y="3108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1-3     ☐ 2-4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9144000" y="49377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 ITO: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10424160" y="49377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9144000" y="67665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/ EECC: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10424160" y="67665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0" y="8595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/ SECTOR: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10424160" y="85953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65760" y="1060704"/>
            <a:ext cx="11457432" cy="274320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 txBox="1"/>
          <p:nvPr/>
        </p:nvSpPr>
        <p:spPr>
          <a:xfrm>
            <a:off x="365760" y="1060704"/>
            <a:ext cx="1618488" cy="274320"/>
          </a:xfrm>
          <a:prstGeom prst="rect">
            <a:avLst/>
          </a:prstGeom>
          <a:solidFill>
            <a:srgbClr val="1F3D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ÚLTIMOS 14 DÍAS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2103120" y="1060704"/>
            <a:ext cx="9646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[del __ al __ MES]     </a:t>
            </a: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N1+N2 </a:t>
            </a:r>
            <a:r>
              <a:rPr lang="en-US" sz="8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</a:t>
            </a:r>
            <a:r>
              <a:rPr lang="en-US" sz="8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 </a:t>
            </a:r>
            <a:r>
              <a:rPr lang="en-US" sz="8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</a:t>
            </a:r>
            <a:r>
              <a:rPr lang="en-US" sz="8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CAAP </a:t>
            </a:r>
            <a:r>
              <a:rPr lang="en-US" sz="8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</a:t>
            </a:r>
            <a:r>
              <a:rPr lang="en-US" sz="8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 </a:t>
            </a:r>
            <a:r>
              <a:rPr lang="en-US" sz="8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</a:t>
            </a:r>
            <a:r>
              <a:rPr lang="en-US" sz="85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CBP </a:t>
            </a:r>
            <a:r>
              <a:rPr lang="en-US" sz="8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r>
              <a:rPr lang="en-US" sz="85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</a:t>
            </a: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14 días anteriores: </a:t>
            </a:r>
            <a:r>
              <a:rPr lang="en-US" sz="8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 [▲ / ▼ / =]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365760" y="1389888"/>
            <a:ext cx="1188720" cy="201168"/>
          </a:xfrm>
          <a:prstGeom prst="rect">
            <a:avLst/>
          </a:prstGeom>
          <a:solidFill>
            <a:srgbClr val="C6282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· CRITICIDAD ALTA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1618488" y="1389888"/>
            <a:ext cx="1481328" cy="201168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· CRITICIDAD INTERMEDIA</a:t>
            </a:r>
            <a:endParaRPr lang="en-US" sz="700" dirty="0"/>
          </a:p>
        </p:txBody>
      </p:sp>
      <p:sp>
        <p:nvSpPr>
          <p:cNvPr id="20" name="Text 17"/>
          <p:cNvSpPr txBox="1"/>
          <p:nvPr/>
        </p:nvSpPr>
        <p:spPr>
          <a:xfrm>
            <a:off x="3172968" y="1389888"/>
            <a:ext cx="8650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N1: </a:t>
            </a:r>
            <a:r>
              <a:rPr lang="en-US" sz="700" b="0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accidente con lesión o daño material · CAAP     </a:t>
            </a:r>
            <a:r>
              <a:rPr lang="en-US" sz="70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N2: </a:t>
            </a:r>
            <a:r>
              <a:rPr lang="en-US" sz="700" b="0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CBP · HAP     </a:t>
            </a:r>
            <a:r>
              <a:rPr lang="en-US" sz="7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 (HBP): </a:t>
            </a:r>
            <a:r>
              <a:rPr lang="en-US" sz="700" b="0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corrección inmediata en terreno, no ingresa como foco     </a:t>
            </a:r>
            <a:r>
              <a:rPr lang="en-US" sz="7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[T1-3] / [T2-4]</a:t>
            </a:r>
            <a:r>
              <a:rPr lang="en-US" sz="700" b="0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turno que lo reportó</a:t>
            </a:r>
            <a:endParaRPr lang="en-US" sz="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710532"/>
              </p:ext>
            </p:extLst>
          </p:nvPr>
        </p:nvGraphicFramePr>
        <p:xfrm>
          <a:off x="365760" y="1645920"/>
          <a:ext cx="11457432" cy="3673856"/>
        </p:xfrm>
        <a:graphic>
          <a:graphicData uri="http://schemas.openxmlformats.org/drawingml/2006/table">
            <a:tbl>
              <a:tblPr/>
              <a:tblGrid>
                <a:gridCol w="911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NIVEL / PRIORIDAD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 DE ASSURANCE (INSTRUCCIÓN OPERACIONAL Y CRITERIO DE RESTRICCIÓN)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EVENTO / EVIDENCIA ORIGEN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HERRAMIENTA PREVENTIVA SGE (EXPLICAR QUE SE TIENE QUE REALIZAR DURANTE EL TURNO)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EVIDENCIA / REGISTRO ESPERADO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N1 · CRITICIDAD ALTA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b="1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[Tema del foco].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[Verificar… qué se revisa, dónde y bajo qué estándar. Máx. 3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3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 de restricción: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[Cuándo se prohíbe o se detiene la tarea. Máx. 2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[T_-_] TIPO ID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[T_-_] TIPO ID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[Herramienta + herramienta + ASP]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[Registro verificable] / registro fotográfico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N1 · CRITICIDAD ALTA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b="1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[Tema del foco].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[Verificar… qué se revisa, dónde y bajo qué estándar. Máx. 3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3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 de restricción: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[Cuándo se prohíbe o se detiene la tarea. Máx. 2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[T_-_] TIPO ID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[T_-_] TIPO ID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[Herramienta + herramienta + ASP]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[Registro verificable] / registro fotográfico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N1 · CRITICIDAD ALTA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b="1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[Tema del foco].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[Verificar… qué se revisa, dónde y bajo qué estándar. Máx. 3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3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 de restricción: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[Cuándo se prohíbe o se detiene la tarea. Máx. 2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[T_-_] TIPO ID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[T_-_] TIPO ID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[Herramienta + herramienta + ASP]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[Registro verificable] / registro fotográfico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N2 · CRITICIDAD INTERMEDIA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b="1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[Tema del foco].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[Verificar… qué se revisa, dónde y bajo qué estándar. Máx. 3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30" b="1" dirty="0">
                          <a:solidFill>
                            <a:srgbClr val="B35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 de restricción: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[Cuándo se prohíbe o se detiene la tarea. Máx. 2 líneas]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[T_-_] TIPO ID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[T_-_] TIPO ID – EECC:</a:t>
                      </a:r>
                      <a:r>
                        <a:rPr lang="en-US" sz="62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[qué ocurrió, 1 línea]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[Herramienta + herramienta + ASP]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[Registro verificable] / registro fotográfico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FOCO – SI PRO -  ESTRATEGIA DE CONTROLES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30" b="1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[Tema del </a:t>
                      </a:r>
                      <a:r>
                        <a:rPr lang="en-US" sz="630" b="1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</a:t>
                      </a:r>
                      <a:r>
                        <a:rPr lang="en-US" sz="630" b="1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].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Verificar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se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revisa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dónde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y bajo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estándar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 3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líneas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630" b="1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</a:t>
                      </a:r>
                      <a:r>
                        <a:rPr lang="en-US" sz="630" b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de </a:t>
                      </a:r>
                      <a:r>
                        <a:rPr lang="en-US" sz="630" b="1" dirty="0" err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restricción</a:t>
                      </a:r>
                      <a:r>
                        <a:rPr lang="en-US" sz="630" b="1" dirty="0">
                          <a:solidFill>
                            <a:srgbClr val="00B0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se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prohíbe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 se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detiene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la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tarea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 2 </a:t>
                      </a:r>
                      <a:r>
                        <a:rPr lang="en-US" sz="630" i="1" dirty="0" err="1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líneas</a:t>
                      </a:r>
                      <a:r>
                        <a:rPr lang="en-US" sz="630" i="1" dirty="0">
                          <a:solidFill>
                            <a:srgbClr val="7A85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]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2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DIRECTRIZ GSSO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3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GCC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3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QR O PLATAFORMA PASSO (GERENCIA SSO)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198127"/>
                  </a:ext>
                </a:extLst>
              </a:tr>
            </a:tbl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365760" y="5852160"/>
            <a:ext cx="960120" cy="292608"/>
          </a:xfrm>
          <a:prstGeom prst="rect">
            <a:avLst/>
          </a:prstGeom>
          <a:solidFill>
            <a:srgbClr val="155A6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1325880" y="5852160"/>
            <a:ext cx="10497312" cy="292608"/>
          </a:xfrm>
          <a:prstGeom prst="rect">
            <a:avLst/>
          </a:prstGeom>
          <a:solidFill>
            <a:srgbClr val="17707A"/>
          </a:solidFill>
          <a:ln w="12700">
            <a:solidFill>
              <a:srgbClr val="1770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0"/>
          <p:cNvSpPr txBox="1"/>
          <p:nvPr/>
        </p:nvSpPr>
        <p:spPr>
          <a:xfrm>
            <a:off x="1417320" y="5852160"/>
            <a:ext cx="10314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[N°] </a:t>
            </a:r>
            <a:r>
              <a:rPr lang="en-US" sz="700" b="1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</a:t>
            </a: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HBP — </a:t>
            </a:r>
            <a:r>
              <a:rPr lang="en-US" sz="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[tema más repetido (cantidad)] · [tema (cantidad)]. Refuerzo transversal en todos los recorridos y al cierre de cada tarea.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365760" y="6236208"/>
            <a:ext cx="6172200" cy="219456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2"/>
          <p:cNvSpPr txBox="1"/>
          <p:nvPr/>
        </p:nvSpPr>
        <p:spPr>
          <a:xfrm>
            <a:off x="457200" y="6236208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 DE TENDENCIAS Y RECOMENDACIÓN DE RECORRIDOS – SUPERVISOR ITO</a:t>
            </a:r>
            <a:endParaRPr lang="en-US" sz="75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652881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94944" y="651052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AM · INICIO DE TURNO</a:t>
            </a:r>
            <a:endParaRPr lang="en-US" sz="730" dirty="0"/>
          </a:p>
        </p:txBody>
      </p:sp>
      <p:sp>
        <p:nvSpPr>
          <p:cNvPr id="29" name="Text 24"/>
          <p:cNvSpPr txBox="1"/>
          <p:nvPr/>
        </p:nvSpPr>
        <p:spPr>
          <a:xfrm>
            <a:off x="438912" y="678484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[Áreas a recorrer al inicio del turno]</a:t>
            </a:r>
            <a:endParaRPr lang="en-US" sz="650" dirty="0"/>
          </a:p>
        </p:txBody>
      </p:sp>
      <p:sp>
        <p:nvSpPr>
          <p:cNvPr id="30" name="Text 25"/>
          <p:cNvSpPr txBox="1"/>
          <p:nvPr/>
        </p:nvSpPr>
        <p:spPr>
          <a:xfrm>
            <a:off x="438912" y="7077456"/>
            <a:ext cx="1911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[Control a verificar] (foco N°)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[Control a verificar] (foco N°)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[Control a verificar] (foco N°)</a:t>
            </a:r>
            <a:endParaRPr lang="en-US" sz="680" dirty="0"/>
          </a:p>
        </p:txBody>
      </p:sp>
      <p:sp>
        <p:nvSpPr>
          <p:cNvPr id="31" name="Shape 26"/>
          <p:cNvSpPr/>
          <p:nvPr/>
        </p:nvSpPr>
        <p:spPr>
          <a:xfrm>
            <a:off x="2423160" y="6556248"/>
            <a:ext cx="9144" cy="1280160"/>
          </a:xfrm>
          <a:prstGeom prst="rect">
            <a:avLst/>
          </a:prstGeom>
          <a:solidFill>
            <a:srgbClr val="C9D3E0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6312" y="6528816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2752344" y="651052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MEDIODÍA · INTERVENCIÓN</a:t>
            </a:r>
            <a:endParaRPr lang="en-US" sz="730" dirty="0"/>
          </a:p>
        </p:txBody>
      </p:sp>
      <p:sp>
        <p:nvSpPr>
          <p:cNvPr id="34" name="Text 28"/>
          <p:cNvSpPr txBox="1"/>
          <p:nvPr/>
        </p:nvSpPr>
        <p:spPr>
          <a:xfrm>
            <a:off x="2496312" y="678484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[Áreas a recorrer a mediodía]</a:t>
            </a:r>
            <a:endParaRPr lang="en-US" sz="650" dirty="0"/>
          </a:p>
        </p:txBody>
      </p:sp>
      <p:sp>
        <p:nvSpPr>
          <p:cNvPr id="35" name="Text 29"/>
          <p:cNvSpPr txBox="1"/>
          <p:nvPr/>
        </p:nvSpPr>
        <p:spPr>
          <a:xfrm>
            <a:off x="2496312" y="7077456"/>
            <a:ext cx="1911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[Control a verificar] (foco N°)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[Control a verificar] (foco N°)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[Control a verificar] (foco N°)</a:t>
            </a:r>
            <a:endParaRPr lang="en-US" sz="680" dirty="0"/>
          </a:p>
        </p:txBody>
      </p:sp>
      <p:sp>
        <p:nvSpPr>
          <p:cNvPr id="36" name="Shape 30"/>
          <p:cNvSpPr/>
          <p:nvPr/>
        </p:nvSpPr>
        <p:spPr>
          <a:xfrm>
            <a:off x="4480560" y="6556248"/>
            <a:ext cx="9144" cy="1280160"/>
          </a:xfrm>
          <a:prstGeom prst="rect">
            <a:avLst/>
          </a:prstGeom>
          <a:solidFill>
            <a:srgbClr val="C9D3E0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712" y="6528816"/>
            <a:ext cx="219456" cy="219456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4809744" y="651052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PM · CIERRE DE JORNADA</a:t>
            </a:r>
            <a:endParaRPr lang="en-US" sz="730" dirty="0"/>
          </a:p>
        </p:txBody>
      </p:sp>
      <p:sp>
        <p:nvSpPr>
          <p:cNvPr id="39" name="Text 32"/>
          <p:cNvSpPr txBox="1"/>
          <p:nvPr/>
        </p:nvSpPr>
        <p:spPr>
          <a:xfrm>
            <a:off x="4553712" y="678484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SAP · CdP pendientes · Entrega de turno</a:t>
            </a:r>
            <a:endParaRPr lang="en-US" sz="650" dirty="0"/>
          </a:p>
        </p:txBody>
      </p:sp>
      <p:sp>
        <p:nvSpPr>
          <p:cNvPr id="40" name="Text 33"/>
          <p:cNvSpPr txBox="1"/>
          <p:nvPr/>
        </p:nvSpPr>
        <p:spPr>
          <a:xfrm>
            <a:off x="4553712" y="7077456"/>
            <a:ext cx="1911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Actualizar PTS con brechas de CdP: [cuáles]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Registrar hallazgos en SAP</a:t>
            </a:r>
            <a:endParaRPr lang="en-US" sz="68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Informar recurrentes en entrega de turno</a:t>
            </a:r>
            <a:endParaRPr lang="en-US" sz="680" dirty="0"/>
          </a:p>
        </p:txBody>
      </p:sp>
      <p:sp>
        <p:nvSpPr>
          <p:cNvPr id="41" name="Shape 34"/>
          <p:cNvSpPr/>
          <p:nvPr/>
        </p:nvSpPr>
        <p:spPr>
          <a:xfrm>
            <a:off x="6680200" y="6236208"/>
            <a:ext cx="2527300" cy="1645920"/>
          </a:xfrm>
          <a:prstGeom prst="roundRect">
            <a:avLst>
              <a:gd name="adj" fmla="val 3333"/>
            </a:avLst>
          </a:prstGeom>
          <a:solidFill>
            <a:srgbClr val="FDF1F1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35"/>
          <p:cNvSpPr txBox="1"/>
          <p:nvPr/>
        </p:nvSpPr>
        <p:spPr>
          <a:xfrm>
            <a:off x="6715760" y="6248579"/>
            <a:ext cx="238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TENDENCIAS NO ASOCIADAS A CONTROLES CRÍTICOS</a:t>
            </a:r>
            <a:endParaRPr lang="en-US" sz="730" dirty="0"/>
          </a:p>
        </p:txBody>
      </p:sp>
      <p:sp>
        <p:nvSpPr>
          <p:cNvPr id="43" name="Text 36"/>
          <p:cNvSpPr txBox="1"/>
          <p:nvPr/>
        </p:nvSpPr>
        <p:spPr>
          <a:xfrm>
            <a:off x="6743700" y="6620256"/>
            <a:ext cx="24003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1: tema (cantidad)]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2]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3]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4]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5]</a:t>
            </a:r>
            <a:endParaRPr lang="en-US" sz="680" dirty="0"/>
          </a:p>
        </p:txBody>
      </p:sp>
      <p:sp>
        <p:nvSpPr>
          <p:cNvPr id="44" name="Shape 37"/>
          <p:cNvSpPr/>
          <p:nvPr/>
        </p:nvSpPr>
        <p:spPr>
          <a:xfrm>
            <a:off x="9296400" y="6236208"/>
            <a:ext cx="2527300" cy="1645920"/>
          </a:xfrm>
          <a:prstGeom prst="roundRect">
            <a:avLst>
              <a:gd name="adj" fmla="val 3333"/>
            </a:avLst>
          </a:prstGeom>
          <a:solidFill>
            <a:srgbClr val="EEF3FA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38"/>
          <p:cNvSpPr txBox="1"/>
          <p:nvPr/>
        </p:nvSpPr>
        <p:spPr>
          <a:xfrm>
            <a:off x="9372600" y="6272784"/>
            <a:ext cx="238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TENDENCIAS ASOCIADAS A CONTROLES CRÍTICOS</a:t>
            </a:r>
            <a:endParaRPr lang="en-US" sz="730" dirty="0"/>
          </a:p>
        </p:txBody>
      </p:sp>
      <p:sp>
        <p:nvSpPr>
          <p:cNvPr id="46" name="Text 39"/>
          <p:cNvSpPr txBox="1"/>
          <p:nvPr/>
        </p:nvSpPr>
        <p:spPr>
          <a:xfrm>
            <a:off x="9372600" y="6620256"/>
            <a:ext cx="24003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1: tema – control crítico (cantidad)]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2]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3]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4]</a:t>
            </a:r>
            <a:endParaRPr lang="en-US" sz="68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80" i="1" dirty="0">
                <a:solidFill>
                  <a:srgbClr val="7A8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[Tendencia 5]</a:t>
            </a:r>
            <a:endParaRPr lang="en-US" sz="680" dirty="0"/>
          </a:p>
        </p:txBody>
      </p:sp>
      <p:sp>
        <p:nvSpPr>
          <p:cNvPr id="53" name="Shape 46"/>
          <p:cNvSpPr/>
          <p:nvPr/>
        </p:nvSpPr>
        <p:spPr>
          <a:xfrm>
            <a:off x="0" y="8385048"/>
            <a:ext cx="12191695" cy="347472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Text 47"/>
          <p:cNvSpPr txBox="1"/>
          <p:nvPr/>
        </p:nvSpPr>
        <p:spPr>
          <a:xfrm>
            <a:off x="365760" y="83850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COMPROMISO: CERO DAÑO A LAS PERSONAS</a:t>
            </a:r>
            <a:endParaRPr lang="en-US" sz="950" dirty="0"/>
          </a:p>
        </p:txBody>
      </p:sp>
      <p:sp>
        <p:nvSpPr>
          <p:cNvPr id="55" name="Text 48"/>
          <p:cNvSpPr txBox="1"/>
          <p:nvPr/>
        </p:nvSpPr>
        <p:spPr>
          <a:xfrm>
            <a:off x="4206240" y="8385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▲▲  </a:t>
            </a: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ASSURANCE ITO · v1.1 · PLANTILLA</a:t>
            </a:r>
            <a:endParaRPr lang="en-US" sz="800" dirty="0"/>
          </a:p>
        </p:txBody>
      </p:sp>
      <p:sp>
        <p:nvSpPr>
          <p:cNvPr id="56" name="Text 49"/>
          <p:cNvSpPr txBox="1"/>
          <p:nvPr/>
        </p:nvSpPr>
        <p:spPr>
          <a:xfrm>
            <a:off x="7680960" y="8385048"/>
            <a:ext cx="4142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SEGURIDAD, SALUD, PERSONAS Y MEDIO AMBIENTE</a:t>
            </a:r>
            <a:endParaRPr lang="en-US" sz="950" dirty="0"/>
          </a:p>
        </p:txBody>
      </p:sp>
      <p:sp>
        <p:nvSpPr>
          <p:cNvPr id="57" name="Instrucciones IA" hidden="1"/>
          <p:cNvSpPr txBox="1"/>
          <p:nvPr/>
        </p:nvSpPr>
        <p:spPr>
          <a:xfrm>
            <a:off x="12648895" y="0"/>
            <a:ext cx="5486400" cy="873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INSTRUCCIONES PARA ASISTENTES IA – FORMATO ASSURANCE ITO v1.1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Excel de eventos de seguridad que entrega el usuario, completar la lámina 1 "PLANTILLA" de este archivo con los focos prioritarios de verificación en terreno para el turno y período indicados.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METODOLÓGICA (criterio obligatorio)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clasificación se basa en las categorías N1, N2 y N3, según el nivel de riesgo/potencial de la desviación y el tratamiento que corresponde a cada una: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N1 · CRITICIDAD ALTA: situaciones de alta criticidad, asociadas a riesgos con potencial de consecuencias graves o fatales, que requieren intervención y gestión prioritaria. Incluye: accidentes con lesión a personas, accidentes con daño material (DM) y cuasi accidentes de alto potencial (CAAP).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N2 · CRITICIDAD INTERMEDIA: desviaciones de criticidad intermedia que requieren gestión y seguimiento según el riesgo identificado. Incluye: CBP (interacción próxima entre personas y la situación de riesgo) y HAP (hallazgos asociados a controles críticos no implementados o erosionados, antes de que se generen las interacciones).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N3: desviaciones de menor criticidad (HBP), que se resuelven con corrección inmediata o gestión directa en terreno. Los HBP NO se ponen dentro del Assurance como foco ni como evento de origen; solo se usan en la franja RECURRENTE.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ENTRADAS Y DATOS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Excel de eventos: hoja "Export". Columnas: "ID del Evento", "Fecha Evento", "Empresa", "Clasificación", "Potencialidad", "Titulo", "Descripción", "RIESGO INVOLUCRADO", "CONTROL CRITICO", "AREA_GEO", "Fecha cierre evento". Si el Excel tiene otras columnas equivalentes, úsalas.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Tipo de evento: Clasificación "Accidente" = ACC (cualquier potencialidad; "DM" en el título = daño material). "Cuasi accidente" + "Alto Potencial" = CAAP. "Cuasi accidente" + "Bajo Potencial" = CBP. "Hallazgo" + "Alto Potencial" = HAP. "Hallazgo" + "Bajo Potencial" = HBP.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El Excel no trae el turno. El usuario debe indicar: (a) el turno ENTRANTE para el que se prepara el Assurance, (b) su período de vigencia, (c) la fecha de cierre de los datos y (d) el turno que trabajó en el período de los datos (normalmente el turno saliente). Si falta alguno, pregunta antes de completar.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Usa exclusivamente datos del Excel. Nunca inventes IDs, empresas, fechas, áreas ni eventos. Copia los IDs exactamente como aparecen.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 falta un dato necesario, escribe [DATO FALTANTE] en esa casilla e infórmalo al usuario.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 incluyas nombres de personas; usa el cargo o rol (trabajador, rigger, operador, supervisor).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INDICADORES 14 DÍAS (franja "EVENTOS ÚLTIMOS 14 DÍAS")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Período actual: la fecha de cierre y los 13 días previos, según "Fecha Evento". Escríbelo como "del DD al DD MES". Ej.: cierre 23 SEP → del 10 al 23 SEP.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Total N1+N2: suma de ACC + CAAP + HAP + CBP del período. Los HBP (N3) no se cuentan aquí.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vs. 14 días anteriores: Total N1+N2 de los 14 días inmediatamente previos, sin superponerse (en el ejemplo: del 27 AGO al 09 SEP), seguido de ▲ si el total actual es mayor, ▼ si es menor o = si es igual. Ej.: "5 ▲". Si el Excel no cubre ese período, escribe [DATO FALTANTE].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Verifica que ACC + CAAP + HAP + CBP = Total.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SELECCIÓN DE FOCOS (filas 1 a 4)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Solo eventos N1 y N2 del período (ACC, CAAP, HAP, CBP). Nunca uses HBP (N3) como foco ni para contar reiteración.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Agrupa los eventos por tema (p. ej.: izaje, trabajo en altura/andamios, vehículos y equipos, energía eléctrica, excavaciones/zanjas). Usa "RIESGO INVOLUCRADO" y también "Titulo" y "Descripción": muchos eventos dicen "Otro riesgo de seguridad" pero pertenecen a un tema (p. ej., un CBP por retiro de eslinga pertenece a izaje).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 REITERADO: tema con 2 o más eventos N1/N2 en el período.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Foco AISLADO: tema con un solo evento N1/N2 en el período. Los focos aislados SÍ se incluyen (sean ACC, CAAP, CBP o HAP); su prioridad depende de su nivel (ver punto 4).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Máximo 4 focos. Si hay más, se quedan los de mayor PRIORIDAD y se informa al usuario cuáles quedaron fuera. Si hay menos, elimina las filas sobrantes (nunca la fila 5).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NIVEL Y PRIORIDAD – SON DOS COSAS DISTINTAS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= criticidad del foco. Lo define el TIPO del evento más grave del foco y determina el texto y el COLOR de la celda. No cambia por la reiteración ni por la posición del foco.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N1 · CRITICIDAD ALTA (celda roja C62828): ACC con lesión a personas, ACC con daño material (DM), CAAP.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N2 · CRITICIDAD INTERMEDIA (celda naranja E67E22): CBP, HAP.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N3 (HBP): no genera foco; solo va en Recurrente.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Gravedad de los tipos de evento (para saber cuál es "el más grave" y para desempatar): ACC con lesión &gt; ACC con daño material &gt; CAAP &gt; CBP &gt; HAP.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= orden del foco en la tabla (foco 1 = primera fila). Es el número que va en la celda. Se asigna en este orden: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Prioridad 1°: focos N1 reiterados (2 o más eventos del tema, al menos uno N1).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Prioridad 2°: focos N1 aislados (un solo ACC o CAAP).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Prioridad 3°: focos N2 reiterados (2 o más eventos del tema, todos CBP o HAP).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Prioridad 4°: focos N2 aislados (un solo CBP o HAP).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Regla general: primero el nivel (todo N1 antes que todo N2) y, dentro de cada nivel, reiterado antes que aislado.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Desempate dentro del mismo grupo: (a) tipo de evento más grave según la gravedad de arriba, (b) mayor cantidad de eventos, (c) evento más reciente.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Ejemplos: un CAAP aislado (N1, rojo) va ANTES que un foco reiterado con 2 HAP (N2, naranja). Un foco reiterado con 1 CAAP y 3 HAP es N1 y va antes que un CAAP aislado.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Texto de la celda: número de prioridad + "N1 · CRITICIDAD ALTA" o "N2 · CRITICIDAD INTERMEDIA". Ajusta texto y color de cada fila al nivel real (la plantilla trae 3 filas N1 y 1 N2 solo como referencia).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FILA 5 – FOCO SI PRO · ESTRATEGIA DE CONTROLES (fila fija, gris)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Por ahora es fija: déjala exactamente como está en la plantilla, sin completar ni modificar ninguna de sus casillas (incluido su texto guía), y no la elimines. Es la única excepción a la regla de reemplazar los corchetes.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FOCO DE ASSURANCE – INSTRUCCIÓN ESPECÍFICA PARA EL TURNO ENTRANTE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El foco es una instrucción operacional para el turno que entra. Mientras más específica, mejor; una instrucción general no sirve.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Debe indicar: DÓNDE (área/frente, según "AREA_GEO"), QUÉ actividad o equipo (p. ej.: izaje con camión pluma de estructuras modulares), QUÉ control verificar exactamente, QUIÉN lo verifica (supervisor, rigger, operador) y CUÁNDO (antes de cada maniobra, al inicio del turno, etc.).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Formato: "Tema del foco." en negrita + instrucción que empieza con un verbo ("Verificar…"). Máximo unos 350 caracteres. Luego, en línea aparte, "Criterio de restricción:" (en negrita) + la condición concreta en que se prohíbe o se detiene la tarea. Máximo unos 150 caracteres.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Ejemplo NO válido (general): "Verificar que los izajes se realicen de forma segura."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Ejemplo válido (específico): "Izaje – plan por maniobra. Verificar en Piscinas ILS-PLS y Pila Oeste, antes de cada levante con camión pluma o grúa horquilla, que el supervisor valide que el plan de izaje corresponde a la carga real (escala modular, equipo de electrofusión, maxisacos), con área segregada y radio operador–rigger. Criterio de restricción: sin plan específico para la carga o sin segregación, no se iza."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Redacta solo a partir de las brechas reales de los eventos de origen. No cites números de estándares o procedimientos que no estén en el Excel.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EVENTO / EVIDENCIA ORIGEN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Lista TODOS los eventos N1/N2 del período que originan el foco (mínimo 2 en focos reiterados; 1 en focos aislados, agregando al final "(evento aislado)"), ordenados por gravedad del tipo de evento (punto 4). Si son más de 4, lista los 4 más graves y agrega "+ N eventos más".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La marca de turno ([T1-3] o [T2-4]) es la del turno que trabajó en el período de los datos, indicado por el usuario.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Formato fijo por evento: "[T1-3] TIPO ID – EECC:" (en negrita) + qué ocurrió, en una frase de hasta 120 caracteres. TIPO = ACC, CAAP, HAP o CBP.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HERRAMIENTA PREVENTIVA SGE (explicar qué se tiene que realizar durante el turno)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Herramienta(s) del SGE unidas con "+", y para cada una la acción concreta a realizar durante el turno: qué, dónde y con qué frecuencia. Ej.: "CdP Maniobras de Izaje: 1 por frente con izaje al inicio del turno + ASP antes de cada maniobra".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Herramientas de referencia: GCC, CdP [tema], ASP, PTS, Gestión del Cambio, Desafío en Terreno, Inspección de Plataformas de Andamios, EdC Vehículo Liviano, Inspección de Equipos, Acompañamiento ASP. Usa también las que figuren en el Excel (prefijos como "CdP-", "ASP-", "EdC-" en el título).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EVIDENCIA / REGISTRO ESPERADO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Registros concretos y verificables separados por "/", terminando siempre en "registro fotográfico".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RECURRENTE (única sección donde se usan HBP)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"N eventos HBP — tema (n) · tema (n). Refuerzo transversal en todos los recorridos y al cierre de cada tarea."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 = total de HBP del período. Menciona los 2 o 3 temas más repetidos. Verifica la suma: los subtotales no pueden superar N.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SÍNTESIS Y RECORRIDOS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AM y Bloque Mediodía: áreas reales tomadas de "AREA_GEO" + 3 controles, cada uno con el N° de foco entre paréntesis, p. ej. "Plan de izaje específico por maniobra (1)". Asigna al AM los focos de inicio de jornada (izaje, pre-uso de vehículos y equipos) y al Mediodía los de intervención (plataformas, instalaciones eléctricas, excavaciones).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Bloque PM: mantén "Gestión SAP · CdP pendientes · Entrega de turno" y sus líneas fijas. En "Actualizar PTS con brechas de CdP:" indica las brechas que el Excel respalde; si no hay, elimina esa línea.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Recuadro "TENDENCIAS ASOCIADAS A CONTROLES CRÍTICOS": patrones del período (N1, N2 y N3) cuyo "CONTROL CRITICO" corresponde a un control crítico específico (por ejemplo, los marcados "(C.C.)"). Formato: "Tema: control crítico afectado (n)".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Recuadro "TENDENCIAS NO ASOCIADAS A CONTROLES CRÍTICOS": patrones cuyo "CONTROL CRITICO" es "Otro", "Sin Información" o está vacío. Formato: "Tema (n)".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Máximo 5 viñetas de 1 línea (unos 50 caracteres) por recuadro, de mayor a menor cantidad.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ENCABEZADO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Título: "ASSURANCE TURNO 1-3" o "ASSURANCE TURNO 2-4", según el turno ENTRANTE. FECHA / PERÍODO: vigencia del turno entrante, "DD al DD MES" (el período de los datos va en la franja de indicadores, no aquí). TURNO: marca ☒ en el turno entrante.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Inspector ITO, Proyecto/EECC y Área/Sector: complétalos solo si el usuario los entrega; si no, deja la línea en blanco.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FORMATO (obligatorio)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 cambies estructura, columnas, colores (salvo el de la celda de nivel según el punto 4), fuentes, íconos ni tamaño de la lámina.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Reemplaza todo texto gris entre [corchetes] por contenido real en color de texto normal (negro, sin cursiva). No debe quedar ningún corchete, salvo [DATO FALTANTE], las marcas de turno [T1-3]/[T2-4] y la fila 5 (fija).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Letra mínima 6 pt. Si el texto no cabe, resume; no reduzcas más la letra ni agrandes filas.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Antes de entregar: elimina la lámina 2 (instructivo). No modifiques ni muevas el cuadro de texto oculto "Instrucciones IA" de la lámina 1.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Nombre del archivo: ASSURANCE_TURNO_[1-3 o 2-4]_[DD-DD]_[MES].pptx (ej.: ASSURANCE_TURNO_1-3_07-20_SEP.pptx).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ENTREGA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 puedes editar archivos .pptx: entrega el archivo completado.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 no puedes: entrega el contenido en texto, ordenado por sección y por fila de la plantilla (Encabezado; Indicadores 14 días; Focos 1 a 4 con sus 5 columnas; Fila 5 SI PRO; Recurrente; Bloques AM/Mediodía/PM; Tendencias no asociadas; Tendencias asociadas a controles críticos), listo para copiar y pegar en cada casilla.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CONTROL DE CALIDAD (en tu respuesta al usuario, no dentro del archivo)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final de tu respuesta incluye un resumen breve con: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total de eventos leídos del período y cuántos de cada tipo (ACC, CAAP, HAP, CBP, HBP);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eventos N1/N2 usados en cada foco y los que quedaron fuera (p. ej., focos aislados que no cupieron en las 4 filas), con el motivo;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datos faltantes o inconsistentes y supuestos realizados.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entregar, confirma que: cada ID existe en el Excel; los focos reiterados tienen al menos 2 eventos N1/N2 relacionados; todos los focos N1 van antes que los N2 y, dentro de cada nivel, los reiterados antes que los aislados; el NIVEL (color) de cada foco corresponde a su evento más grave y la PRIORIDAD (orden) sigue el punto 4; ningún HBP aparece como foco o evento de origen; los conteos de indicadores y Recurrente cuadran; y no quedan textos guía.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164592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INSTRUCTIVO DE LLENADO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2194560" y="6858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COMPLETAR EL FORMATO ASSURANCE ITO CADA SEMANA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365760" y="1188720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502920" y="1307592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 txBox="1"/>
          <p:nvPr/>
        </p:nvSpPr>
        <p:spPr>
          <a:xfrm>
            <a:off x="502920" y="1307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130759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ENCABEZADO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30352" y="1719072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según turno (ASSURANCE TURNO 1-3 o 2-4). Completar período de vigencia (del __ al __), turno, Inspector ITO, Proyecto / EECC y Área.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4219956" y="1188720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4357116" y="1307592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4357116" y="1307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786884" y="130759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14 DÍAS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384548" y="1719072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N1+N2 (ACC, CAAP, HAP, CBP) en los 14 días al cierre, comparado con los 14 días previos (▲ subió, ▼ bajó, = igual). Los HBP no se cuentan.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Ej.: cierre 23 SEP → actual 10–23 SEP vs. anterior 27 AGO–09 SEP.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8074152" y="1188720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8211312" y="1307592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 txBox="1"/>
          <p:nvPr/>
        </p:nvSpPr>
        <p:spPr>
          <a:xfrm>
            <a:off x="8211312" y="1307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641080" y="130759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Y PRIORIDAD DE FOCOS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238744" y="1719072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= orden del foco en la tabla: 1° N1 reiterados · 2° N1 aislados · 3° N2 reiterados · 4° N2 aislados. Reiterado = 2 o más eventos N1/N2 del mismo tema. Empate: tipo más grave, más eventos, más reciente. Máx. 4; HBP no cuentan.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365760" y="2596896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502920" y="2715768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 txBox="1"/>
          <p:nvPr/>
        </p:nvSpPr>
        <p:spPr>
          <a:xfrm>
            <a:off x="50292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32688" y="27157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(CRITICIDAD)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530352" y="3127248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define el evento más grave del foco y fija el color: N1 · alta (roja) = ACC con lesión, ACC daño material, CAAP. N2 · intermedia (naranja) = CBP, HAP. No cambia por la reiteración ni por el orden. En la celda: N° de prioridad + nivel.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4219956" y="2596896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4357116" y="2715768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 txBox="1"/>
          <p:nvPr/>
        </p:nvSpPr>
        <p:spPr>
          <a:xfrm>
            <a:off x="4357116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786884" y="27157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· INSTRUCCIÓN ESPECÍFICA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4384548" y="3127248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Instrucción para el turno entrante: dónde (área/frente), qué actividad o equipo, qué control verificar, quién y cuándo. Evitar lo general ("izar de forma segura"). Cerrar con "Criterio de restricción".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8074152" y="2596896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8"/>
          <p:cNvSpPr/>
          <p:nvPr/>
        </p:nvSpPr>
        <p:spPr>
          <a:xfrm>
            <a:off x="8211312" y="2715768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9"/>
          <p:cNvSpPr txBox="1"/>
          <p:nvPr/>
        </p:nvSpPr>
        <p:spPr>
          <a:xfrm>
            <a:off x="821131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641080" y="27157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 / EVIDENCIA ORIGEN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238744" y="3127248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eventos N1/N2 del tema que originan el foco, del más grave al menos grave. Foco aislado: 1 evento + "(evento aislado)". Formato: [Turno] TIPO ID – EECC: qué ocurrió.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Ej.: [T1-3] CAAP 555505 – PUMA: plan de izaje no corresponde a la carga.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365760" y="4005072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3"/>
          <p:cNvSpPr/>
          <p:nvPr/>
        </p:nvSpPr>
        <p:spPr>
          <a:xfrm>
            <a:off x="502920" y="4123944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 txBox="1"/>
          <p:nvPr/>
        </p:nvSpPr>
        <p:spPr>
          <a:xfrm>
            <a:off x="502920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932688" y="412394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PREVENTIVA SGE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530352" y="4535424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Herramienta(s) del SGE unidas con "+" y qué se debe realizar con cada una durante el turno (qué, dónde, frecuencia).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Ej.: CdP Maniobras de Izaje: 1 por frente al inicio del turno + ASP antes de cada maniobra.</a:t>
            </a:r>
            <a:endParaRPr lang="en-US" sz="930" dirty="0"/>
          </a:p>
        </p:txBody>
      </p:sp>
      <p:sp>
        <p:nvSpPr>
          <p:cNvPr id="40" name="Shape 37"/>
          <p:cNvSpPr/>
          <p:nvPr/>
        </p:nvSpPr>
        <p:spPr>
          <a:xfrm>
            <a:off x="4219956" y="4005072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8"/>
          <p:cNvSpPr/>
          <p:nvPr/>
        </p:nvSpPr>
        <p:spPr>
          <a:xfrm>
            <a:off x="4357116" y="4123944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39"/>
          <p:cNvSpPr txBox="1"/>
          <p:nvPr/>
        </p:nvSpPr>
        <p:spPr>
          <a:xfrm>
            <a:off x="4357116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786884" y="412394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/ REGISTRO ESPERADO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4384548" y="4535424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concreto y verificable que debe quedar, separado por "/". Incluir siempre registro fotográfico.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Ej.: Área segregada / radio operativa / registro fotográfico.</a:t>
            </a:r>
            <a:endParaRPr lang="en-US" sz="930" dirty="0"/>
          </a:p>
        </p:txBody>
      </p:sp>
      <p:sp>
        <p:nvSpPr>
          <p:cNvPr id="45" name="Shape 42"/>
          <p:cNvSpPr/>
          <p:nvPr/>
        </p:nvSpPr>
        <p:spPr>
          <a:xfrm>
            <a:off x="8074152" y="4005072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3"/>
          <p:cNvSpPr/>
          <p:nvPr/>
        </p:nvSpPr>
        <p:spPr>
          <a:xfrm>
            <a:off x="8211312" y="4123944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4"/>
          <p:cNvSpPr txBox="1"/>
          <p:nvPr/>
        </p:nvSpPr>
        <p:spPr>
          <a:xfrm>
            <a:off x="8211312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8641080" y="412394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8238744" y="4535424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eventos HBP (N3) del período y los temas más repetidos con su cantidad. Única sección donde se incluyen HBP.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Ej.: 7 eventos HBP — acopio deficiente (4) · extensiones sin pasacable (3).</a:t>
            </a:r>
            <a:endParaRPr lang="en-US" sz="930" dirty="0"/>
          </a:p>
        </p:txBody>
      </p:sp>
      <p:sp>
        <p:nvSpPr>
          <p:cNvPr id="50" name="Shape 47"/>
          <p:cNvSpPr/>
          <p:nvPr/>
        </p:nvSpPr>
        <p:spPr>
          <a:xfrm>
            <a:off x="365760" y="5413248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Shape 48"/>
          <p:cNvSpPr/>
          <p:nvPr/>
        </p:nvSpPr>
        <p:spPr>
          <a:xfrm>
            <a:off x="502920" y="5532120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49"/>
          <p:cNvSpPr txBox="1"/>
          <p:nvPr/>
        </p:nvSpPr>
        <p:spPr>
          <a:xfrm>
            <a:off x="502920" y="5532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932688" y="55321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RECORRIDOS AM · MEDIODÍA · PM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530352" y="5943600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bloque: áreas a recorrer y 3–4 controles con el N° de foco entre paréntesis. El bloque PM se reserva para gestión SAP, CdP pendientes, actualización de PTS y entrega de turno.</a:t>
            </a:r>
            <a:endParaRPr lang="en-US" sz="930" dirty="0"/>
          </a:p>
        </p:txBody>
      </p:sp>
      <p:sp>
        <p:nvSpPr>
          <p:cNvPr id="55" name="Shape 52"/>
          <p:cNvSpPr/>
          <p:nvPr/>
        </p:nvSpPr>
        <p:spPr>
          <a:xfrm>
            <a:off x="4219956" y="5413248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53"/>
          <p:cNvSpPr/>
          <p:nvPr/>
        </p:nvSpPr>
        <p:spPr>
          <a:xfrm>
            <a:off x="4357116" y="5532120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4"/>
          <p:cNvSpPr txBox="1"/>
          <p:nvPr/>
        </p:nvSpPr>
        <p:spPr>
          <a:xfrm>
            <a:off x="4357116" y="5532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4786884" y="55321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TENDENCIAS DEL PERÍODO</a:t>
            </a:r>
            <a:endParaRPr lang="en-US" sz="1050" dirty="0"/>
          </a:p>
        </p:txBody>
      </p:sp>
      <p:sp>
        <p:nvSpPr>
          <p:cNvPr id="59" name="Text 56"/>
          <p:cNvSpPr txBox="1"/>
          <p:nvPr/>
        </p:nvSpPr>
        <p:spPr>
          <a:xfrm>
            <a:off x="4384548" y="5943600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Máx. 5 viñetas de 1 línea por recuadro, con su cantidad. Asociadas a controles críticos: el evento indica un control crítico específico. No asociadas: control crítico "Otro" o sin información.</a:t>
            </a:r>
            <a:endParaRPr lang="en-US" sz="930" dirty="0"/>
          </a:p>
        </p:txBody>
      </p:sp>
      <p:sp>
        <p:nvSpPr>
          <p:cNvPr id="60" name="Shape 57"/>
          <p:cNvSpPr/>
          <p:nvPr/>
        </p:nvSpPr>
        <p:spPr>
          <a:xfrm>
            <a:off x="8074152" y="5413248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Shape 58"/>
          <p:cNvSpPr/>
          <p:nvPr/>
        </p:nvSpPr>
        <p:spPr>
          <a:xfrm>
            <a:off x="8211312" y="5532120"/>
            <a:ext cx="329184" cy="329184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Text 59"/>
          <p:cNvSpPr txBox="1"/>
          <p:nvPr/>
        </p:nvSpPr>
        <p:spPr>
          <a:xfrm>
            <a:off x="8211312" y="5532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8641080" y="55321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5 · FOCO SI PRO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8238744" y="5943600"/>
            <a:ext cx="3447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fija por ahora: estrategia de controles según Directriz GSSO, herramienta GCC y registro en QR o plataforma PASSO (Gerencia SSO). No se completa, no se modifica ni se elimina hasta recibir la directriz.</a:t>
            </a:r>
            <a:endParaRPr lang="en-US" sz="930" dirty="0"/>
          </a:p>
        </p:txBody>
      </p:sp>
      <p:sp>
        <p:nvSpPr>
          <p:cNvPr id="65" name="Shape 62"/>
          <p:cNvSpPr/>
          <p:nvPr/>
        </p:nvSpPr>
        <p:spPr>
          <a:xfrm>
            <a:off x="365760" y="6839712"/>
            <a:ext cx="11457432" cy="1435608"/>
          </a:xfrm>
          <a:prstGeom prst="roundRect">
            <a:avLst>
              <a:gd name="adj" fmla="val 3822"/>
            </a:avLst>
          </a:prstGeom>
          <a:solidFill>
            <a:srgbClr val="FDF1F1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Text 63"/>
          <p:cNvSpPr txBox="1"/>
          <p:nvPr/>
        </p:nvSpPr>
        <p:spPr>
          <a:xfrm>
            <a:off x="548640" y="6912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GENERALES</a:t>
            </a:r>
            <a:endParaRPr lang="en-US" sz="1050" dirty="0"/>
          </a:p>
        </p:txBody>
      </p:sp>
      <p:sp>
        <p:nvSpPr>
          <p:cNvPr id="72" name="Nota metodologica titulo"/>
          <p:cNvSpPr txBox="1"/>
          <p:nvPr/>
        </p:nvSpPr>
        <p:spPr>
          <a:xfrm>
            <a:off x="6903720" y="69128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METODOLÓGICA · CLASIFICACIÓN N1 / N2 / N3</a:t>
            </a:r>
            <a:endParaRPr lang="en-US" sz="1050" dirty="0"/>
          </a:p>
        </p:txBody>
      </p:sp>
      <p:sp>
        <p:nvSpPr>
          <p:cNvPr id="67" name="Text 64"/>
          <p:cNvSpPr txBox="1"/>
          <p:nvPr/>
        </p:nvSpPr>
        <p:spPr>
          <a:xfrm>
            <a:off x="548640" y="7223760"/>
            <a:ext cx="6172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1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modificar columnas, colores, orden de secciones ni tamaño de la lámina.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1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Reemplazar todo texto gris entre [corchetes]; el formato publicado no debe tener corchetes ni texto gris.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1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texto no cabe, resumir: letra mínima 6 pt. Si hay menos de 4 focos, eliminar la fila sobrante (clic derecho › Eliminar fila). La fila 5 SI PRO no se elimina.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1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archivo: ASSURANCE_TURNO_[1-3 ó 2-4]_[DD-DD]_[MES].pptx  (ej.: ASSURANCE_TURNO_1-3_07-20_SEP.pptx).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1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publicar: dejar solo la lámina PLANTILLA completada y eliminar este instructivo.</a:t>
            </a:r>
            <a:endParaRPr lang="en-US" sz="930" dirty="0"/>
          </a:p>
        </p:txBody>
      </p:sp>
      <p:sp>
        <p:nvSpPr>
          <p:cNvPr id="73" name="Nota metodologica"/>
          <p:cNvSpPr txBox="1"/>
          <p:nvPr/>
        </p:nvSpPr>
        <p:spPr>
          <a:xfrm>
            <a:off x="6903720" y="7223760"/>
            <a:ext cx="47548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740" dirty="0" b="1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· Criticidad alta: </a:t>
            </a:r>
            <a:r>
              <a:rPr lang="en-US" sz="74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consecuencias graves o fatales; gestión prioritaria. ACC con lesión, ACC con daño material y CAAP.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740" dirty="0" b="1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· Criticidad intermedia: </a:t>
            </a:r>
            <a:r>
              <a:rPr lang="en-US" sz="74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y seguimiento. CBP (interacción próxima persona–situación) y HAP (control crítico no implementado o erosionado).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740" dirty="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 · HBP: </a:t>
            </a:r>
            <a:r>
              <a:rPr lang="en-US" sz="74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corrección inmediata en terreno; no ingresa como foco (solo Recurrente).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740" dirty="0" b="1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≠ prioridad: </a:t>
            </a:r>
            <a:r>
              <a:rPr lang="en-US" sz="740" dirty="0" b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nivel es la criticidad (color); la prioridad es el orden del foco: 1° N1 reiterados · 2° N1 aislados · 3° N2 reiterados · 4° N2 aislados.</a:t>
            </a:r>
            <a:endParaRPr lang="en-US" sz="930" dirty="0"/>
          </a:p>
        </p:txBody>
      </p:sp>
      <p:sp>
        <p:nvSpPr>
          <p:cNvPr id="68" name="Shape 65"/>
          <p:cNvSpPr/>
          <p:nvPr/>
        </p:nvSpPr>
        <p:spPr>
          <a:xfrm>
            <a:off x="0" y="8385048"/>
            <a:ext cx="12191695" cy="347472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Text 66"/>
          <p:cNvSpPr txBox="1"/>
          <p:nvPr/>
        </p:nvSpPr>
        <p:spPr>
          <a:xfrm>
            <a:off x="365760" y="83850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COMPROMISO: CERO DAÑO A LAS PERSONAS</a:t>
            </a:r>
            <a:endParaRPr lang="en-US" sz="950" dirty="0"/>
          </a:p>
        </p:txBody>
      </p:sp>
      <p:sp>
        <p:nvSpPr>
          <p:cNvPr id="70" name="Text 67"/>
          <p:cNvSpPr txBox="1"/>
          <p:nvPr/>
        </p:nvSpPr>
        <p:spPr>
          <a:xfrm>
            <a:off x="4206240" y="8385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▲▲  </a:t>
            </a: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ASSURANCE ITO · v1.1 · INSTRUCTIVO</a:t>
            </a:r>
            <a:endParaRPr lang="en-US" sz="800" dirty="0"/>
          </a:p>
        </p:txBody>
      </p:sp>
      <p:sp>
        <p:nvSpPr>
          <p:cNvPr id="71" name="Text 68"/>
          <p:cNvSpPr txBox="1"/>
          <p:nvPr/>
        </p:nvSpPr>
        <p:spPr>
          <a:xfrm>
            <a:off x="7680960" y="8385048"/>
            <a:ext cx="4142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SEGURIDAD, SALUD, PERSONAS Y MEDIO AMBIENTE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AA704B1-786C-46AA-99C6-ACB08ADBDD1F}">
  <we:reference id="wa200010001" version="1.0.0.1" store="es-ES" storeType="OMEX"/>
  <we:alternateReferences>
    <we:reference id="WA200010001" version="1.0.0.1" store="WA200010001" storeType="OMEX"/>
  </we:alternateReferences>
  <we:properties>
    <we:property name="claude.fileId" value="&quot;93ee4756-4e30-424f-ad1f-ff5adacd5c6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3126</Words>
  <Application>Microsoft Office PowerPoint</Application>
  <PresentationFormat>Personalizado</PresentationFormat>
  <Paragraphs>226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 Assurance ITO</dc:title>
  <dc:subject>PptxGenJS Presentation</dc:subject>
  <dc:creator>PptxGenJS</dc:creator>
  <cp:lastModifiedBy>Williams Matias Fernandez Martinez</cp:lastModifiedBy>
  <cp:revision>1</cp:revision>
  <dcterms:created xsi:type="dcterms:W3CDTF">2026-09-23T18:41:07Z</dcterms:created>
  <dcterms:modified xsi:type="dcterms:W3CDTF">2026-09-23T20:39:02Z</dcterms:modified>
</cp:coreProperties>
</file>