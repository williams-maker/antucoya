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8732838"/>
  <p:notesSz cx="8732838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7976C1-A6A9-481D-9A68-C32BE593E4DC}" v="9" dt="2026-09-23T20:26:01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29" autoAdjust="0"/>
    <p:restoredTop sz="94610"/>
  </p:normalViewPr>
  <p:slideViewPr>
    <p:cSldViewPr snapToGrid="0" snapToObjects="1">
      <p:cViewPr>
        <p:scale>
          <a:sx n="142" d="100"/>
          <a:sy n="142" d="100"/>
        </p:scale>
        <p:origin x="-210" y="-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s Matias Fernandez Martinez" userId="b35b62b0-c00e-4781-840a-3475327a3ced" providerId="ADAL" clId="{5B976092-39BD-47F6-AA12-0792861D9583}"/>
    <pc:docChg chg="custSel modSld">
      <pc:chgData name="Williams Matias Fernandez Martinez" userId="b35b62b0-c00e-4781-840a-3475327a3ced" providerId="ADAL" clId="{5B976092-39BD-47F6-AA12-0792861D9583}" dt="2026-09-23T20:38:58.885" v="545" actId="20577"/>
      <pc:docMkLst>
        <pc:docMk/>
      </pc:docMkLst>
      <pc:sldChg chg="delSp modSp mod">
        <pc:chgData name="Williams Matias Fernandez Martinez" userId="b35b62b0-c00e-4781-840a-3475327a3ced" providerId="ADAL" clId="{5B976092-39BD-47F6-AA12-0792861D9583}" dt="2026-09-23T20:38:58.885" v="545" actId="20577"/>
        <pc:sldMkLst>
          <pc:docMk/>
          <pc:sldMk cId="0" sldId="256"/>
        </pc:sldMkLst>
        <pc:spChg chg="mod">
          <ac:chgData name="Williams Matias Fernandez Martinez" userId="b35b62b0-c00e-4781-840a-3475327a3ced" providerId="ADAL" clId="{5B976092-39BD-47F6-AA12-0792861D9583}" dt="2026-09-23T20:38:58.885" v="545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8:55.219" v="539" actId="20577"/>
          <ac:spMkLst>
            <pc:docMk/>
            <pc:sldMk cId="0" sldId="256"/>
            <ac:spMk id="20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3:54.474" v="483" actId="20577"/>
          <ac:spMkLst>
            <pc:docMk/>
            <pc:sldMk cId="0" sldId="256"/>
            <ac:spMk id="24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28" v="7"/>
          <ac:spMkLst>
            <pc:docMk/>
            <pc:sldMk cId="0" sldId="256"/>
            <ac:spMk id="41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6:20.827" v="535" actId="20577"/>
          <ac:spMkLst>
            <pc:docMk/>
            <pc:sldMk cId="0" sldId="256"/>
            <ac:spMk id="42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29" v="11"/>
          <ac:spMkLst>
            <pc:docMk/>
            <pc:sldMk cId="0" sldId="256"/>
            <ac:spMk id="43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29" v="13"/>
          <ac:spMkLst>
            <pc:docMk/>
            <pc:sldMk cId="0" sldId="256"/>
            <ac:spMk id="44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5:35.153" v="499" actId="20577"/>
          <ac:spMkLst>
            <pc:docMk/>
            <pc:sldMk cId="0" sldId="256"/>
            <ac:spMk id="45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30" v="17"/>
          <ac:spMkLst>
            <pc:docMk/>
            <pc:sldMk cId="0" sldId="256"/>
            <ac:spMk id="46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0" v="0"/>
          <ac:spMkLst>
            <pc:docMk/>
            <pc:sldMk cId="0" sldId="256"/>
            <ac:spMk id="47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1" v="1"/>
          <ac:spMkLst>
            <pc:docMk/>
            <pc:sldMk cId="0" sldId="256"/>
            <ac:spMk id="48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2"/>
          <ac:spMkLst>
            <pc:docMk/>
            <pc:sldMk cId="0" sldId="256"/>
            <ac:spMk id="49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3"/>
          <ac:spMkLst>
            <pc:docMk/>
            <pc:sldMk cId="0" sldId="256"/>
            <ac:spMk id="50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4"/>
          <ac:spMkLst>
            <pc:docMk/>
            <pc:sldMk cId="0" sldId="256"/>
            <ac:spMk id="51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5"/>
          <ac:spMkLst>
            <pc:docMk/>
            <pc:sldMk cId="0" sldId="256"/>
            <ac:spMk id="52" creationId="{00000000-0000-0000-0000-000000000000}"/>
          </ac:spMkLst>
        </pc:spChg>
        <pc:graphicFrameChg chg="mod modGraphic">
          <ac:chgData name="Williams Matias Fernandez Martinez" userId="b35b62b0-c00e-4781-840a-3475327a3ced" providerId="ADAL" clId="{5B976092-39BD-47F6-AA12-0792861D9583}" dt="2026-09-23T20:28:54.706" v="428" actId="20577"/>
          <ac:graphicFrameMkLst>
            <pc:docMk/>
            <pc:sldMk cId="0" sldId="256"/>
            <ac:graphicFrameMk id="2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43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164592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0" y="1828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TURNO [1-3 / 2-4]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2194560" y="6858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FOCOS PRIORITARIOS DE VERIFICACIÓN EN TERRENO – ITO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9144000" y="12801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/ PERÍODO: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424160" y="1280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[del __ al __ / MES]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9144000" y="3108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TURNO: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424160" y="3108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1-3     ☐ 2-4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4937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ITO: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0424160" y="4937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6766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/ EECC: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0424160" y="6766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0" y="8595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/ SECTOR: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0424160" y="85953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65760" y="1060704"/>
            <a:ext cx="11457432" cy="27432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 txBox="1"/>
          <p:nvPr/>
        </p:nvSpPr>
        <p:spPr>
          <a:xfrm>
            <a:off x="365760" y="1060704"/>
            <a:ext cx="1618488" cy="274320"/>
          </a:xfrm>
          <a:prstGeom prst="rect">
            <a:avLst/>
          </a:prstGeom>
          <a:solidFill>
            <a:srgbClr val="1F3D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ÚLTIMOS 14 DÍAS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2103120" y="1060704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[del __ al __ MES]     </a:t>
            </a: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N1+N2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CAAP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14 días anteriores: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 [▲ / ▼ / =]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1389888"/>
            <a:ext cx="1188720" cy="201168"/>
          </a:xfrm>
          <a:prstGeom prst="rect">
            <a:avLst/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CRITICIDAD ALTA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1618488" y="1389888"/>
            <a:ext cx="1481328" cy="201168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· CRITICIDAD INTERMEDIA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3172968" y="1389888"/>
            <a:ext cx="865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N1: </a:t>
            </a:r>
            <a:r>
              <a:rPr lang="en-US" sz="700" b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accidente con lesión o daño material · CAAP     </a:t>
            </a:r>
            <a:r>
              <a:rPr lang="en-US" sz="7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N2: </a:t>
            </a:r>
            <a:r>
              <a:rPr lang="en-US" sz="700" b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 · HAP     </a:t>
            </a:r>
            <a:r>
              <a:rPr lang="en-US" sz="7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(HBP): </a:t>
            </a:r>
            <a:r>
              <a:rPr lang="en-US" sz="700" b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genera foco; puede ir como evidencia complementaria</a:t>
            </a:r>
            <a:endParaRPr lang="en-US" sz="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710532"/>
              </p:ext>
            </p:extLst>
          </p:nvPr>
        </p:nvGraphicFramePr>
        <p:xfrm>
          <a:off x="365760" y="1645920"/>
          <a:ext cx="11457432" cy="3673856"/>
        </p:xfrm>
        <a:graphic>
          <a:graphicData uri="http://schemas.openxmlformats.org/drawingml/2006/table">
            <a:tbl>
              <a:tblPr/>
              <a:tblGrid>
                <a:gridCol w="911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NIVEL / PRIORIDAD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DE ASSURANCE (INSTRUCCIÓN OPERACIONAL Y CRITERIO DE RESTRICCIÓN)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 / EVIDENCIA ORIGEN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 PREVENTIVA SGE (EXPLICAR QUE SE TIENE QUE REALIZAR DURANTE EL TURNO)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 / REGISTRO ESPERADO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 · CRITICIDAD 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foco].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[Verificar… qué se revisa, dónde y bajo qué estándar. Máx. 3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[Cuándo se prohíbe o se detiene la tarea. Máx. 2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[Herramienta + herramienta + ASP]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[Registro verificable]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 · CRITICIDAD 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foco].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[Verificar… qué se revisa, dónde y bajo qué estándar. Máx. 3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[Cuándo se prohíbe o se detiene la tarea. Máx. 2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[Herramienta + herramienta + ASP]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[Registro verificable]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 · CRITICIDAD 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foco].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[Verificar… qué se revisa, dónde y bajo qué estándar. Máx. 3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[Cuándo se prohíbe o se detiene la tarea. Máx. 2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[Herramienta + herramienta + ASP]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[Registro verificable]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· CRITICIDAD INTERMEDIA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foco].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[Verificar… qué se revisa, dónde y bajo qué estándar. Máx. 3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>
                          <a:solidFill>
                            <a:srgbClr val="B3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[Cuándo se prohíbe o se detiene la tarea. Máx. 2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[Herramienta + herramienta + ASP]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[Registro verificable]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FOCO – SI PRO -  ESTRATEGIA DE CONTROLES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</a:t>
                      </a:r>
                      <a:r>
                        <a:rPr lang="en-US" sz="630" b="1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</a:t>
                      </a: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se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revisa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y bajo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estándar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3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líneas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</a:t>
                      </a:r>
                      <a:r>
                        <a:rPr lang="en-US" sz="63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 </a:t>
                      </a:r>
                      <a:r>
                        <a:rPr lang="en-US" sz="630" b="1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restricción</a:t>
                      </a:r>
                      <a:r>
                        <a:rPr lang="en-US" sz="630" b="1" dirty="0">
                          <a:solidFill>
                            <a:srgbClr val="00B0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se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prohíbe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 se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detiene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la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tarea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2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líneas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DIRECTRIZ GSSO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3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GCC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3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QR O PLATAFORMA PASSO (GERENCIA SSO)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98127"/>
                  </a:ext>
                </a:extLst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365760" y="5852160"/>
            <a:ext cx="960120" cy="292608"/>
          </a:xfrm>
          <a:prstGeom prst="rect">
            <a:avLst/>
          </a:prstGeom>
          <a:solidFill>
            <a:srgbClr val="155A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1325880" y="5852160"/>
            <a:ext cx="10497312" cy="292608"/>
          </a:xfrm>
          <a:prstGeom prst="rect">
            <a:avLst/>
          </a:prstGeom>
          <a:solidFill>
            <a:srgbClr val="17707A"/>
          </a:solidFill>
          <a:ln w="12700">
            <a:solidFill>
              <a:srgbClr val="1770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0"/>
          <p:cNvSpPr txBox="1"/>
          <p:nvPr/>
        </p:nvSpPr>
        <p:spPr>
          <a:xfrm>
            <a:off x="1417320" y="5852160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[N°] </a:t>
            </a:r>
            <a:r>
              <a:rPr lang="en-US" sz="700" b="1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</a:t>
            </a: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HBP — </a:t>
            </a:r>
            <a:r>
              <a:rPr lang="en-US" sz="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[tema más repetido (cantidad)] · [tema (cantidad)]. Refuerzo transversal en todos los recorridos y al cierre de cada tarea.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365760" y="6236208"/>
            <a:ext cx="6172200" cy="219456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2"/>
          <p:cNvSpPr txBox="1"/>
          <p:nvPr/>
        </p:nvSpPr>
        <p:spPr>
          <a:xfrm>
            <a:off x="457200" y="623620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DE TENDENCIAS Y RECOMENDACIÓN DE RECORRIDOS – SUPERVISOR ITO</a:t>
            </a:r>
            <a:endParaRPr lang="en-US" sz="7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652881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94944" y="651052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AM · INICIO DE TURNO</a:t>
            </a:r>
            <a:endParaRPr lang="en-US" sz="730" dirty="0"/>
          </a:p>
        </p:txBody>
      </p:sp>
      <p:sp>
        <p:nvSpPr>
          <p:cNvPr id="29" name="Text 24"/>
          <p:cNvSpPr txBox="1"/>
          <p:nvPr/>
        </p:nvSpPr>
        <p:spPr>
          <a:xfrm>
            <a:off x="438912" y="67848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[Áreas a recorrer al inicio del turno]</a:t>
            </a:r>
            <a:endParaRPr lang="en-US" sz="650" dirty="0"/>
          </a:p>
        </p:txBody>
      </p:sp>
      <p:sp>
        <p:nvSpPr>
          <p:cNvPr id="30" name="Text 25"/>
          <p:cNvSpPr txBox="1"/>
          <p:nvPr/>
        </p:nvSpPr>
        <p:spPr>
          <a:xfrm>
            <a:off x="438912" y="7077456"/>
            <a:ext cx="1911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</p:txBody>
      </p:sp>
      <p:sp>
        <p:nvSpPr>
          <p:cNvPr id="31" name="Shape 26"/>
          <p:cNvSpPr/>
          <p:nvPr/>
        </p:nvSpPr>
        <p:spPr>
          <a:xfrm>
            <a:off x="2423160" y="6556248"/>
            <a:ext cx="9144" cy="1280160"/>
          </a:xfrm>
          <a:prstGeom prst="rect">
            <a:avLst/>
          </a:prstGeom>
          <a:solidFill>
            <a:srgbClr val="C9D3E0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312" y="6528816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2752344" y="651052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MEDIODÍA · INTERVENCIÓN</a:t>
            </a:r>
            <a:endParaRPr lang="en-US" sz="730" dirty="0"/>
          </a:p>
        </p:txBody>
      </p:sp>
      <p:sp>
        <p:nvSpPr>
          <p:cNvPr id="34" name="Text 28"/>
          <p:cNvSpPr txBox="1"/>
          <p:nvPr/>
        </p:nvSpPr>
        <p:spPr>
          <a:xfrm>
            <a:off x="2496312" y="67848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[Áreas a recorrer a mediodía]</a:t>
            </a:r>
            <a:endParaRPr lang="en-US" sz="650" dirty="0"/>
          </a:p>
        </p:txBody>
      </p:sp>
      <p:sp>
        <p:nvSpPr>
          <p:cNvPr id="35" name="Text 29"/>
          <p:cNvSpPr txBox="1"/>
          <p:nvPr/>
        </p:nvSpPr>
        <p:spPr>
          <a:xfrm>
            <a:off x="2496312" y="7077456"/>
            <a:ext cx="1911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</p:txBody>
      </p:sp>
      <p:sp>
        <p:nvSpPr>
          <p:cNvPr id="36" name="Shape 30"/>
          <p:cNvSpPr/>
          <p:nvPr/>
        </p:nvSpPr>
        <p:spPr>
          <a:xfrm>
            <a:off x="4480560" y="6556248"/>
            <a:ext cx="9144" cy="1280160"/>
          </a:xfrm>
          <a:prstGeom prst="rect">
            <a:avLst/>
          </a:prstGeom>
          <a:solidFill>
            <a:srgbClr val="C9D3E0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6528816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4809744" y="651052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PM · CIERRE DE JORNADA</a:t>
            </a:r>
            <a:endParaRPr lang="en-US" sz="730" dirty="0"/>
          </a:p>
        </p:txBody>
      </p:sp>
      <p:sp>
        <p:nvSpPr>
          <p:cNvPr id="39" name="Text 32"/>
          <p:cNvSpPr txBox="1"/>
          <p:nvPr/>
        </p:nvSpPr>
        <p:spPr>
          <a:xfrm>
            <a:off x="4553712" y="67848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SAP · CdP pendientes · Entrega de turno</a:t>
            </a:r>
            <a:endParaRPr lang="en-US" sz="650" dirty="0"/>
          </a:p>
        </p:txBody>
      </p:sp>
      <p:sp>
        <p:nvSpPr>
          <p:cNvPr id="40" name="Text 33"/>
          <p:cNvSpPr txBox="1"/>
          <p:nvPr/>
        </p:nvSpPr>
        <p:spPr>
          <a:xfrm>
            <a:off x="4553712" y="7077456"/>
            <a:ext cx="1911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Actualizar PTS con brechas de CdP: [cuáles]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Registrar hallazgos en SAP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Informar recurrentes en entrega de turno</a:t>
            </a:r>
            <a:endParaRPr lang="en-US" sz="680" dirty="0"/>
          </a:p>
        </p:txBody>
      </p:sp>
      <p:sp>
        <p:nvSpPr>
          <p:cNvPr id="41" name="Shape 34"/>
          <p:cNvSpPr/>
          <p:nvPr/>
        </p:nvSpPr>
        <p:spPr>
          <a:xfrm>
            <a:off x="6680200" y="6236208"/>
            <a:ext cx="2527300" cy="1645920"/>
          </a:xfrm>
          <a:prstGeom prst="roundRect">
            <a:avLst>
              <a:gd name="adj" fmla="val 3333"/>
            </a:avLst>
          </a:prstGeom>
          <a:solidFill>
            <a:srgbClr val="FDF1F1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5"/>
          <p:cNvSpPr txBox="1"/>
          <p:nvPr/>
        </p:nvSpPr>
        <p:spPr>
          <a:xfrm>
            <a:off x="6715760" y="6248579"/>
            <a:ext cx="23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NO ASOCIADAS A CONTROLES CRÍTICOS</a:t>
            </a:r>
            <a:endParaRPr lang="en-US" sz="730" dirty="0"/>
          </a:p>
        </p:txBody>
      </p:sp>
      <p:sp>
        <p:nvSpPr>
          <p:cNvPr id="43" name="Text 36"/>
          <p:cNvSpPr txBox="1"/>
          <p:nvPr/>
        </p:nvSpPr>
        <p:spPr>
          <a:xfrm>
            <a:off x="6743700" y="6620256"/>
            <a:ext cx="24003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1: tema (cantidad)]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2]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3]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4]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5]</a:t>
            </a:r>
            <a:endParaRPr lang="en-US" sz="680" dirty="0"/>
          </a:p>
        </p:txBody>
      </p:sp>
      <p:sp>
        <p:nvSpPr>
          <p:cNvPr id="44" name="Shape 37"/>
          <p:cNvSpPr/>
          <p:nvPr/>
        </p:nvSpPr>
        <p:spPr>
          <a:xfrm>
            <a:off x="9296400" y="6236208"/>
            <a:ext cx="2527300" cy="164592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38"/>
          <p:cNvSpPr txBox="1"/>
          <p:nvPr/>
        </p:nvSpPr>
        <p:spPr>
          <a:xfrm>
            <a:off x="9372600" y="6272784"/>
            <a:ext cx="23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ASOCIADAS A CONTROLES CRÍTICOS</a:t>
            </a:r>
            <a:endParaRPr lang="en-US" sz="730" dirty="0"/>
          </a:p>
        </p:txBody>
      </p:sp>
      <p:sp>
        <p:nvSpPr>
          <p:cNvPr id="46" name="Text 39"/>
          <p:cNvSpPr txBox="1"/>
          <p:nvPr/>
        </p:nvSpPr>
        <p:spPr>
          <a:xfrm>
            <a:off x="9372600" y="6620256"/>
            <a:ext cx="24003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1: tema – control crítico (cantidad)]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2]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3]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4]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5]</a:t>
            </a:r>
            <a:endParaRPr lang="en-US" sz="680" dirty="0"/>
          </a:p>
        </p:txBody>
      </p:sp>
      <p:sp>
        <p:nvSpPr>
          <p:cNvPr id="53" name="Shape 46"/>
          <p:cNvSpPr/>
          <p:nvPr/>
        </p:nvSpPr>
        <p:spPr>
          <a:xfrm>
            <a:off x="0" y="8385048"/>
            <a:ext cx="12191695" cy="347472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47"/>
          <p:cNvSpPr txBox="1"/>
          <p:nvPr/>
        </p:nvSpPr>
        <p:spPr>
          <a:xfrm>
            <a:off x="365760" y="83850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COMPROMISO: CERO DAÑO A LAS PERSONAS</a:t>
            </a:r>
            <a:endParaRPr lang="en-US" sz="950" dirty="0"/>
          </a:p>
        </p:txBody>
      </p:sp>
      <p:sp>
        <p:nvSpPr>
          <p:cNvPr id="55" name="Text 48"/>
          <p:cNvSpPr txBox="1"/>
          <p:nvPr/>
        </p:nvSpPr>
        <p:spPr>
          <a:xfrm>
            <a:off x="4206240" y="8385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▲▲  </a:t>
            </a: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ASSURANCE ITO · v1.2 · PLANTILLA</a:t>
            </a:r>
            <a:endParaRPr lang="en-US" sz="800" dirty="0"/>
          </a:p>
        </p:txBody>
      </p:sp>
      <p:sp>
        <p:nvSpPr>
          <p:cNvPr id="56" name="Text 49"/>
          <p:cNvSpPr txBox="1"/>
          <p:nvPr/>
        </p:nvSpPr>
        <p:spPr>
          <a:xfrm>
            <a:off x="7680960" y="8385048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SALUD, PERSONAS Y MEDIO AMBIENTE</a:t>
            </a:r>
            <a:endParaRPr lang="en-US" sz="950" dirty="0"/>
          </a:p>
        </p:txBody>
      </p:sp>
      <p:sp>
        <p:nvSpPr>
          <p:cNvPr id="57" name="Instrucciones IA" hidden="1"/>
          <p:cNvSpPr txBox="1"/>
          <p:nvPr/>
        </p:nvSpPr>
        <p:spPr>
          <a:xfrm>
            <a:off x="12648895" y="0"/>
            <a:ext cx="5486400" cy="873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 PARA ASISTENTES IA – FORMATO ASSURANCE ITO v1.2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 debe quedar lo más parecido posible al Assurance que prepara la gerencia: misma lógica de agrupación, mismo orden, mismo formato de eventos y mismo estilo y nivel de detalle en la redacción. El punto 16 trae un Assurance real de la gerencia como modelo: imítalo.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Excel de eventos de seguridad que entrega el usuario, completar la lámina 1 "PLANTILLA" de este archivo con los focos prioritarios de verificación en terreno para el turno y período indicados.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METODOLÓGICA (criterio obligatorio)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clasificación se basa en las categorías N1, N2 y N3, según el nivel de riesgo/potencial de la desviación y el tratamiento que corresponde a cada una: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N1 · CRITICIDAD ALTA: situaciones de alta criticidad, asociadas a riesgos con potencial de consecuencias graves o fatales, que requieren intervención y gestión prioritaria. Incluye: accidentes con lesión a personas, accidentes con daño material (DM) y cuasi accidentes de alto potencial (CAAP).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N2 · CRITICIDAD INTERMEDIA: desviaciones de criticidad intermedia que requieren gestión y seguimiento según el riesgo identificado. Incluye: CBP (interacción próxima entre personas y la situación de riesgo) y HAP (hallazgos asociados a controles críticos no implementados o erosionados, antes de que se generen las interacciones).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N3: desviaciones de menor criticidad (HBP), que se resuelven con corrección inmediata o gestión directa en terreno. Los HBP NUNCA generan un foco ni definen su nivel, pero SÍ pueden acompañar a un foco existente como evidencia complementaria (ver punto 3) y se usan en la franja RECURRENTE.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ENTRADAS Y DATOS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Excel de eventos: hoja "Export". Columnas: "ID del Evento", "Fecha Evento", "Empresa", "Clasificación", "Potencialidad", "Titulo", "Descripción", "RIESGO INVOLUCRADO", "CONTROL CRITICO", "AREA_GEO", "Fecha cierre evento". Si el Excel tiene otras columnas equivalentes, úsalas.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Tipo de evento: Clasificación "Accidente" = ACC (cualquier potencialidad; "DM" en el título = daño material). "Cuasi accidente" + "Alto Potencial" = CAAP. "Cuasi accidente" + "Bajo Potencial" = CBP. "Hallazgo" + "Alto Potencial" = HAP. "Hallazgo" + "Bajo Potencial" = HBP.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 Excel no trae el turno. El usuario debe indicar: (a) el turno ENTRANTE para el que se prepara el Assurance, (b) su período de vigencia y (c) la fecha de cierre de los datos. Si falta alguno, pregunta antes de completar.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 exclusivamente datos del Excel. Nunca inventes IDs, empresas, fechas, áreas ni eventos. Copia los IDs exactamente como aparecen.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falta un dato necesario, escribe [DATO FALTANTE] en esa casilla e infórmalo al usuario.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incluyas nombres de personas; usa el cargo o rol (trabajador, rigger, operador, supervisor).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INDICADORES 14 DÍAS (franja "EVENTOS ÚLTIMOS 14 DÍAS")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Período actual: la fecha de cierre y los 13 días previos, según "Fecha Evento". Escríbelo como "del DD al DD MES". Ej.: cierre 23 SEP → del 10 al 23 SEP.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Total N1+N2: suma de ACC + CAAP + HAP + CBP del período. Los HBP (N3) no se cuentan aquí.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vs. 14 días anteriores: Total N1+N2 de los 14 días inmediatamente previos, sin superponerse (en el ejemplo: del 27 AGO al 09 SEP), seguido de ▲ si el total actual es mayor, ▼ si es menor o = si es igual. Ej.: "5 ▲". Si el Excel no cubre ese período, escribe [DATO FALTANTE].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Verifica que ACC + CAAP + HAP + CBP = Total.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SELECCIÓN DE FOCOS (filas 1 a 4)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Un foco nace SOLO de eventos N1/N2 del período (ACC, CAAP, HAP, CBP). Los HBP (N3) nunca generan un foco por sí solos.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TEMA = brecha o control específico, NO la categoría general de riesgo. Ej.: "plan de izaje por maniobra", "segregación y comunicación en izaje", "inspección pre-uso de vehículos y equipos", "liberación de andamios". Si un mismo riesgo (p. ej., izaje) tiene brechas distintas, van en focos distintos.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Para asignar el tema lee "Titulo" y "Descripción" de cada evento, no solo "RIESGO INVOLUCRADO": más del 70% de los eventos dice "Otro riesgo de seguridad" pero sí pertenece a un tema (p. ej., el CBP por retiro de eslinga en borde de zanja pertenece a izaje). PROHIBIDO usar "Otro", "Otro riesgo de seguridad" o "Sin Información" como tema en focos, Recurrente o tendencias.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 COMPLEMENTARIA (HBP): después de definir los focos con los N1/N2, busca los HBP del período que correspondan a la misma brecha de cada foco y agrégalos como evidencia complementaria. Sus detalles (equipo, lugar, condición) sirven para que la instrucción del foco sea más específica. Un HBP no puede cambiar el nivel del foco.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 CON REITERACIÓN O EVIDENCIA: tiene 2 o más eventos en total (N1/N2 + HBP complementarios).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 AISLADO: tiene un solo evento N1/N2 y ningún HBP complementario. Los focos aislados SÍ se incluyen.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Máximo 4 focos. Si hay más, se quedan los de mayor PRIORIDAD (punto 4) y se informa al usuario cuáles quedaron fuera. Si hay menos, elimina las filas sobrantes (nunca la fila 5).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NIVEL Y PRIORIDAD – SON DOS COSAS DISTINTAS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= criticidad del foco. Lo define el TIPO del evento N1/N2 más grave del foco (los HBP no cuentan) y determina el texto y el COLOR de la celda. No cambia por la cantidad de eventos ni por la posición del foco.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N1 · CRITICIDAD ALTA (celda roja C62828): ACC con lesión a personas, ACC con daño material (DM), CAAP.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N2 · CRITICIDAD INTERMEDIA (celda naranja E67E22): CBP, HAP.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N3 (HBP): nunca genera foco ni define nivel; solo evidencia complementaria y Recurrente.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Gravedad de los tipos de evento: ACC con lesión &gt; ACC con daño material &gt; CAAP &gt; CBP &gt; HAP.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= orden del foco en la tabla (foco 1 = primera fila). Es el número que va en la celda. Grupos, en este orden: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- 1°: focos N1 con reiteración o evidencia.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- 2°: focos N1 aislados.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- 3°: focos N2 con reiteración o evidencia.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- 4°: focos N2 aislados.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Regla general: primero el nivel (todo N1 antes que todo N2) y, dentro de cada nivel, con reiteración/evidencia antes que aislado.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 DENTRO de cada grupo: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Grupos con reiteración o evidencia (1° y 3°): se ordenan por REPETICIÓN: (a) más eventos N1/N2; (b) si empatan, más HBP complementarios; (c) si empatan, tipo de evento más grave; (d) evento más reciente.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Grupos aislados (2° y 4°): se ordenan por GRAVEDAD del tipo de evento (ACC con lesión &gt; ACC con daño material &gt; CAAP &gt; CBP &gt; HAP); si empatan, evento más reciente.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Ejemplos: un CAAP aislado (N1, rojo) va ANTES que un foco con 2 HAP (N2, naranja). Entre dos focos N2 con evidencia, uno con HAP + CBP (2 eventos N1/N2) va antes que uno con HAP + 3 HBP (1 evento N1/N2); y ese va antes que uno con CBP + 1 HBP (1 evento N1/N2, menos HBP).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Texto de la celda: número de prioridad + "N1 · CRITICIDAD ALTA" o "N2 · CRITICIDAD INTERMEDIA". Ajusta texto y color de cada fila al nivel real (la plantilla trae 3 filas N1 y 1 N2 solo como referencia).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FILA 5 – FOCO SI PRO · ESTRATEGIA DE CONTROLES (fila fija, gris)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Por ahora es fija: déjala exactamente como está en la plantilla, sin completar ni modificar ninguna de sus casillas (incluido su texto guía), y no la elimines. Es la única excepción a la regla de reemplazar los corchetes.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FOCO DE ASSURANCE – INSTRUCCIÓN ESPECÍFICA PARA EL TURNO ENTRANTE (estilo de la gerencia)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 foco es una instrucción operacional para el turno que entra. Mientras más específica, mejor; una instrucción general no sirve.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Estilo de la gerencia: una sola oración que empieza con "Verificar…", seguida de dos puntos o punto y coma con la lista de controles concretos a revisar, tomados de las brechas de los eventos (incluidos los HBP complementarios). Debe quedar claro qué se revisa, quién lo hace y cuándo (antes de izar, antes de habilitar, al inicio del turno…). Máximo unos 350 caracteres.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Formato en la celda: "Tema del foco." corto en negrita (2 a 5 palabras) + la instrucción. Luego, en línea aparte, "Criterio de restricción:" (en negrita) + la condición concreta en que se prohíbe o se detiene la tarea (máximo unos 150 caracteres).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Ejemplo NO válido (general): "Verificar que los izajes se realicen de forma segura."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Ejemplos válidos: los del punto 16 (textos reales de la gerencia).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Redacta solo a partir de las brechas reales de los eventos. No cites números de estándares o procedimientos que no estén en el Excel.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EVENTO / EVIDENCIA ORIGEN (formato de la gerencia)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Primero los eventos N1/N2 del foco, del más grave al menos grave; después los HBP complementarios (máximo 3; si hay más, agrega "+ N HBP más"). Foco aislado: su único evento + "(evento aislado)".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Formato fijo por evento, igual que la gerencia: "TIPO ID 555505 – EMPRESA:" (en negrita) + qué ocurrió, en una frase concreta de hasta 120 caracteres con los datos del evento (equipo, carga, lugar, medida). TIPO = ACC, CAAP, HAP, CBP o HBP. Sin marca de turno.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dos HBP describen lo mismo, júntalos: "HBP ID 554110 / 556748: generadores sin horómetro ni responsable."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HERRAMIENTA PREVENTIVA SGE (explicar qué se tiene que realizar durante el turno)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Combinación de herramientas unida con "+", como la gerencia (p. ej., "GCC + CdP Maniobras de Izaje + ASP"), seguida de ":" y la acción concreta a realizar durante el turno (qué, dónde, frecuencia). Ej.: "GCC + CdP Maniobras de Izaje + ASP: CdP al inicio del turno en cada frente con izaje; ASP antes de cada levante."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Herramientas de referencia: GCC, CdP [tema], ASP, PTS, Gestión del Cambio, Desafío en Terreno, Inspección de Plataformas (de andamios), EdC Vehículo Liviano, Inspección de Equipos, Acompañamiento ASP. Usa también las que figuren en el Excel (prefijos "CdP-", "ASP-", "EdC-", "GCC-" en el título).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EVIDENCIA / REGISTRO ESPERADO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Como la gerencia: 2 a 4 registros concretos y verificables, relacionados con los controles del foco, separados por "/" y terminando en "registro fotográfico". Ej.: "Plan de izaje específico por maniobra / validación del supervisor / registro fotográfico".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RECURRENTE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Temas de HBP que se repiten en el período (2 o más eventos del mismo tema) y que NO son foco. Agrúpalos por lo que describe el evento (título/descripción), nunca por "Otro riesgo de seguridad".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Formato: "N eventos HBP — tema (n) · tema (n). Refuerzo transversal en todos los recorridos y al cierre de cada tarea." N = suma de los temas mostrados (2 o 3 temas más repetidos). Un HBP usado como evidencia complementaria también puede contarse aquí si su tema se repite. Ej.: "7 eventos HBP — acopio de material y housekeeping deficiente (4) · extensiones eléctricas sin pasacable (3)."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SÍNTESIS Y RECORRIDOS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AM y Bloque Mediodía: áreas reales tomadas de "AREA_GEO" (como la gerencia: "Piscinas ILS–PLS · Pila Oeste · Izaje") + 3 controles cortos (máx. ~45 caracteres), cada uno con el N° de foco entre paréntesis, p. ej. "Plan de izaje específico por maniobra (1)". Asigna al AM los focos de inicio de jornada (izaje, pre-uso de vehículos y equipos) y al Mediodía los de intervención (plataformas, instalaciones eléctricas, excavaciones) más los temas de la franja Recurrente (p. ej., "Extensiones eléctricas con pasacable", "Acopio y housekeeping en zonas habilitadas").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PM: mantén "Gestión SAP · CdP pendientes · Entrega de turno" y sus líneas fijas. En "Actualizar PTS con brechas de CdP:" indica las brechas concretas que detectaron las CdP del período (eventos con "CdP" en el título, incluidos HBP), p. ej.: "maxisacos sobre tubería HDPE, pletinas en acople campana-espiga y vienteros en desacople"; si no hay, elimina esa línea.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Recuadro "TENDENCIAS ASOCIADAS A CONTROLES CRÍTICOS": patrones del período (N1, N2 y N3) cuyo "CONTROL CRITICO" corresponde a un control crítico específico (por ejemplo, los marcados "(C.C.)"). Formato: "Tema: control crítico afectado (n)".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Recuadro "TENDENCIAS NO ASOCIADAS A CONTROLES CRÍTICOS": patrones cuyo "CONTROL CRITICO" es "Otro", "Sin Información" o está vacío. Formato: "Tema (n)". Nunca uses "Otro" como tema: deduce el tema del título y la descripción.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Máximo 5 viñetas de 1 línea (unos 50 caracteres) por recuadro, de mayor a menor cantidad.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ENCABEZADO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Título: "ASSURANCE TURNO 1-3" o "ASSURANCE TURNO 2-4", según el turno ENTRANTE. FECHA / PERÍODO: vigencia del turno entrante, "DD al DD MES" (el período de los datos va en la franja de indicadores, no aquí). TURNO: marca ☒ en el turno entrante.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Inspector ITO, Proyecto/EECC y Área/Sector: complétalos solo si el usuario los entrega; si no, deja la línea en blanco.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FORMATO (obligatorio)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cambies estructura, columnas, colores (salvo el de la celda de nivel según el punto 4), fuentes, íconos ni tamaño de la lámina.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Reemplaza todo texto gris entre [corchetes] por contenido real en color de texto normal (negro, sin cursiva). No debe quedar ningún corchete, salvo [DATO FALTANTE] y la fila 5 (fija).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Letra mínima 6 pt. Si el texto no cabe, resume; no reduzcas más la letra ni agrandes filas.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Antes de entregar: elimina la lámina 2 (instructivo). No modifiques ni muevas el cuadro de texto oculto "Instrucciones IA" de la lámina 1.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Nombre del archivo: ASSURANCE_TURNO_[1-3 o 2-4]_[DD-DD]_[MES].pptx (ej.: ASSURANCE_TURNO_1-3_07-20_SEP.pptx).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ENTREGA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puedes editar archivos .pptx: entrega el archivo completado.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no puedes: entrega el contenido en texto, ordenado por sección y por fila de la plantilla (Encabezado; Indicadores 14 días; Focos 1 a 4 con sus 5 columnas; Fila 5 SI PRO; Recurrente; Bloques AM/Mediodía/PM; Tendencias no asociadas; Tendencias asociadas a controles críticos), listo para copiar y pegar en cada casilla.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CONTROL DE CALIDAD (en tu respuesta al usuario, no dentro del archivo)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 de tu respuesta incluye un resumen breve con: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total de eventos leídos del período y cuántos de cada tipo (ACC, CAAP, HAP, CBP, HBP);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eventos N1/N2 y HBP complementarios usados en cada foco, y los N1/N2 que quedaron fuera, con el motivo;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datos faltantes o inconsistentes y supuestos realizados.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entregar, confirma que: cada ID existe en el Excel; cada foco nace de al menos un evento N1/N2; todos los focos N1 van antes que los N2; dentro de cada nivel, los focos con reiteración/evidencia van antes que los aislados y se ordenan como indica el punto 4; ningún tema se llama "Otro"; los eventos con riesgo "Otro" fueron asignados a un tema leyendo su descripción; cada foco contiene al menos un dato concreto de sus eventos; el NIVEL (color) de cada foco corresponde a su evento más grave y la PRIORIDAD (orden) sigue el punto 4; ningún HBP generó un foco ni definió un nivel; los conteos de indicadores y Recurrente cuadran; y no quedan textos guía.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EJEMPLO RESUELTO – ASSURANCE REAL DE LA GERENCIA (modelo a imitar)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Datos: período del 10 al 23 SEP 2026. Eventos N1/N2: CAAP 555505, HAP 555358, HAP 556119, HAP 553767, CBP 554227, CBP 554901. Así lo armó la gerencia (texto real; el nivel y el orden ya aplican las reglas N1/N2 y de prioridad de este formato):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1 · N1 · CRITICIDAD ALTA (N1 con reiteración)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que toda maniobra de izaje cuente con plan de izaje específico y vigente para la carga y el equipo que se iza; el rigger debe portarlo en terreno y el supervisor validar que corresponda a la maniobra antes de autorizar el levante."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"CAAP ID 555505 – PUMA: plan de izaje exhibido por el rigger correspondía a descarga de cañería HDPE 12 m y no a la escala modular izada. HAP ID 555358 – PUMA: izaje de equipo de electrofusión sin plan específico; se detiene la actividad."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"GCC + CdP Maniobras de Izaje + ASP"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"Plan de izaje específico por maniobra / validación del supervisor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2 · N2 · CRITICIDAD INTERMEDIA (N2 con reiteración: 2 eventos N1/N2 + 1 HBP)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segregación efectiva y comunicación bidireccional en el área de influencia de la carga: control de acceso antes de izar, operador y rigger con radio en frecuencia acordada, uso de vientos y posicionamiento fuera de bordes de zanja al desacoplar."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"HAP ID 556119 – PUMA: carga de maxisacos con grúa horquilla sin segregación efectiva ni comunicación operador–personal. CBP ID 554227 – PUMA: trabajador retira eslinga con un pie al borde de zanja y otro sobre tubería Ø1.200 mm. HBP ID 554488: falta de vienteros."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(Ojo: el CBP 554227 figura en el Excel como "Otro riesgo de seguridad", pero por su descripción es de izaje.)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"GCC + CdP Maniobras de Izaje + Desafío en Terreno"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"Área segregada / radio operativa en operador y rigger / vientos en uso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3 · N2 · CRITICIDAD INTERMEDIA (N2 con evidencia: 1 evento N1/N2 + 3 HBP)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inspección pre-uso de vehículos y equipos antes de habilitarlos: neumáticos y elementos críticos sin daño, check list del turno completo con registro de horómetro, letrero de supervisor con frecuencia radial y plan de tránsito firmado por el relator."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"HAP ID 553767 – J.E.J.: camioneta con neumático dañado (llantazo) detectado en inspección previa al uso. HBP ID 554865 – PUMA: camión pluma TW PT-21 sin letrero de supervisor y plan de tránsito sin firma. HBP ID 554110 / 556748: generadores sin horómetro ni responsable."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"EdC Vehículo Liviano + Inspección de Equipos + ASP"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"Check list pre-uso del turno / letrero y plan de tránsito firmados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4 · N2 · CRITICIDAD INTERMEDIA (N2 con evidencia: 1 evento N1/N2 + 1 HBP)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plataformas temporales antes de habilitar el acceso: rodapié y peldaños instalados aunque la tarjeta verde esté vigente, doble baranda en vanos y bordes, y superficie de trabajo libre de material acopiado."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"CBP ID 554901 – PUMA: andamio en canaletas lado Oeste con tarjeta verde vigente, sin rodapié ni peldaños en la plataforma. HBP ID 554468 – COX: material mal acopiado sobre plataforma de andamio a 70 cm, con riesgo de caída a distinto nivel."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"Inspección de Plataformas + CdP Trabajos en Altura"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"Rodapié y peldaños instalados / tarjeta coherente con la condición real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ese orden: el foco 1 es el único N1. Entre los N2 con evidencia, el foco 2 tiene 2 eventos N1/N2; los focos 3 y 4 tienen 1 cada uno, y el 3 tiene más HBP complementarios (3 contra 1).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RECURRENTE: "7 eventos HBP — Clusters más repetidos del turno: acopio de material y housekeeping deficiente (4) y extensiones eléctricas sin pasacable, en contacto con estructura o tendidas en piso (3). Refuerzo transversal en todos los recorridos y al cierre de cada tarea."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RECORRIDOS: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AM · INICIO DE TURNO: "Piscinas ILS–PLS · Pila Oeste · Izaje" — ✔ Plan de izaje específico por maniobra · ✔ Segregación y radio en área de la carga · ✔ Check list pre-uso de vehículos y equipos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MEDIODÍA · INTERVENCIÓN: "Pilas de Lixiviación · Botadero de Ripios · Patio Contratistas" — ✔ Rodapié y peldaños en plataformas · ✔ Extensiones eléctricas con pasacable · ✔ Acopio y housekeeping en zonas habilitadas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PM · CIERRE DE JORNADA: "Gestión SAP · CdP pendientes · Entrega de turno" — ✔ Actualizar PTS con brechas de CdP: maxisacos sobre tubería HDPE, pletinas en acople campana-espiga y vienteros en desacople.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otros datos, aplica las mismas reglas y el mismo estilo: frases concretas, con datos de los eventos, del mismo largo que este ejemplo.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164592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INSTRUCTIVO DE LLENADO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2194560" y="6858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COMPLETAR EL FORMATO ASSURANCE ITO CADA SEMANA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65760" y="1188720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502920" y="1307592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502920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13075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ENCABEZADO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1719072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según turno (ASSURANCE TURNO 1-3 o 2-4). Completar período de vigencia (del __ al __), turno, Inspector ITO, Proyecto / EECC y Área.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4219956" y="1188720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357116" y="1307592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4357116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786884" y="13075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14 DÍAS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384548" y="1719072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N1+N2 (ACC, CAAP, HAP, CBP) en los 14 días al cierre, comparado con los 14 días previos (▲ subió, ▼ bajó, = igual). Los HBP no se cuentan.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cierre 23 SEP → actual 10–23 SEP vs. anterior 27 AGO–09 SEP.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8074152" y="1188720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8211312" y="1307592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8211312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41080" y="13075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Y PRIORIDAD DE FOCOS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238744" y="1719072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= brecha específica con 1 o más eventos N1/N2; HBP del mismo tema = evidencia. Prioridad: 1° N1 con reiteración/evidencia · 2° N1 aislado · 3° N2 con reiteración/evidencia · 4° N2 aislado. Con evidencia: más N1/N2, luego más HBP. Aislados: por gravedad. Máx. 4.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365760" y="2596896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502920" y="2715768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 txBox="1"/>
          <p:nvPr/>
        </p:nvSpPr>
        <p:spPr>
          <a:xfrm>
            <a:off x="50292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32688" y="27157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(CRITICIDAD)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30352" y="3127248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define el evento más grave del foco y fija el color: N1 · alta (roja) = ACC con lesión, ACC daño material, CAAP. N2 · intermedia (naranja) = CBP, HAP. No cambia por la reiteración ni por el orden. En la celda: N° de prioridad + nivel.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4219956" y="2596896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4357116" y="2715768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 txBox="1"/>
          <p:nvPr/>
        </p:nvSpPr>
        <p:spPr>
          <a:xfrm>
            <a:off x="4357116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786884" y="27157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· INSTRUCCIÓN ESPECÍFICA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384548" y="3127248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oración que parte con "Verificar…" y lista los controles concretos que fallaron en los eventos: qué, dónde, quién y cuándo. Evitar lo general ("izar de forma segura"). Cerrar con "Criterio de restricción".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8074152" y="2596896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8211312" y="2715768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 txBox="1"/>
          <p:nvPr/>
        </p:nvSpPr>
        <p:spPr>
          <a:xfrm>
            <a:off x="82113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641080" y="27157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/ EVIDENCIA ORIGEN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238744" y="3127248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los eventos N1/N2 (del más grave al menos grave), luego los HBP complementarios (máx. 3). Aislado: 1 evento + "(evento aislado)". Formato: TIPO ID N° – EECC: qué ocurrió.</a:t>
            </a:r>
            <a:endParaRPr lang="en-US" sz="930" dirty="0"/>
          </a:p>
          <a:p>
            <a:pPr marL="0" indent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CAAP ID 555505 – PUMA: plan de izaje exhibido correspondía a otra carga.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365760" y="4005072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3"/>
          <p:cNvSpPr/>
          <p:nvPr/>
        </p:nvSpPr>
        <p:spPr>
          <a:xfrm>
            <a:off x="502920" y="4123944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 txBox="1"/>
          <p:nvPr/>
        </p:nvSpPr>
        <p:spPr>
          <a:xfrm>
            <a:off x="502920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932688" y="41239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PREVENTIVA SGE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30352" y="4535424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Herramienta(s) del SGE unidas con "+" y qué se debe realizar con cada una durante el turno (qué, dónde, frecuencia).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CdP Maniobras de Izaje: 1 por frente al inicio del turno + ASP antes de cada maniobra.</a:t>
            </a:r>
            <a:endParaRPr lang="en-US" sz="930" dirty="0"/>
          </a:p>
        </p:txBody>
      </p:sp>
      <p:sp>
        <p:nvSpPr>
          <p:cNvPr id="40" name="Shape 37"/>
          <p:cNvSpPr/>
          <p:nvPr/>
        </p:nvSpPr>
        <p:spPr>
          <a:xfrm>
            <a:off x="4219956" y="4005072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8"/>
          <p:cNvSpPr/>
          <p:nvPr/>
        </p:nvSpPr>
        <p:spPr>
          <a:xfrm>
            <a:off x="4357116" y="4123944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9"/>
          <p:cNvSpPr txBox="1"/>
          <p:nvPr/>
        </p:nvSpPr>
        <p:spPr>
          <a:xfrm>
            <a:off x="4357116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786884" y="41239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/ REGISTRO ESPERADO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4384548" y="4535424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concreto y verificable que debe quedar, separado por "/". Incluir siempre registro fotográfico.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Área segregada / radio operativa / registro fotográfico.</a:t>
            </a:r>
            <a:endParaRPr lang="en-US" sz="930" dirty="0"/>
          </a:p>
        </p:txBody>
      </p:sp>
      <p:sp>
        <p:nvSpPr>
          <p:cNvPr id="45" name="Shape 42"/>
          <p:cNvSpPr/>
          <p:nvPr/>
        </p:nvSpPr>
        <p:spPr>
          <a:xfrm>
            <a:off x="8074152" y="4005072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3"/>
          <p:cNvSpPr/>
          <p:nvPr/>
        </p:nvSpPr>
        <p:spPr>
          <a:xfrm>
            <a:off x="8211312" y="4123944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4"/>
          <p:cNvSpPr txBox="1"/>
          <p:nvPr/>
        </p:nvSpPr>
        <p:spPr>
          <a:xfrm>
            <a:off x="8211312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8641080" y="41239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8238744" y="4535424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HBP que se repiten (2 o más) y no son foco, agrupados por lo que describe el evento; nunca "Otro riesgo".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7 eventos HBP — acopio y housekeeping (4) · extensiones sin pasacable (3).</a:t>
            </a:r>
            <a:endParaRPr lang="en-US" sz="930" dirty="0"/>
          </a:p>
        </p:txBody>
      </p:sp>
      <p:sp>
        <p:nvSpPr>
          <p:cNvPr id="50" name="Shape 47"/>
          <p:cNvSpPr/>
          <p:nvPr/>
        </p:nvSpPr>
        <p:spPr>
          <a:xfrm>
            <a:off x="365760" y="5413248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8"/>
          <p:cNvSpPr/>
          <p:nvPr/>
        </p:nvSpPr>
        <p:spPr>
          <a:xfrm>
            <a:off x="502920" y="5532120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49"/>
          <p:cNvSpPr txBox="1"/>
          <p:nvPr/>
        </p:nvSpPr>
        <p:spPr>
          <a:xfrm>
            <a:off x="502920" y="5532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932688" y="55321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RECORRIDOS AM · MEDIODÍA · PM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530352" y="5943600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bloque: áreas a recorrer y 3–4 controles con el N° de foco entre paréntesis. El bloque PM se reserva para gestión SAP, CdP pendientes, actualización de PTS y entrega de turno.</a:t>
            </a:r>
            <a:endParaRPr lang="en-US" sz="930" dirty="0"/>
          </a:p>
        </p:txBody>
      </p:sp>
      <p:sp>
        <p:nvSpPr>
          <p:cNvPr id="55" name="Shape 52"/>
          <p:cNvSpPr/>
          <p:nvPr/>
        </p:nvSpPr>
        <p:spPr>
          <a:xfrm>
            <a:off x="4219956" y="5413248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3"/>
          <p:cNvSpPr/>
          <p:nvPr/>
        </p:nvSpPr>
        <p:spPr>
          <a:xfrm>
            <a:off x="4357116" y="5532120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4"/>
          <p:cNvSpPr txBox="1"/>
          <p:nvPr/>
        </p:nvSpPr>
        <p:spPr>
          <a:xfrm>
            <a:off x="4357116" y="5532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4786884" y="55321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DEL PERÍODO</a:t>
            </a:r>
            <a:endParaRPr lang="en-US" sz="1050" dirty="0"/>
          </a:p>
        </p:txBody>
      </p:sp>
      <p:sp>
        <p:nvSpPr>
          <p:cNvPr id="59" name="Text 56"/>
          <p:cNvSpPr txBox="1"/>
          <p:nvPr/>
        </p:nvSpPr>
        <p:spPr>
          <a:xfrm>
            <a:off x="4384548" y="5943600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Máx. 5 viñetas de 1 línea por recuadro, con su cantidad. Asociadas a controles críticos: el evento indica un control crítico específico. No asociadas: control crítico "Otro" o sin información.</a:t>
            </a:r>
            <a:endParaRPr lang="en-US" sz="930" dirty="0"/>
          </a:p>
        </p:txBody>
      </p:sp>
      <p:sp>
        <p:nvSpPr>
          <p:cNvPr id="60" name="Shape 57"/>
          <p:cNvSpPr/>
          <p:nvPr/>
        </p:nvSpPr>
        <p:spPr>
          <a:xfrm>
            <a:off x="8074152" y="5413248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Shape 58"/>
          <p:cNvSpPr/>
          <p:nvPr/>
        </p:nvSpPr>
        <p:spPr>
          <a:xfrm>
            <a:off x="8211312" y="5532120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59"/>
          <p:cNvSpPr txBox="1"/>
          <p:nvPr/>
        </p:nvSpPr>
        <p:spPr>
          <a:xfrm>
            <a:off x="8211312" y="5532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8641080" y="55321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5 · FOCO SI PRO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8238744" y="5943600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fija por ahora: estrategia de controles según Directriz GSSO, herramienta GCC y registro en QR o plataforma PASSO (Gerencia SSO). No se completa, no se modifica ni se elimina hasta recibir la directriz.</a:t>
            </a:r>
            <a:endParaRPr lang="en-US" sz="930" dirty="0"/>
          </a:p>
        </p:txBody>
      </p:sp>
      <p:sp>
        <p:nvSpPr>
          <p:cNvPr id="65" name="Shape 62"/>
          <p:cNvSpPr/>
          <p:nvPr/>
        </p:nvSpPr>
        <p:spPr>
          <a:xfrm>
            <a:off x="365760" y="6839712"/>
            <a:ext cx="11457432" cy="1435608"/>
          </a:xfrm>
          <a:prstGeom prst="roundRect">
            <a:avLst>
              <a:gd name="adj" fmla="val 3822"/>
            </a:avLst>
          </a:prstGeom>
          <a:solidFill>
            <a:srgbClr val="FDF1F1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3"/>
          <p:cNvSpPr txBox="1"/>
          <p:nvPr/>
        </p:nvSpPr>
        <p:spPr>
          <a:xfrm>
            <a:off x="548640" y="6912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GENERALES</a:t>
            </a:r>
            <a:endParaRPr lang="en-US" sz="1050" dirty="0"/>
          </a:p>
        </p:txBody>
      </p:sp>
      <p:sp>
        <p:nvSpPr>
          <p:cNvPr id="72" name="Nota metodologica titulo"/>
          <p:cNvSpPr txBox="1"/>
          <p:nvPr/>
        </p:nvSpPr>
        <p:spPr>
          <a:xfrm>
            <a:off x="6903720" y="69128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METODOLÓGICA · CLASIFICACIÓN N1 / N2 / N3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548640" y="7223760"/>
            <a:ext cx="6172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modificar columnas, colores, orden de secciones ni tamaño de la lámina.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Reemplazar todo texto gris entre [corchetes]; el formato publicado no debe tener corchetes ni texto gris.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texto no cabe, resumir: letra mínima 6 pt. Si hay menos de 4 focos, eliminar la fila sobrante (clic derecho › Eliminar fila). La fila 5 SI PRO no se elimina.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archivo: ASSURANCE_TURNO_[1-3 ó 2-4]_[DD-DD]_[MES].pptx  (ej.: ASSURANCE_TURNO_1-3_07-20_SEP.pptx).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publicar: dejar solo la lámina PLANTILLA completada y eliminar este instructivo.</a:t>
            </a:r>
            <a:endParaRPr lang="en-US" sz="930" dirty="0"/>
          </a:p>
        </p:txBody>
      </p:sp>
      <p:sp>
        <p:nvSpPr>
          <p:cNvPr id="73" name="Nota metodologica"/>
          <p:cNvSpPr txBox="1"/>
          <p:nvPr/>
        </p:nvSpPr>
        <p:spPr>
          <a:xfrm>
            <a:off x="6903720" y="7223760"/>
            <a:ext cx="47548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40" dirty="0" b="1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Criticidad alta: </a:t>
            </a:r>
            <a:r>
              <a:rPr lang="en-US" sz="74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consecuencias graves o fatales; gestión prioritaria. ACC con lesión, ACC con daño material y CAAP.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40" dirty="0" b="1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· Criticidad intermedia: </a:t>
            </a:r>
            <a:r>
              <a:rPr lang="en-US" sz="74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y seguimiento. CBP (interacción próxima persona–situación) y HAP (control crítico no implementado o erosionado).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40" dirty="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· HBP: </a:t>
            </a:r>
            <a:r>
              <a:rPr lang="en-US" sz="74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 inmediata; no genera foco ni define nivel. Puede ir como evidencia complementaria de un foco y en Recurrente.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40" dirty="0" b="1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≠ prioridad: </a:t>
            </a:r>
            <a:r>
              <a:rPr lang="en-US" sz="74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nivel es la criticidad (color); la prioridad es el orden del foco: 1° N1 con evidencia · 2° N1 aislado · 3° N2 con evidencia · 4° N2 aislado.</a:t>
            </a:r>
            <a:endParaRPr lang="en-US" sz="930" dirty="0"/>
          </a:p>
        </p:txBody>
      </p:sp>
      <p:sp>
        <p:nvSpPr>
          <p:cNvPr id="68" name="Shape 65"/>
          <p:cNvSpPr/>
          <p:nvPr/>
        </p:nvSpPr>
        <p:spPr>
          <a:xfrm>
            <a:off x="0" y="8385048"/>
            <a:ext cx="12191695" cy="347472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6"/>
          <p:cNvSpPr txBox="1"/>
          <p:nvPr/>
        </p:nvSpPr>
        <p:spPr>
          <a:xfrm>
            <a:off x="365760" y="83850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COMPROMISO: CERO DAÑO A LAS PERSONAS</a:t>
            </a:r>
            <a:endParaRPr lang="en-US" sz="950" dirty="0"/>
          </a:p>
        </p:txBody>
      </p:sp>
      <p:sp>
        <p:nvSpPr>
          <p:cNvPr id="70" name="Text 67"/>
          <p:cNvSpPr txBox="1"/>
          <p:nvPr/>
        </p:nvSpPr>
        <p:spPr>
          <a:xfrm>
            <a:off x="4206240" y="8385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▲▲  </a:t>
            </a: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ASSURANCE ITO · v1.2 · INSTRUCTIVO</a:t>
            </a:r>
            <a:endParaRPr lang="en-US" sz="800" dirty="0"/>
          </a:p>
        </p:txBody>
      </p:sp>
      <p:sp>
        <p:nvSpPr>
          <p:cNvPr id="71" name="Text 68"/>
          <p:cNvSpPr txBox="1"/>
          <p:nvPr/>
        </p:nvSpPr>
        <p:spPr>
          <a:xfrm>
            <a:off x="7680960" y="8385048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SALUD, PERSONAS Y MEDIO AMBIENTE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A704B1-786C-46AA-99C6-ACB08ADBDD1F}">
  <we:reference id="wa200010001" version="1.0.0.1" store="es-ES" storeType="OMEX"/>
  <we:alternateReferences>
    <we:reference id="WA200010001" version="1.0.0.1" store="WA200010001" storeType="OMEX"/>
  </we:alternateReferences>
  <we:properties>
    <we:property name="claude.fileId" value="&quot;93ee4756-4e30-424f-ad1f-ff5adacd5c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3126</Words>
  <Application>Microsoft Office PowerPoint</Application>
  <PresentationFormat>Personalizado</PresentationFormat>
  <Paragraphs>226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 Assurance ITO</dc:title>
  <dc:subject>PptxGenJS Presentation</dc:subject>
  <dc:creator>PptxGenJS</dc:creator>
  <cp:lastModifiedBy>Williams Matias Fernandez Martinez</cp:lastModifiedBy>
  <cp:revision>1</cp:revision>
  <dcterms:created xsi:type="dcterms:W3CDTF">2026-09-23T18:41:07Z</dcterms:created>
  <dcterms:modified xsi:type="dcterms:W3CDTF">2026-09-23T20:39:02Z</dcterms:modified>
</cp:coreProperties>
</file>