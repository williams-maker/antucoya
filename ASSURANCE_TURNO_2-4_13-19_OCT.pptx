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 i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2-4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al 19 OCT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 b="0" i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☒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29 SEP al 12 OCT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▼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858768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de izaje y entorno. </a:t>
                      </a:r>
                      <a:r>
                        <a:rPr lang="en-US" sz="630" b="0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antes de cada maniobra que el plan de izaje corresponda a la carga, al equipo y al terreno real: líneas eléctricas energizadas cercanas evaluadas con su distancia de seguridad, área de la carga segregada y EdC de Tiro y Arrastre cuando se usen tecles; el supervisor lo valida en terreno antes del levante.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i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iza si el plan no corresponde a la maniobra o no evalúa líneas energizadas cercanas; se detiene y se replanifica.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HAP ID 562757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plan de izaje no correspondía al terreno; no se evaluó el trabajo bajo línea energizada.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HBP ID 561881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PTS de montaje de tuberías con tecles declara solo EdC de Izaje, sin EdC de Tiro y Arrastre.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GCC + CdP Maniobras de Izaje + ASP</a:t>
                      </a: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CdP al inicio del turno en cada frente con izaje; ASP con revisión de entorno y líneas antes de cada levante.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de izaje específico y validado / distancia a líneas energizadas evaluada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Anclaje y SPDC en bordes. </a:t>
                      </a:r>
                      <a:r>
                        <a:rPr lang="en-US" sz="630" b="0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al inicio del turno en frentes de canaletas y retiro de geosintéticos: punto de anclaje o roseta habilitado en el sector, trabajador conectado con su SPDC al trabajar próximo a bordes y arneses guardados en lugar habilitado (no dentro de tuberías); el supervisor lo confirma antes de iniciar.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i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detiene la tarea si hay trabajadores próximos a bordes o desniveles sin anclaje habilitado o sin su SPDC conectado.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CBP ID 564344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trabajador en borde de canaleta recibiendo láminas HDPE, sin conectar su SPDC a la roseta.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HBP ID 564341 / 564353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sin anclaje para SPDC en retiro de geosintéticos / arnés acopiado dentro de tubería.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GCC + CdP Trabajos en Altura + ASP</a:t>
                      </a: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GCC de anclaje y SPDC al inicio del turno en cada frente de canaletas; ASP antes de trabajar en bordes.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Anclaje o roseta identificado / trabajador conectado al SPDC / arnés en lugar habilitado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Mantención y check list de equipos. </a:t>
                      </a:r>
                      <a:r>
                        <a:rPr lang="en-US" sz="630" b="0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antes de habilitar vehículos, generadores y torres de iluminación (maxilight): certificado de mantención con respaldo técnico (intervenciones, mediciones y parámetros), check list del turno completo, extintor instalado y documentación adosada en su funda.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i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habilita vehículo ni equipo sin respaldo de mantención, check list del turno o extintor.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HAP ID 560003 – J.E.J.: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certificado de mantención de vehículo sin respaldo técnico de intervenciones ni mediciones.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HBP ID 560451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 maxilight sin extintor ni check list, usados la noche anterior.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HBP ID 563624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documentación de generador fuera de su funda, en el suelo por el viento.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EdC Vehículo Liviano + Inspección de Equipos + ASP</a:t>
                      </a: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revisar al inicio del turno vehículos, generadores y maxilight de cada frente antes de su uso.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mantención con respaldo / check list del turno / extintor y documentos en funda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de fuego en manos (HDPE). </a:t>
                      </a:r>
                      <a:r>
                        <a:rPr lang="en-US" sz="630" b="0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en desbaste y limpieza de HDPE que la pieza se fije con prensa o apoyo estable (no con la mano libre ni sobre tubería corrugada) y que el procedimiento describa el paso a paso con controles objetivos; la CdP lo valida antes de iniciar.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i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detiene la tarea si el operador sujeta la pieza con la mano o trabaja sobre la cañería sin apoyo estable.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CBP ID 563259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desbaste de pletina HDPE apoyada en tubería corrugada de 450 mm, sujeta con la mano libre.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HBP ID 563401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procedimiento de limpieza de HDPE sin paso a paso; sin apoyo se trabaja sobre la cañería.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CdP + Desafío en Terreno + ASP</a:t>
                      </a: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CdP a desbaste y limpieza de HDPE en Pila Oeste y Pila Este; desafío al operador sobre posición de manos.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Prensa o apoyo estable en uso / procedimiento con paso a paso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Plataformas de trabajo y andamios. </a:t>
                      </a:r>
                      <a:r>
                        <a:rPr lang="en-US" sz="630" b="0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antes de habilitar el acceso, en andamios y plataformas de frentes y talleres misceláneos, que la estructura esté completa (horizontales, diagonales, doble baranda y rodapié) y que la tarjeta verde corresponda a su condición real; el supervisor la revisa y firma al inicio del turno.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i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usa andamio ni plataforma con piezas faltantes o con tarjeta que no refleje su condición; se bloquea el acceso.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HAP ID 563727 – COX: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andamio con tarjeta verde sin algunas piezas horizontales en su base (evento aislado).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Solicitud de supervisión: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desviaciones en plataformas de trabajo de talleres misceláneos.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Inspección de Plataformas + CdP Trabajos en Altura + ASP</a:t>
                      </a: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inspección al inicio del turno en Ripio Mina y talleres misceláneos, antes de habilitar el acceso.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Andamio completo / tarjeta coherente con la condición real y firmada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Regla Cardinal N°6 · Trabajos en altura. </a:t>
                      </a:r>
                      <a:r>
                        <a:rPr lang="en-US" sz="630" b="0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en cada frente con trabajo en altura, al inicio del turno: trabajador anclado a puntos identificados y certificados, SPDC certificado con TAG, vanos y bordes con doble baranda y rodapié, y andamios y plataformas (incluidos talleres misceláneos) con tarjeta aprobada por el supervisor. Sumar GCC de Espacios Confinados: autorización de ingreso, medición de atmósfera, vigía y plan de rescate.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 i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b="0" dirty="0" err="1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anclaje certificado, SPDC conectado o tarjeta vigente no se trabaja en altura; sin medición de atmósfera y vigía no se ingresa a espacio confinado.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GSSO: 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Regla Cardinal N°6 – Trabajos en altura (relacionada con focos 2 y 5). Medida de verificación adicional: GCC en Espacios Confinados.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dirty="0" b="1" i="0">
                          <a:solidFill>
                            <a:srgbClr val="222222"/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 Trabajos en Altura + GCC Espacios Confinados</a:t>
                      </a:r>
                      <a:r>
                        <a:rPr lang="en-US" sz="630" dirty="0" b="0" i="0">
                          <a:solidFill>
                            <a:srgbClr val="222222"/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: aplicar GCC en cada frente con trabajo en altura y antes de cada ingreso a espacio confinado.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dirty="0" b="0" i="0">
                          <a:solidFill>
                            <a:srgbClr val="222222"/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 registrada en QR o plataforma PASSO (Gerencia SSO) / registro fotográfico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94360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94360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94360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eventos HBP — </a:t>
            </a:r>
            <a:r>
              <a:rPr lang="en-US" sz="700" b="0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PTS y check list incompletos para la tarea real (3) · extensiones eléctricas en contacto con estructura o con color no vigente (2) · generadores con estructura apoyada o documentos fuera de funda (2).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32764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32764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6202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60196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87628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Pilas de Lixiviación · Piscinas de Emergencia ILS-PLS · Muestrera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16889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Plan de izaje y líneas energizadas (1)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Anclaje y SPDC conectado en bordes (2)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Mantención y check list de equipos (3)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64768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62025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60196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87628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 Oeste · Pila Este · Ripio Mina · Botadero Ripios / Área Seca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16889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Sujeción de HDPE con apoyo estable (4)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Andamios completos y tarjeta coherente (5)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Extensiones sin contacto con estructura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64768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62025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60196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87628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 i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16889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Cerrar pendientes de PUMA: anclaje para SPDC y acopio de arnés (Pilas de Lixiviación)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EdC de Tiro y Arrastre con tecles y paso a paso en limpieza de HDPE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32764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34001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71169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Equipos: check list, extintor y documentos (3)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Extensiones eléctricas fuera de estándar (2)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de fuego en manos con HDPE (2)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Anclaje y arnés de SPDC fuera de estándar (2)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Manipulación insegura de conos en camión pluma (1)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32764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36422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71169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Rodillo con llaves: bloqueo y energía cero (2)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Izaje: ejecutar el plan según lo planificado (1)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Andamios: superficie temporal con tarjeta (1)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Altura: anclaje de plataformas provisorias (1)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Vehículos: elementos críticos conformes (1)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ITO · v1.3 · TURNO 2-4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5)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agrupar, lee la "Descripción" de todos los eventos y aplica la revaloración del punto 4: un HBP revalorizado a CBP, HAP o CA pasa a ser un evento N1/N2 y puede originar un foco o contar para la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CBP, incluidos los revalorizados).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5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focos, SIN contar la fila fija "FOCO – SI PRO – ESTRATEGIA DE CONTROLES" (hasta 5 focos + la fila SI PRO = 6 filas en total). Si hay más, se quedan los de mayor PRIORIDAD (punto 4) y se informa al usuario cuáles quedaron fuera. Si hay menos, elimina las filas sobrantes (nunca la fila SI PRO).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un evento revalorizado como CA,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 La reiteración que sube a N1 es SOLO entre eventos N1/N2 (HAP, CBP, CAAP, ACC); los HBP, aunque sean muchos, tienen como techo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Ejemplos de nivel: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1 HAP + 1 HBP → N2.   · 1 HAP + 5 HBP → N2.   · 1 CBP + 3 HBP →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2 o más HAP → N1.   · 2 o más CBP → N1.   · 1 CBP + 1 HAP → N1.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CAAP SIEMPRE es N1, vaya solo o acompañado de cualquier otro evento (CAAP solo → N1; CAAP + HBP → N1; CAAP + HAP → N1). Lo mismo aplica a un ACC y a un evento revalorizado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Solo HBP (3 o más del mismo tema) → N2. Nunca N1, sin importar cuántos sean.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HBP solo cuenta como HAP/CBP si fue revalorizado con el criterio de este punto (excepción, con hechos en la descripción).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DESCRIPCIÓN Y REVALORACIÓN DE CRITICIDAD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La clasificación del Excel es el punto de partida, no la palabra final. Lee la "Descripción" de TODOS los eventos del período (HBP, CBP y HAP) y evalúa si lo descrito es más grave que su clasificación. Un evento solo puede SUBIR de criticidad, nunca bajar.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CA (cuasi accidente de alto potencial; cuenta como CAAP → N1) cualquier CBP, HAP o HBP cuya descripción muestre a una persona EFECTIVAMENTE EXPUESTA a un riesgo con potencial grave o fatal: (1) línea de fuego de un equipo o vehículo en movimiento (retroceso, aculatamiento, giro); (2) carga suspendida; (3) energía peligrosa energizada (eléctrica, presión, térmica); (4) trabajo en altura sin protección contra caídas; (5) ingreso o trabajo en zanja/excavación sin protección o sin autorización; (6) atmósfera peligrosa o espacio confinado sin control. Ej.: CBP 549924 – rigger a 2 m de un camión pluma en retroceso, sin radio → la gerencia lo registró como "CA ID 549924".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CBP (cuasi accidente de bajo potencial → N2) un HBP cuya descripción muestre que una persona SÍ interactuó de cerca con la situación de riesgo (hubo exposición real, un casi-incidente), pero sin potencial grave o fatal (p. ej., trabajador pasa bajo material mal acopiado a baja altura, tropieza con herramientas en el piso). Si la exposición tenía potencial grave o fatal, sube directo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HAP (hallazgo de alto potencial → N2) un HBP cuya descripción muestre un CONTROL CRÍTICO no implementado o erosionado MIENTRAS se ejecutaba la tarea de riesgo crítico, aunque nadie haya quedado expuesto (p. ej., izaje en curso con accesorio sin certificar; trabajo en altura en curso con plataforma sin baranda; intervención eléctrica sin bloqueo). La columna "CONTROL CRITICO" con "(C.C.)" es un indicio, no una condición suficiente.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NO se revaloriza (mantener la clasificación del Excel): condiciones detectadas en inspección sin tarea de riesgo en curso y sin persona expuesta, riesgos solo potenciales o descripciones sin exposición concreta. Ejemplos en que la gerencia NO revalorizó: CBP 554227 (retiro de eslinga en borde de zanja, sin altura indicada) se mantuvo CBP; HBP 549965 (plataforma de acceso sin rodapiés) y HBP 549552 (extintores despresurizados) se mantuvieron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CRITERIO AL REVALORIZAR (especialmente HBP y CBP): la revalorización es una EXCEPCIÓN, no la regla. Quien clasificó el evento estuvo en terreno; respeta su clasificación salvo que la descripción sea claramente más grave.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Revaloriza solo con HECHOS escritos en la descripción (qué pasó, quién estuvo expuesto, a qué distancia, con qué equipo o energía). No supongas, no completes información que no está y no uses el "podría haber pasado".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La gravedad debe ser evidente para cualquier supervisor que lea la descripción. Si tienes que argumentar mucho para justificarla, no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Nunca revalorices para completar filas, armar un foco o igualar un resultado esperado.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título alarmante no basta: manda lo que describe el texto.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Lo normal es que en un período haya 0, 1 o 2 revalorizaciones. Si te aparecen más, revisa tu criterio y deja como "posible revalorización" las que no sean evidentes.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Ante la duda, NO revalorices: mantén la clasificación del Excel y menciónalo al usuario para que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Revaloraciones posibles: HBP → CBP, HAP o CA; CBP → CA; HAP → CA. Un CBP no pasa a HAP (es el mismo nivel y el CBP ya es más grave).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Cómo se escribe: en la columna Evento, el tipo revalorizado: "CA ID [N°] – EMPRESA: …", "CBP ID [N°] (rev.) – EMPRESA: …" o "HAP ID [N°] (rev.) – EMPRESA: …". Para selección de focos, reiteración, nivel y prioridad se usa el tipo revalorizado. En la franja de indicadores se mantiene la clasificación del Excel, para que los totales cuadren con la data.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Toda revalorización debe informarse al usuario en el control de calidad (ID, clasificación original, nueva clasificación y la frase de la descripción que la justifica). Ante la duda, NO revalorices y menciónalo como "posible revalorización" para que el usuario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CA 549924, N1: el CBP se revaloriza a CA por la descripción: rigger expuesto a línea de fuego) · 2° Andamios (HAP + HAP + 2 HBP, N1 por reiteración; su evento más grave es HAP, menos grave que el CA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TE DEJES LLEVAR POR LA ESTRUCTURA DE LA PLANTILLA: las filas 1 y 2 vienen en rojo (N1) y las filas 3, 4 y 5 en naranja (N2) SOLO como ejemplo visual de los colores. NO es una cantidad a respetar ni un cupo por nivel. Tú determinas cuántos N1 y cuántos N2 hay, y el nivel y el color de cada fila salen SOLO de los eventos de su foco. La cantidad de N1 y N2 es la que resulte de los datos, sin importar cuántas filas haya (p. ej.: 4 N1 y 0 N2; 3 N1 y 1 N2; 1 N1 y 3 N2; 0 N1 y 2 N2).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Nunca bajes un foco a N2 ni subas uno a N1 para llenar filas o "equilibrar" la lámina. Si hay más de 5 focos, entran los 5 de mayor prioridad (todo N1 antes que N2): si existen 6 focos N1, las 5 filas serán N1 y se informa al usuario el N1 que quedó fuera.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Celda de nivel: número de prioridad + "N1 · CRITICIDAD ALTA" (relleno rojo C62828, texto blanco) o "N2 · CRITICIDAD INTERMEDIA" (relleno naranja E67E22, texto blanco). Cambia el texto y el color de cada celda según corresponda, aunque eso modifique la distribución de ejemplo (2 N1 + 3 N2).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SI PRO – FOCO SI PRO · ESTRATEGIA DE CONTROLES (última fila, N° 6, fija, gris; no cuenta dentro de los 5 focos)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 los puntos 16 y 17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CA (revalorizado, punto 4), CBP, CBP (rev.), HAP, HAP (rev.)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Aglomerado"; nunca inventes nombres de áreas), más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SI PRO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5 con sus 5 columnas; Fila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revalorizados (ID, clasificación original → nueva, y la frase de la descripción que lo justifica) y posibles revalorizaciones que dejaste a decisión del usuario;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N1; los HBP nunca suben un foco a N1); la cantidad de N1 y N2 salió de los eventos y no de la distribución de ejemplo de la plantilla (2 N1 + 3 N2); las áreas son nombres exactos de AREA_GEO; revisaste los eventos abiertos a la fecha de cierre; leíste la descripción de todos los eventos y aplicaste la revaloración del punto 4;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y la PRIORIDAD (orden) de cada foco siguen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(N1: incluye un CA – CBP revalorizado por línea de fuego – y además hay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CA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en el Excel el 549924 es CBP y su riesgo dice "Operación de vehículos livianos". La gerencia lo revalorizó a CA porque el rigger quedó expuesto a la línea de fuego de un equipo en retroceso, y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N1; el 1 va primero porque contiene un CA (equivale a CAAP) y el 2 solo HAP.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