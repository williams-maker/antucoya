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1695" cy="8732520"/>
  <p:notesSz cx="873252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image" Target="../media/image-1-7.png"/><Relationship Id="rId8" Type="http://schemas.openxmlformats.org/officeDocument/2006/relationships/image" Target="../media/image-1-8.png"/><Relationship Id="rId9" Type="http://schemas.openxmlformats.org/officeDocument/2006/relationships/image" Target="../media/image-1-9.png"/><Relationship Id="rId10" Type="http://schemas.openxmlformats.org/officeDocument/2006/relationships/image" Target="../media/image-1-10.png"/><Relationship Id="rId11" Type="http://schemas.openxmlformats.org/officeDocument/2006/relationships/image" Target="../media/image-1-11.png"/><Relationship Id="rId12" Type="http://schemas.openxmlformats.org/officeDocument/2006/relationships/image" Target="../media/image-1-12.png"/><Relationship Id="rId13" Type="http://schemas.openxmlformats.org/officeDocument/2006/relationships/image" Target="../media/image-1-13.png"/><Relationship Id="rId14" Type="http://schemas.openxmlformats.org/officeDocument/2006/relationships/image" Target="../media/image-1-14.png"/><Relationship Id="rId15" Type="http://schemas.openxmlformats.org/officeDocument/2006/relationships/image" Target="../media/image-1-15.png"/><Relationship Id="rId16" Type="http://schemas.openxmlformats.org/officeDocument/2006/relationships/image" Target="../media/image-1-16.pn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228600"/>
            <a:ext cx="1645920" cy="64008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194560" y="182880"/>
            <a:ext cx="6949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ASSURANCE UNIFICADO · TURNOS 1-3 / 2-4</a:t>
            </a:r>
            <a:endParaRPr lang="en-US" sz="2400" dirty="0"/>
          </a:p>
        </p:txBody>
      </p:sp>
      <p:sp>
        <p:nvSpPr>
          <p:cNvPr id="4" name="Text 1"/>
          <p:cNvSpPr txBox="1"/>
          <p:nvPr/>
        </p:nvSpPr>
        <p:spPr>
          <a:xfrm>
            <a:off x="2194560" y="685800"/>
            <a:ext cx="6949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FOCOS PRIORITARIOS DE VERIFICACIÓN EN TERRENO – ITO</a:t>
            </a:r>
            <a:endParaRPr lang="en-US" sz="1150" dirty="0"/>
          </a:p>
        </p:txBody>
      </p:sp>
      <p:sp>
        <p:nvSpPr>
          <p:cNvPr id="5" name="Text 2"/>
          <p:cNvSpPr txBox="1"/>
          <p:nvPr/>
        </p:nvSpPr>
        <p:spPr>
          <a:xfrm>
            <a:off x="9281160" y="128016"/>
            <a:ext cx="1143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FECHA:</a:t>
            </a:r>
            <a:endParaRPr lang="en-US" sz="800" dirty="0"/>
          </a:p>
        </p:txBody>
      </p:sp>
      <p:sp>
        <p:nvSpPr>
          <p:cNvPr id="6" name="Text 3"/>
          <p:cNvSpPr txBox="1"/>
          <p:nvPr/>
        </p:nvSpPr>
        <p:spPr>
          <a:xfrm>
            <a:off x="10424160" y="128016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________________</a:t>
            </a:r>
            <a:endParaRPr lang="en-US" sz="800" dirty="0"/>
          </a:p>
        </p:txBody>
      </p:sp>
      <p:sp>
        <p:nvSpPr>
          <p:cNvPr id="7" name="Text 4"/>
          <p:cNvSpPr txBox="1"/>
          <p:nvPr/>
        </p:nvSpPr>
        <p:spPr>
          <a:xfrm>
            <a:off x="9281160" y="310896"/>
            <a:ext cx="1143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TURNO: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10424160" y="310896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☐ 1-3     ☐ 2-4</a:t>
            </a:r>
            <a:endParaRPr lang="en-US" sz="800" dirty="0"/>
          </a:p>
        </p:txBody>
      </p:sp>
      <p:sp>
        <p:nvSpPr>
          <p:cNvPr id="9" name="Text 6"/>
          <p:cNvSpPr txBox="1"/>
          <p:nvPr/>
        </p:nvSpPr>
        <p:spPr>
          <a:xfrm>
            <a:off x="9281160" y="493776"/>
            <a:ext cx="1143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INSPECTOR ITO: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10424160" y="493776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________________</a:t>
            </a:r>
            <a:endParaRPr lang="en-US" sz="800" dirty="0"/>
          </a:p>
        </p:txBody>
      </p:sp>
      <p:sp>
        <p:nvSpPr>
          <p:cNvPr id="11" name="Text 8"/>
          <p:cNvSpPr txBox="1"/>
          <p:nvPr/>
        </p:nvSpPr>
        <p:spPr>
          <a:xfrm>
            <a:off x="9281160" y="676656"/>
            <a:ext cx="1143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PROYECTO / EECC:</a:t>
            </a:r>
            <a:endParaRPr lang="en-US" sz="800" dirty="0"/>
          </a:p>
        </p:txBody>
      </p:sp>
      <p:sp>
        <p:nvSpPr>
          <p:cNvPr id="12" name="Text 9"/>
          <p:cNvSpPr txBox="1"/>
          <p:nvPr/>
        </p:nvSpPr>
        <p:spPr>
          <a:xfrm>
            <a:off x="10424160" y="676656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________________</a:t>
            </a:r>
            <a:endParaRPr lang="en-US" sz="800" dirty="0"/>
          </a:p>
        </p:txBody>
      </p:sp>
      <p:sp>
        <p:nvSpPr>
          <p:cNvPr id="13" name="Text 10"/>
          <p:cNvSpPr txBox="1"/>
          <p:nvPr/>
        </p:nvSpPr>
        <p:spPr>
          <a:xfrm>
            <a:off x="9281160" y="859536"/>
            <a:ext cx="1143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ÁREA / SECTOR:</a:t>
            </a:r>
            <a:endParaRPr lang="en-US" sz="800" dirty="0"/>
          </a:p>
        </p:txBody>
      </p:sp>
      <p:sp>
        <p:nvSpPr>
          <p:cNvPr id="14" name="Text 11"/>
          <p:cNvSpPr txBox="1"/>
          <p:nvPr/>
        </p:nvSpPr>
        <p:spPr>
          <a:xfrm>
            <a:off x="10424160" y="859536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________________</a:t>
            </a:r>
            <a:endParaRPr lang="en-US" sz="800" dirty="0"/>
          </a:p>
        </p:txBody>
      </p:sp>
      <p:sp>
        <p:nvSpPr>
          <p:cNvPr id="15" name="Shape 12"/>
          <p:cNvSpPr/>
          <p:nvPr/>
        </p:nvSpPr>
        <p:spPr>
          <a:xfrm>
            <a:off x="365760" y="1097280"/>
            <a:ext cx="777240" cy="201168"/>
          </a:xfrm>
          <a:prstGeom prst="rect">
            <a:avLst/>
          </a:prstGeom>
          <a:solidFill>
            <a:srgbClr val="C62828"/>
          </a:solidFill>
          <a:ln w="12700">
            <a:solidFill>
              <a:srgbClr val="C62828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365760" y="1097280"/>
            <a:ext cx="777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N1 · CRÍTICO</a:t>
            </a:r>
            <a:endParaRPr lang="en-US" sz="700" dirty="0"/>
          </a:p>
        </p:txBody>
      </p:sp>
      <p:sp>
        <p:nvSpPr>
          <p:cNvPr id="17" name="Shape 14"/>
          <p:cNvSpPr/>
          <p:nvPr/>
        </p:nvSpPr>
        <p:spPr>
          <a:xfrm>
            <a:off x="1207008" y="1097280"/>
            <a:ext cx="777240" cy="201168"/>
          </a:xfrm>
          <a:prstGeom prst="rect">
            <a:avLst/>
          </a:prstGeom>
          <a:solidFill>
            <a:srgbClr val="E67E22"/>
          </a:solidFill>
          <a:ln w="12700">
            <a:solidFill>
              <a:srgbClr val="E67E22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1207008" y="1097280"/>
            <a:ext cx="777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N2 · ALTO</a:t>
            </a:r>
            <a:endParaRPr lang="en-US" sz="700" dirty="0"/>
          </a:p>
        </p:txBody>
      </p:sp>
      <p:sp>
        <p:nvSpPr>
          <p:cNvPr id="19" name="Text 16"/>
          <p:cNvSpPr txBox="1"/>
          <p:nvPr/>
        </p:nvSpPr>
        <p:spPr>
          <a:xfrm>
            <a:off x="2103120" y="1097280"/>
            <a:ext cx="97200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Evento origen:  </a:t>
            </a:r>
            <a:pPr indent="0" marL="0">
              <a:buNone/>
            </a:pPr>
            <a:r>
              <a:rPr lang="en-US" sz="7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CAAP</a:t>
            </a:r>
            <a:pPr indent="0" marL="0">
              <a:buNone/>
            </a:pPr>
            <a:r>
              <a:rPr lang="en-US" sz="7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cuasi accidente alto pot.  ·  </a:t>
            </a:r>
            <a:pPr indent="0" marL="0">
              <a:buNone/>
            </a:pPr>
            <a:r>
              <a:rPr lang="en-US" sz="7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HAP</a:t>
            </a:r>
            <a:pPr indent="0" marL="0">
              <a:buNone/>
            </a:pPr>
            <a:r>
              <a:rPr lang="en-US" sz="7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hallazgo alto pot.  ·  </a:t>
            </a:r>
            <a:pPr indent="0" marL="0">
              <a:buNone/>
            </a:pPr>
            <a:r>
              <a:rPr lang="en-US" sz="7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CBP</a:t>
            </a:r>
            <a:pPr indent="0" marL="0">
              <a:buNone/>
            </a:pPr>
            <a:r>
              <a:rPr lang="en-US" sz="7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cuasi accidente bajo pot.  ·  </a:t>
            </a:r>
            <a:pPr indent="0" marL="0">
              <a:buNone/>
            </a:pPr>
            <a:r>
              <a:rPr lang="en-US" sz="7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HBP</a:t>
            </a:r>
            <a:pPr indent="0" marL="0">
              <a:buNone/>
            </a:pPr>
            <a:r>
              <a:rPr lang="en-US" sz="7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hallazgo bajo pot.  ·  </a:t>
            </a:r>
            <a:pPr indent="0" marL="0">
              <a:buNone/>
            </a:pPr>
            <a:r>
              <a:rPr lang="en-US" sz="7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[T1-3] / [T2-4]</a:t>
            </a:r>
            <a:pPr indent="0" marL="0">
              <a:buNone/>
            </a:pPr>
            <a:r>
              <a:rPr lang="en-US" sz="7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turno que lo reportó  ·  </a:t>
            </a:r>
            <a:pPr indent="0" marL="0">
              <a:buNone/>
            </a:pPr>
            <a:r>
              <a:rPr lang="en-US" sz="7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Verificación:</a:t>
            </a:r>
            <a:pPr indent="0" marL="0">
              <a:buNone/>
            </a:pPr>
            <a:r>
              <a:rPr lang="en-US" sz="7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 cumple · NC no cumple · NA no aplica</a:t>
            </a:r>
            <a:endParaRPr lang="en-US" sz="700" dirty="0"/>
          </a:p>
        </p:txBody>
      </p:sp>
      <p:sp>
        <p:nvSpPr>
          <p:cNvPr id="20" name="Shape 17"/>
          <p:cNvSpPr/>
          <p:nvPr/>
        </p:nvSpPr>
        <p:spPr>
          <a:xfrm>
            <a:off x="365760" y="1371600"/>
            <a:ext cx="960120" cy="310896"/>
          </a:xfrm>
          <a:prstGeom prst="rect">
            <a:avLst/>
          </a:prstGeom>
          <a:solidFill>
            <a:srgbClr val="1F3D6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393192" y="1371600"/>
            <a:ext cx="9052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NIVEL / PRIORIDAD</a:t>
            </a:r>
            <a:endParaRPr lang="en-US" sz="680" dirty="0"/>
          </a:p>
        </p:txBody>
      </p:sp>
      <p:sp>
        <p:nvSpPr>
          <p:cNvPr id="22" name="Shape 19"/>
          <p:cNvSpPr/>
          <p:nvPr/>
        </p:nvSpPr>
        <p:spPr>
          <a:xfrm>
            <a:off x="1325880" y="1371600"/>
            <a:ext cx="3657600" cy="310896"/>
          </a:xfrm>
          <a:prstGeom prst="rect">
            <a:avLst/>
          </a:prstGeom>
          <a:solidFill>
            <a:srgbClr val="1F3D6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1353312" y="1371600"/>
            <a:ext cx="36027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FOCO DE ASSURANCE (INSTRUCCIÓN OPERACIONAL</a:t>
            </a:r>
            <a:endParaRPr lang="en-US" sz="680" dirty="0"/>
          </a:p>
          <a:p>
            <a:pPr algn="ctr" indent="0" marL="0">
              <a:buNone/>
            </a:pPr>
            <a:r>
              <a:rPr lang="en-US" sz="6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 CRITERIO DE RESTRICCIÓN)</a:t>
            </a:r>
            <a:endParaRPr lang="en-US" sz="680" dirty="0"/>
          </a:p>
        </p:txBody>
      </p:sp>
      <p:sp>
        <p:nvSpPr>
          <p:cNvPr id="24" name="Shape 21"/>
          <p:cNvSpPr/>
          <p:nvPr/>
        </p:nvSpPr>
        <p:spPr>
          <a:xfrm>
            <a:off x="4983480" y="1371600"/>
            <a:ext cx="2560320" cy="310896"/>
          </a:xfrm>
          <a:prstGeom prst="rect">
            <a:avLst/>
          </a:prstGeom>
          <a:solidFill>
            <a:srgbClr val="1F3D6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5010912" y="1371600"/>
            <a:ext cx="25054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EVENTO / EVIDENCIA ORIGEN</a:t>
            </a:r>
            <a:endParaRPr lang="en-US" sz="680" dirty="0"/>
          </a:p>
        </p:txBody>
      </p:sp>
      <p:sp>
        <p:nvSpPr>
          <p:cNvPr id="26" name="Shape 23"/>
          <p:cNvSpPr/>
          <p:nvPr/>
        </p:nvSpPr>
        <p:spPr>
          <a:xfrm>
            <a:off x="7543800" y="1371600"/>
            <a:ext cx="1508760" cy="310896"/>
          </a:xfrm>
          <a:prstGeom prst="rect">
            <a:avLst/>
          </a:prstGeom>
          <a:solidFill>
            <a:srgbClr val="1F3D6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7571232" y="1371600"/>
            <a:ext cx="1453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HERRAMIENTA PREVENTIVA SGE</a:t>
            </a:r>
            <a:endParaRPr lang="en-US" sz="680" dirty="0"/>
          </a:p>
        </p:txBody>
      </p:sp>
      <p:sp>
        <p:nvSpPr>
          <p:cNvPr id="28" name="Shape 25"/>
          <p:cNvSpPr/>
          <p:nvPr/>
        </p:nvSpPr>
        <p:spPr>
          <a:xfrm>
            <a:off x="9052560" y="1371600"/>
            <a:ext cx="1536192" cy="310896"/>
          </a:xfrm>
          <a:prstGeom prst="rect">
            <a:avLst/>
          </a:prstGeom>
          <a:solidFill>
            <a:srgbClr val="1F3D6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9079992" y="1371600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EVIDENCIA / REGISTRO ESPERADO</a:t>
            </a:r>
            <a:endParaRPr lang="en-US" sz="680" dirty="0"/>
          </a:p>
        </p:txBody>
      </p:sp>
      <p:sp>
        <p:nvSpPr>
          <p:cNvPr id="30" name="Shape 27"/>
          <p:cNvSpPr/>
          <p:nvPr/>
        </p:nvSpPr>
        <p:spPr>
          <a:xfrm>
            <a:off x="10588752" y="1371600"/>
            <a:ext cx="1234440" cy="310896"/>
          </a:xfrm>
          <a:prstGeom prst="rect">
            <a:avLst/>
          </a:prstGeom>
          <a:solidFill>
            <a:srgbClr val="1F3D6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10616184" y="1371600"/>
            <a:ext cx="11795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VERIFICACIÓN EN TERRENO</a:t>
            </a:r>
            <a:endParaRPr lang="en-US" sz="680" dirty="0"/>
          </a:p>
        </p:txBody>
      </p:sp>
      <p:sp>
        <p:nvSpPr>
          <p:cNvPr id="32" name="Shape 29"/>
          <p:cNvSpPr/>
          <p:nvPr/>
        </p:nvSpPr>
        <p:spPr>
          <a:xfrm>
            <a:off x="365760" y="1682496"/>
            <a:ext cx="960120" cy="676656"/>
          </a:xfrm>
          <a:prstGeom prst="rect">
            <a:avLst/>
          </a:prstGeom>
          <a:solidFill>
            <a:srgbClr val="C62828"/>
          </a:solidFill>
          <a:ln w="9525">
            <a:solidFill>
              <a:srgbClr val="C9D3E0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1325880" y="1682496"/>
            <a:ext cx="3657600" cy="676656"/>
          </a:xfrm>
          <a:prstGeom prst="rect">
            <a:avLst/>
          </a:prstGeom>
          <a:solidFill>
            <a:srgbClr val="FFFFFF"/>
          </a:solidFill>
          <a:ln w="9525">
            <a:solidFill>
              <a:srgbClr val="C9D3E0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4983480" y="1682496"/>
            <a:ext cx="2560320" cy="676656"/>
          </a:xfrm>
          <a:prstGeom prst="rect">
            <a:avLst/>
          </a:prstGeom>
          <a:solidFill>
            <a:srgbClr val="FFFFFF"/>
          </a:solidFill>
          <a:ln w="9525">
            <a:solidFill>
              <a:srgbClr val="C9D3E0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7543800" y="1682496"/>
            <a:ext cx="1508760" cy="676656"/>
          </a:xfrm>
          <a:prstGeom prst="rect">
            <a:avLst/>
          </a:prstGeom>
          <a:solidFill>
            <a:srgbClr val="FFFFFF"/>
          </a:solidFill>
          <a:ln w="9525">
            <a:solidFill>
              <a:srgbClr val="C9D3E0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9052560" y="1682496"/>
            <a:ext cx="1536192" cy="676656"/>
          </a:xfrm>
          <a:prstGeom prst="rect">
            <a:avLst/>
          </a:prstGeom>
          <a:solidFill>
            <a:srgbClr val="FFFFFF"/>
          </a:solidFill>
          <a:ln w="9525">
            <a:solidFill>
              <a:srgbClr val="C9D3E0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10588752" y="1682496"/>
            <a:ext cx="1234440" cy="676656"/>
          </a:xfrm>
          <a:prstGeom prst="rect">
            <a:avLst/>
          </a:prstGeom>
          <a:solidFill>
            <a:srgbClr val="FFFFFF"/>
          </a:solidFill>
          <a:ln w="9525">
            <a:solidFill>
              <a:srgbClr val="C9D3E0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420624" y="1682496"/>
            <a:ext cx="21945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 dirty="0"/>
          </a:p>
        </p:txBody>
      </p:sp>
      <p:sp>
        <p:nvSpPr>
          <p:cNvPr id="39" name="Text 36"/>
          <p:cNvSpPr txBox="1"/>
          <p:nvPr/>
        </p:nvSpPr>
        <p:spPr>
          <a:xfrm>
            <a:off x="640080" y="1682496"/>
            <a:ext cx="6583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N1 · CRÍTICO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CAAP</a:t>
            </a:r>
            <a:endParaRPr lang="en-US" sz="800" dirty="0"/>
          </a:p>
        </p:txBody>
      </p:sp>
      <p:sp>
        <p:nvSpPr>
          <p:cNvPr id="40" name="Text 37"/>
          <p:cNvSpPr txBox="1"/>
          <p:nvPr/>
        </p:nvSpPr>
        <p:spPr>
          <a:xfrm>
            <a:off x="1380744" y="1700784"/>
            <a:ext cx="35478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"/>
              </a:spcAft>
              <a:buNone/>
            </a:pPr>
            <a:r>
              <a:rPr lang="en-US" sz="63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Izaje – plan y metodología. </a:t>
            </a:r>
            <a:pPr indent="0" marL="0">
              <a:spcAft>
                <a:spcPts val="100"/>
              </a:spcAft>
              <a:buNone/>
            </a:pPr>
            <a:r>
              <a:rPr lang="en-US" sz="63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 maniobra con plan de izaje específico y vigente para la carga y el equipo; el rigger lo porta en terreno y el supervisor valida que corresponda antes de autorizar el levante. Camión pluma (Piscinas PLS/ILS – Pilas de Lixiviación): planificación, posicionamiento y estabilización.</a:t>
            </a:r>
            <a:endParaRPr lang="en-US" sz="63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630" b="1" dirty="0">
                <a:solidFill>
                  <a:srgbClr val="C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Criterio de restricción: </a:t>
            </a:r>
            <a:pPr indent="0" marL="0">
              <a:spcAft>
                <a:spcPts val="100"/>
              </a:spcAft>
              <a:buNone/>
            </a:pPr>
            <a:r>
              <a:rPr lang="en-US" sz="63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Estabilizadores según la Gestión del Cambio (configuración excepcional). Sin plan específico no se iza.</a:t>
            </a:r>
            <a:endParaRPr lang="en-US" sz="630" dirty="0"/>
          </a:p>
        </p:txBody>
      </p:sp>
      <p:sp>
        <p:nvSpPr>
          <p:cNvPr id="41" name="Text 38"/>
          <p:cNvSpPr txBox="1"/>
          <p:nvPr/>
        </p:nvSpPr>
        <p:spPr>
          <a:xfrm>
            <a:off x="5038344" y="1700784"/>
            <a:ext cx="24505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"/>
              </a:spcAft>
              <a:buNone/>
            </a:pPr>
            <a:r>
              <a:rPr lang="en-US" sz="62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[T1-3] CAAP 555505 – PUMA:</a:t>
            </a:r>
            <a:pPr indent="0" marL="0">
              <a:spcAft>
                <a:spcPts val="100"/>
              </a:spcAft>
              <a:buNone/>
            </a:pPr>
            <a:r>
              <a:rPr lang="en-US" sz="62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plan del rigger correspondía a descarga de cañería HDPE 12 m y no a la escala modular izada.</a:t>
            </a:r>
            <a:endParaRPr lang="en-US" sz="62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62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[T1-3] HAP 555358 – PUMA:</a:t>
            </a:r>
            <a:pPr indent="0" marL="0">
              <a:spcAft>
                <a:spcPts val="100"/>
              </a:spcAft>
              <a:buNone/>
            </a:pPr>
            <a:r>
              <a:rPr lang="en-US" sz="62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izaje de equipo de electrofusión sin plan específico; se detiene la actividad.</a:t>
            </a:r>
            <a:endParaRPr lang="en-US" sz="620" dirty="0"/>
          </a:p>
        </p:txBody>
      </p:sp>
      <p:pic>
        <p:nvPicPr>
          <p:cNvPr id="4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1874520"/>
            <a:ext cx="292608" cy="292608"/>
          </a:xfrm>
          <a:prstGeom prst="rect">
            <a:avLst/>
          </a:prstGeom>
        </p:spPr>
      </p:pic>
      <p:sp>
        <p:nvSpPr>
          <p:cNvPr id="43" name="Text 39"/>
          <p:cNvSpPr txBox="1"/>
          <p:nvPr/>
        </p:nvSpPr>
        <p:spPr>
          <a:xfrm>
            <a:off x="7927848" y="1700784"/>
            <a:ext cx="10881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3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GCC + CdP Maniobras de Izaje + PTS + Apego a GC + ASP</a:t>
            </a:r>
            <a:endParaRPr lang="en-US" sz="630" dirty="0"/>
          </a:p>
        </p:txBody>
      </p:sp>
      <p:pic>
        <p:nvPicPr>
          <p:cNvPr id="4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98280" y="1883664"/>
            <a:ext cx="274320" cy="274320"/>
          </a:xfrm>
          <a:prstGeom prst="rect">
            <a:avLst/>
          </a:prstGeom>
        </p:spPr>
      </p:pic>
      <p:sp>
        <p:nvSpPr>
          <p:cNvPr id="45" name="Text 40"/>
          <p:cNvSpPr txBox="1"/>
          <p:nvPr/>
        </p:nvSpPr>
        <p:spPr>
          <a:xfrm>
            <a:off x="9418320" y="1700784"/>
            <a:ext cx="11338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3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 de izaje con consideraciones de la GC / validación del supervisor / elementos certificados / operador y rigger autorizados / fotos</a:t>
            </a:r>
            <a:endParaRPr lang="en-US" sz="630" dirty="0"/>
          </a:p>
        </p:txBody>
      </p:sp>
      <p:sp>
        <p:nvSpPr>
          <p:cNvPr id="46" name="Text 41"/>
          <p:cNvSpPr txBox="1"/>
          <p:nvPr/>
        </p:nvSpPr>
        <p:spPr>
          <a:xfrm>
            <a:off x="10661904" y="1719072"/>
            <a:ext cx="1124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7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☐ C   ☐ NC   ☐ NA</a:t>
            </a:r>
            <a:endParaRPr lang="en-US" sz="7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700" dirty="0">
                <a:solidFill>
                  <a:srgbClr val="5A65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Obs.: ______________</a:t>
            </a:r>
            <a:endParaRPr lang="en-US" sz="7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700" dirty="0">
                <a:solidFill>
                  <a:srgbClr val="5A65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______________________</a:t>
            </a:r>
            <a:endParaRPr lang="en-US" sz="700" dirty="0"/>
          </a:p>
        </p:txBody>
      </p:sp>
      <p:sp>
        <p:nvSpPr>
          <p:cNvPr id="47" name="Shape 42"/>
          <p:cNvSpPr/>
          <p:nvPr/>
        </p:nvSpPr>
        <p:spPr>
          <a:xfrm>
            <a:off x="365760" y="2359152"/>
            <a:ext cx="960120" cy="676656"/>
          </a:xfrm>
          <a:prstGeom prst="rect">
            <a:avLst/>
          </a:prstGeom>
          <a:solidFill>
            <a:srgbClr val="C62828"/>
          </a:solidFill>
          <a:ln w="9525">
            <a:solidFill>
              <a:srgbClr val="C9D3E0"/>
            </a:solidFill>
            <a:prstDash val="solid"/>
          </a:ln>
        </p:spPr>
      </p:sp>
      <p:sp>
        <p:nvSpPr>
          <p:cNvPr id="48" name="Shape 43"/>
          <p:cNvSpPr/>
          <p:nvPr/>
        </p:nvSpPr>
        <p:spPr>
          <a:xfrm>
            <a:off x="1325880" y="2359152"/>
            <a:ext cx="3657600" cy="676656"/>
          </a:xfrm>
          <a:prstGeom prst="rect">
            <a:avLst/>
          </a:prstGeom>
          <a:solidFill>
            <a:srgbClr val="F3F6FA"/>
          </a:solidFill>
          <a:ln w="9525">
            <a:solidFill>
              <a:srgbClr val="C9D3E0"/>
            </a:solidFill>
            <a:prstDash val="solid"/>
          </a:ln>
        </p:spPr>
      </p:sp>
      <p:sp>
        <p:nvSpPr>
          <p:cNvPr id="49" name="Shape 44"/>
          <p:cNvSpPr/>
          <p:nvPr/>
        </p:nvSpPr>
        <p:spPr>
          <a:xfrm>
            <a:off x="4983480" y="2359152"/>
            <a:ext cx="2560320" cy="676656"/>
          </a:xfrm>
          <a:prstGeom prst="rect">
            <a:avLst/>
          </a:prstGeom>
          <a:solidFill>
            <a:srgbClr val="F3F6FA"/>
          </a:solidFill>
          <a:ln w="9525">
            <a:solidFill>
              <a:srgbClr val="C9D3E0"/>
            </a:solidFill>
            <a:prstDash val="solid"/>
          </a:ln>
        </p:spPr>
      </p:sp>
      <p:sp>
        <p:nvSpPr>
          <p:cNvPr id="50" name="Shape 45"/>
          <p:cNvSpPr/>
          <p:nvPr/>
        </p:nvSpPr>
        <p:spPr>
          <a:xfrm>
            <a:off x="7543800" y="2359152"/>
            <a:ext cx="1508760" cy="676656"/>
          </a:xfrm>
          <a:prstGeom prst="rect">
            <a:avLst/>
          </a:prstGeom>
          <a:solidFill>
            <a:srgbClr val="F3F6FA"/>
          </a:solidFill>
          <a:ln w="9525">
            <a:solidFill>
              <a:srgbClr val="C9D3E0"/>
            </a:solidFill>
            <a:prstDash val="solid"/>
          </a:ln>
        </p:spPr>
      </p:sp>
      <p:sp>
        <p:nvSpPr>
          <p:cNvPr id="51" name="Shape 46"/>
          <p:cNvSpPr/>
          <p:nvPr/>
        </p:nvSpPr>
        <p:spPr>
          <a:xfrm>
            <a:off x="9052560" y="2359152"/>
            <a:ext cx="1536192" cy="676656"/>
          </a:xfrm>
          <a:prstGeom prst="rect">
            <a:avLst/>
          </a:prstGeom>
          <a:solidFill>
            <a:srgbClr val="F3F6FA"/>
          </a:solidFill>
          <a:ln w="9525">
            <a:solidFill>
              <a:srgbClr val="C9D3E0"/>
            </a:solidFill>
            <a:prstDash val="solid"/>
          </a:ln>
        </p:spPr>
      </p:sp>
      <p:sp>
        <p:nvSpPr>
          <p:cNvPr id="52" name="Shape 47"/>
          <p:cNvSpPr/>
          <p:nvPr/>
        </p:nvSpPr>
        <p:spPr>
          <a:xfrm>
            <a:off x="10588752" y="2359152"/>
            <a:ext cx="1234440" cy="676656"/>
          </a:xfrm>
          <a:prstGeom prst="rect">
            <a:avLst/>
          </a:prstGeom>
          <a:solidFill>
            <a:srgbClr val="F3F6FA"/>
          </a:solidFill>
          <a:ln w="9525">
            <a:solidFill>
              <a:srgbClr val="C9D3E0"/>
            </a:solidFill>
            <a:prstDash val="solid"/>
          </a:ln>
        </p:spPr>
      </p:sp>
      <p:sp>
        <p:nvSpPr>
          <p:cNvPr id="53" name="Text 48"/>
          <p:cNvSpPr txBox="1"/>
          <p:nvPr/>
        </p:nvSpPr>
        <p:spPr>
          <a:xfrm>
            <a:off x="420624" y="2359152"/>
            <a:ext cx="21945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54" name="Text 49"/>
          <p:cNvSpPr txBox="1"/>
          <p:nvPr/>
        </p:nvSpPr>
        <p:spPr>
          <a:xfrm>
            <a:off x="640080" y="2359152"/>
            <a:ext cx="6583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N1 · CRÍTICO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HAP</a:t>
            </a:r>
            <a:endParaRPr lang="en-US" sz="800" dirty="0"/>
          </a:p>
        </p:txBody>
      </p:sp>
      <p:sp>
        <p:nvSpPr>
          <p:cNvPr id="55" name="Text 50"/>
          <p:cNvSpPr txBox="1"/>
          <p:nvPr/>
        </p:nvSpPr>
        <p:spPr>
          <a:xfrm>
            <a:off x="1380744" y="2377440"/>
            <a:ext cx="35478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"/>
              </a:spcAft>
              <a:buNone/>
            </a:pPr>
            <a:r>
              <a:rPr lang="en-US" sz="63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Izaje – área de influencia de la carga. </a:t>
            </a:r>
            <a:pPr indent="0" marL="0">
              <a:spcAft>
                <a:spcPts val="100"/>
              </a:spcAft>
              <a:buNone/>
            </a:pPr>
            <a:r>
              <a:rPr lang="en-US" sz="63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Segregación efectiva y control de acceso antes de izar; comunicación bidireccional (operador y rigger con radio en frecuencia acordada); uso de vientos; personal fuera de bordes de zanja al desacoplar.</a:t>
            </a:r>
            <a:endParaRPr lang="en-US" sz="63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630" b="1" dirty="0">
                <a:solidFill>
                  <a:srgbClr val="C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Criterio de restricción: </a:t>
            </a:r>
            <a:pPr indent="0" marL="0">
              <a:spcAft>
                <a:spcPts val="100"/>
              </a:spcAft>
              <a:buNone/>
            </a:pPr>
            <a:r>
              <a:rPr lang="en-US" sz="63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 segregación o sin comunicación no se inicia el izaje. Prohibido desacoplar apoyado al borde de zanja o sobre tubería.</a:t>
            </a:r>
            <a:endParaRPr lang="en-US" sz="630" dirty="0"/>
          </a:p>
        </p:txBody>
      </p:sp>
      <p:sp>
        <p:nvSpPr>
          <p:cNvPr id="56" name="Text 51"/>
          <p:cNvSpPr txBox="1"/>
          <p:nvPr/>
        </p:nvSpPr>
        <p:spPr>
          <a:xfrm>
            <a:off x="5038344" y="2377440"/>
            <a:ext cx="24505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"/>
              </a:spcAft>
              <a:buNone/>
            </a:pPr>
            <a:r>
              <a:rPr lang="en-US" sz="62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[T1-3] HAP 556119 – PUMA:</a:t>
            </a:r>
            <a:pPr indent="0" marL="0">
              <a:spcAft>
                <a:spcPts val="100"/>
              </a:spcAft>
              <a:buNone/>
            </a:pPr>
            <a:r>
              <a:rPr lang="en-US" sz="62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carga de maxisacos con grúa horquilla sin segregación ni comunicación.</a:t>
            </a:r>
            <a:endParaRPr lang="en-US" sz="62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62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[T1-3/T2-4] CBP 554227 – PUMA:</a:t>
            </a:r>
            <a:pPr indent="0" marL="0">
              <a:spcAft>
                <a:spcPts val="100"/>
              </a:spcAft>
              <a:buNone/>
            </a:pPr>
            <a:r>
              <a:rPr lang="en-US" sz="62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retira eslinga con un pie al borde de zanja y otro sobre tubería Ø1.200 mm.</a:t>
            </a:r>
            <a:endParaRPr lang="en-US" sz="62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62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[T1-3] HBP 554488:</a:t>
            </a:r>
            <a:pPr indent="0" marL="0">
              <a:spcAft>
                <a:spcPts val="100"/>
              </a:spcAft>
              <a:buNone/>
            </a:pPr>
            <a:r>
              <a:rPr lang="en-US" sz="62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falta de vienteros.</a:t>
            </a:r>
            <a:endParaRPr lang="en-US" sz="620" dirty="0"/>
          </a:p>
        </p:txBody>
      </p:sp>
      <p:pic>
        <p:nvPicPr>
          <p:cNvPr id="5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89520" y="2551176"/>
            <a:ext cx="292608" cy="292608"/>
          </a:xfrm>
          <a:prstGeom prst="rect">
            <a:avLst/>
          </a:prstGeom>
        </p:spPr>
      </p:pic>
      <p:sp>
        <p:nvSpPr>
          <p:cNvPr id="58" name="Text 52"/>
          <p:cNvSpPr txBox="1"/>
          <p:nvPr/>
        </p:nvSpPr>
        <p:spPr>
          <a:xfrm>
            <a:off x="7927848" y="2377440"/>
            <a:ext cx="10881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3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GCC + CdP Maniobras de Izaje + Desafío en Terreno + ASP</a:t>
            </a:r>
            <a:endParaRPr lang="en-US" sz="630" dirty="0"/>
          </a:p>
        </p:txBody>
      </p:sp>
      <p:pic>
        <p:nvPicPr>
          <p:cNvPr id="5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98280" y="2560320"/>
            <a:ext cx="274320" cy="274320"/>
          </a:xfrm>
          <a:prstGeom prst="rect">
            <a:avLst/>
          </a:prstGeom>
        </p:spPr>
      </p:pic>
      <p:sp>
        <p:nvSpPr>
          <p:cNvPr id="60" name="Text 53"/>
          <p:cNvSpPr txBox="1"/>
          <p:nvPr/>
        </p:nvSpPr>
        <p:spPr>
          <a:xfrm>
            <a:off x="9418320" y="2377440"/>
            <a:ext cx="11338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3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Área segregada / radio operativa en operador y rigger / vientos en uso / fotos</a:t>
            </a:r>
            <a:endParaRPr lang="en-US" sz="630" dirty="0"/>
          </a:p>
        </p:txBody>
      </p:sp>
      <p:sp>
        <p:nvSpPr>
          <p:cNvPr id="61" name="Text 54"/>
          <p:cNvSpPr txBox="1"/>
          <p:nvPr/>
        </p:nvSpPr>
        <p:spPr>
          <a:xfrm>
            <a:off x="10661904" y="2395728"/>
            <a:ext cx="1124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7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☐ C   ☐ NC   ☐ NA</a:t>
            </a:r>
            <a:endParaRPr lang="en-US" sz="7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700" dirty="0">
                <a:solidFill>
                  <a:srgbClr val="5A65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Obs.: ______________</a:t>
            </a:r>
            <a:endParaRPr lang="en-US" sz="7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700" dirty="0">
                <a:solidFill>
                  <a:srgbClr val="5A65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______________________</a:t>
            </a:r>
            <a:endParaRPr lang="en-US" sz="700" dirty="0"/>
          </a:p>
        </p:txBody>
      </p:sp>
      <p:sp>
        <p:nvSpPr>
          <p:cNvPr id="62" name="Shape 55"/>
          <p:cNvSpPr/>
          <p:nvPr/>
        </p:nvSpPr>
        <p:spPr>
          <a:xfrm>
            <a:off x="365760" y="3035808"/>
            <a:ext cx="960120" cy="676656"/>
          </a:xfrm>
          <a:prstGeom prst="rect">
            <a:avLst/>
          </a:prstGeom>
          <a:solidFill>
            <a:srgbClr val="C62828"/>
          </a:solidFill>
          <a:ln w="9525">
            <a:solidFill>
              <a:srgbClr val="C9D3E0"/>
            </a:solidFill>
            <a:prstDash val="solid"/>
          </a:ln>
        </p:spPr>
      </p:sp>
      <p:sp>
        <p:nvSpPr>
          <p:cNvPr id="63" name="Shape 56"/>
          <p:cNvSpPr/>
          <p:nvPr/>
        </p:nvSpPr>
        <p:spPr>
          <a:xfrm>
            <a:off x="1325880" y="3035808"/>
            <a:ext cx="3657600" cy="676656"/>
          </a:xfrm>
          <a:prstGeom prst="rect">
            <a:avLst/>
          </a:prstGeom>
          <a:solidFill>
            <a:srgbClr val="FFFFFF"/>
          </a:solidFill>
          <a:ln w="9525">
            <a:solidFill>
              <a:srgbClr val="C9D3E0"/>
            </a:solidFill>
            <a:prstDash val="solid"/>
          </a:ln>
        </p:spPr>
      </p:sp>
      <p:sp>
        <p:nvSpPr>
          <p:cNvPr id="64" name="Shape 57"/>
          <p:cNvSpPr/>
          <p:nvPr/>
        </p:nvSpPr>
        <p:spPr>
          <a:xfrm>
            <a:off x="4983480" y="3035808"/>
            <a:ext cx="2560320" cy="676656"/>
          </a:xfrm>
          <a:prstGeom prst="rect">
            <a:avLst/>
          </a:prstGeom>
          <a:solidFill>
            <a:srgbClr val="FFFFFF"/>
          </a:solidFill>
          <a:ln w="9525">
            <a:solidFill>
              <a:srgbClr val="C9D3E0"/>
            </a:solidFill>
            <a:prstDash val="solid"/>
          </a:ln>
        </p:spPr>
      </p:sp>
      <p:sp>
        <p:nvSpPr>
          <p:cNvPr id="65" name="Shape 58"/>
          <p:cNvSpPr/>
          <p:nvPr/>
        </p:nvSpPr>
        <p:spPr>
          <a:xfrm>
            <a:off x="7543800" y="3035808"/>
            <a:ext cx="1508760" cy="676656"/>
          </a:xfrm>
          <a:prstGeom prst="rect">
            <a:avLst/>
          </a:prstGeom>
          <a:solidFill>
            <a:srgbClr val="FFFFFF"/>
          </a:solidFill>
          <a:ln w="9525">
            <a:solidFill>
              <a:srgbClr val="C9D3E0"/>
            </a:solidFill>
            <a:prstDash val="solid"/>
          </a:ln>
        </p:spPr>
      </p:sp>
      <p:sp>
        <p:nvSpPr>
          <p:cNvPr id="66" name="Shape 59"/>
          <p:cNvSpPr/>
          <p:nvPr/>
        </p:nvSpPr>
        <p:spPr>
          <a:xfrm>
            <a:off x="9052560" y="3035808"/>
            <a:ext cx="1536192" cy="676656"/>
          </a:xfrm>
          <a:prstGeom prst="rect">
            <a:avLst/>
          </a:prstGeom>
          <a:solidFill>
            <a:srgbClr val="FFFFFF"/>
          </a:solidFill>
          <a:ln w="9525">
            <a:solidFill>
              <a:srgbClr val="C9D3E0"/>
            </a:solidFill>
            <a:prstDash val="solid"/>
          </a:ln>
        </p:spPr>
      </p:sp>
      <p:sp>
        <p:nvSpPr>
          <p:cNvPr id="67" name="Shape 60"/>
          <p:cNvSpPr/>
          <p:nvPr/>
        </p:nvSpPr>
        <p:spPr>
          <a:xfrm>
            <a:off x="10588752" y="3035808"/>
            <a:ext cx="1234440" cy="676656"/>
          </a:xfrm>
          <a:prstGeom prst="rect">
            <a:avLst/>
          </a:prstGeom>
          <a:solidFill>
            <a:srgbClr val="FFFFFF"/>
          </a:solidFill>
          <a:ln w="9525">
            <a:solidFill>
              <a:srgbClr val="C9D3E0"/>
            </a:solidFill>
            <a:prstDash val="solid"/>
          </a:ln>
        </p:spPr>
      </p:sp>
      <p:sp>
        <p:nvSpPr>
          <p:cNvPr id="68" name="Text 61"/>
          <p:cNvSpPr txBox="1"/>
          <p:nvPr/>
        </p:nvSpPr>
        <p:spPr>
          <a:xfrm>
            <a:off x="420624" y="3035808"/>
            <a:ext cx="21945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69" name="Text 62"/>
          <p:cNvSpPr txBox="1"/>
          <p:nvPr/>
        </p:nvSpPr>
        <p:spPr>
          <a:xfrm>
            <a:off x="640080" y="3035808"/>
            <a:ext cx="6583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N1 · CRÍTICO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HAP</a:t>
            </a:r>
            <a:endParaRPr lang="en-US" sz="800" dirty="0"/>
          </a:p>
        </p:txBody>
      </p:sp>
      <p:sp>
        <p:nvSpPr>
          <p:cNvPr id="70" name="Text 63"/>
          <p:cNvSpPr txBox="1"/>
          <p:nvPr/>
        </p:nvSpPr>
        <p:spPr>
          <a:xfrm>
            <a:off x="1380744" y="3054096"/>
            <a:ext cx="35478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"/>
              </a:spcAft>
              <a:buNone/>
            </a:pPr>
            <a:r>
              <a:rPr lang="en-US" sz="63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Vehículos y equipos – inspección pre-uso. </a:t>
            </a:r>
            <a:pPr indent="0" marL="0">
              <a:spcAft>
                <a:spcPts val="100"/>
              </a:spcAft>
              <a:buNone/>
            </a:pPr>
            <a:r>
              <a:rPr lang="en-US" sz="63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Neumático-llanta sin cortes, abultamientos, deformaciones en flancos, desgaste fuera de norma ni impactos; elementos críticos sin daño; check list del turno con horómetro; letrero de supervisor con frecuencia radial y plan de tránsito firmado por el relator.</a:t>
            </a:r>
            <a:endParaRPr lang="en-US" sz="63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630" b="1" dirty="0">
                <a:solidFill>
                  <a:srgbClr val="C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Criterio de restricción: </a:t>
            </a:r>
            <a:pPr indent="0" marL="0">
              <a:spcAft>
                <a:spcPts val="100"/>
              </a:spcAft>
              <a:buNone/>
            </a:pPr>
            <a:r>
              <a:rPr lang="en-US" sz="63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 cualquier anomalía se prohíbe el tránsito: inmovilización hasta evaluación y reparación por especialista.</a:t>
            </a:r>
            <a:endParaRPr lang="en-US" sz="630" dirty="0"/>
          </a:p>
        </p:txBody>
      </p:sp>
      <p:sp>
        <p:nvSpPr>
          <p:cNvPr id="71" name="Text 64"/>
          <p:cNvSpPr txBox="1"/>
          <p:nvPr/>
        </p:nvSpPr>
        <p:spPr>
          <a:xfrm>
            <a:off x="5038344" y="3054096"/>
            <a:ext cx="24505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"/>
              </a:spcAft>
              <a:buNone/>
            </a:pPr>
            <a:r>
              <a:rPr lang="en-US" sz="62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[T1-3/T2-4] HAP 553767 – JEJ:</a:t>
            </a:r>
            <a:pPr indent="0" marL="0">
              <a:spcAft>
                <a:spcPts val="100"/>
              </a:spcAft>
              <a:buNone/>
            </a:pPr>
            <a:r>
              <a:rPr lang="en-US" sz="62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camioneta con neumático dañado ("llantazo") y daño lateral antes del uso.</a:t>
            </a:r>
            <a:endParaRPr lang="en-US" sz="62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62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[T1-3] HBP 554865 – PUMA:</a:t>
            </a:r>
            <a:pPr indent="0" marL="0">
              <a:spcAft>
                <a:spcPts val="100"/>
              </a:spcAft>
              <a:buNone/>
            </a:pPr>
            <a:r>
              <a:rPr lang="en-US" sz="62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camión pluma TW PT-21 sin letrero de supervisor y plan de tránsito sin firma.</a:t>
            </a:r>
            <a:endParaRPr lang="en-US" sz="62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62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[T1-3] HBP 554110 / 556748:</a:t>
            </a:r>
            <a:pPr indent="0" marL="0">
              <a:spcAft>
                <a:spcPts val="100"/>
              </a:spcAft>
              <a:buNone/>
            </a:pPr>
            <a:r>
              <a:rPr lang="en-US" sz="62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generadores sin horómetro ni responsable.</a:t>
            </a:r>
            <a:endParaRPr lang="en-US" sz="620" dirty="0"/>
          </a:p>
        </p:txBody>
      </p:sp>
      <p:pic>
        <p:nvPicPr>
          <p:cNvPr id="72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89520" y="3227832"/>
            <a:ext cx="292608" cy="292608"/>
          </a:xfrm>
          <a:prstGeom prst="rect">
            <a:avLst/>
          </a:prstGeom>
        </p:spPr>
      </p:pic>
      <p:sp>
        <p:nvSpPr>
          <p:cNvPr id="73" name="Text 65"/>
          <p:cNvSpPr txBox="1"/>
          <p:nvPr/>
        </p:nvSpPr>
        <p:spPr>
          <a:xfrm>
            <a:off x="7927848" y="3054096"/>
            <a:ext cx="10881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3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GCC + CdP Op. Vehículos Livianos + EdC Vehículo Liviano + Insp. de Equipos + ASP</a:t>
            </a:r>
            <a:endParaRPr lang="en-US" sz="630" dirty="0"/>
          </a:p>
        </p:txBody>
      </p:sp>
      <p:pic>
        <p:nvPicPr>
          <p:cNvPr id="7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098280" y="3236976"/>
            <a:ext cx="274320" cy="274320"/>
          </a:xfrm>
          <a:prstGeom prst="rect">
            <a:avLst/>
          </a:prstGeom>
        </p:spPr>
      </p:pic>
      <p:sp>
        <p:nvSpPr>
          <p:cNvPr id="75" name="Text 66"/>
          <p:cNvSpPr txBox="1"/>
          <p:nvPr/>
        </p:nvSpPr>
        <p:spPr>
          <a:xfrm>
            <a:off x="9418320" y="3054096"/>
            <a:ext cx="11338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3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 list pre-operacional del turno / ARTP / letrero y plan de tránsito firmados / fotos</a:t>
            </a:r>
            <a:endParaRPr lang="en-US" sz="630" dirty="0"/>
          </a:p>
        </p:txBody>
      </p:sp>
      <p:sp>
        <p:nvSpPr>
          <p:cNvPr id="76" name="Text 67"/>
          <p:cNvSpPr txBox="1"/>
          <p:nvPr/>
        </p:nvSpPr>
        <p:spPr>
          <a:xfrm>
            <a:off x="10661904" y="3072384"/>
            <a:ext cx="1124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7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☐ C   ☐ NC   ☐ NA</a:t>
            </a:r>
            <a:endParaRPr lang="en-US" sz="7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700" dirty="0">
                <a:solidFill>
                  <a:srgbClr val="5A65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Obs.: ______________</a:t>
            </a:r>
            <a:endParaRPr lang="en-US" sz="7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700" dirty="0">
                <a:solidFill>
                  <a:srgbClr val="5A65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______________________</a:t>
            </a:r>
            <a:endParaRPr lang="en-US" sz="700" dirty="0"/>
          </a:p>
        </p:txBody>
      </p:sp>
      <p:sp>
        <p:nvSpPr>
          <p:cNvPr id="77" name="Shape 68"/>
          <p:cNvSpPr/>
          <p:nvPr/>
        </p:nvSpPr>
        <p:spPr>
          <a:xfrm>
            <a:off x="365760" y="3712464"/>
            <a:ext cx="960120" cy="676656"/>
          </a:xfrm>
          <a:prstGeom prst="rect">
            <a:avLst/>
          </a:prstGeom>
          <a:solidFill>
            <a:srgbClr val="C62828"/>
          </a:solidFill>
          <a:ln w="9525">
            <a:solidFill>
              <a:srgbClr val="C9D3E0"/>
            </a:solidFill>
            <a:prstDash val="solid"/>
          </a:ln>
        </p:spPr>
      </p:sp>
      <p:sp>
        <p:nvSpPr>
          <p:cNvPr id="78" name="Shape 69"/>
          <p:cNvSpPr/>
          <p:nvPr/>
        </p:nvSpPr>
        <p:spPr>
          <a:xfrm>
            <a:off x="1325880" y="3712464"/>
            <a:ext cx="3657600" cy="676656"/>
          </a:xfrm>
          <a:prstGeom prst="rect">
            <a:avLst/>
          </a:prstGeom>
          <a:solidFill>
            <a:srgbClr val="F3F6FA"/>
          </a:solidFill>
          <a:ln w="9525">
            <a:solidFill>
              <a:srgbClr val="C9D3E0"/>
            </a:solidFill>
            <a:prstDash val="solid"/>
          </a:ln>
        </p:spPr>
      </p:sp>
      <p:sp>
        <p:nvSpPr>
          <p:cNvPr id="79" name="Shape 70"/>
          <p:cNvSpPr/>
          <p:nvPr/>
        </p:nvSpPr>
        <p:spPr>
          <a:xfrm>
            <a:off x="4983480" y="3712464"/>
            <a:ext cx="2560320" cy="676656"/>
          </a:xfrm>
          <a:prstGeom prst="rect">
            <a:avLst/>
          </a:prstGeom>
          <a:solidFill>
            <a:srgbClr val="F3F6FA"/>
          </a:solidFill>
          <a:ln w="9525">
            <a:solidFill>
              <a:srgbClr val="C9D3E0"/>
            </a:solidFill>
            <a:prstDash val="solid"/>
          </a:ln>
        </p:spPr>
      </p:sp>
      <p:sp>
        <p:nvSpPr>
          <p:cNvPr id="80" name="Shape 71"/>
          <p:cNvSpPr/>
          <p:nvPr/>
        </p:nvSpPr>
        <p:spPr>
          <a:xfrm>
            <a:off x="7543800" y="3712464"/>
            <a:ext cx="1508760" cy="676656"/>
          </a:xfrm>
          <a:prstGeom prst="rect">
            <a:avLst/>
          </a:prstGeom>
          <a:solidFill>
            <a:srgbClr val="F3F6FA"/>
          </a:solidFill>
          <a:ln w="9525">
            <a:solidFill>
              <a:srgbClr val="C9D3E0"/>
            </a:solidFill>
            <a:prstDash val="solid"/>
          </a:ln>
        </p:spPr>
      </p:sp>
      <p:sp>
        <p:nvSpPr>
          <p:cNvPr id="81" name="Shape 72"/>
          <p:cNvSpPr/>
          <p:nvPr/>
        </p:nvSpPr>
        <p:spPr>
          <a:xfrm>
            <a:off x="9052560" y="3712464"/>
            <a:ext cx="1536192" cy="676656"/>
          </a:xfrm>
          <a:prstGeom prst="rect">
            <a:avLst/>
          </a:prstGeom>
          <a:solidFill>
            <a:srgbClr val="F3F6FA"/>
          </a:solidFill>
          <a:ln w="9525">
            <a:solidFill>
              <a:srgbClr val="C9D3E0"/>
            </a:solidFill>
            <a:prstDash val="solid"/>
          </a:ln>
        </p:spPr>
      </p:sp>
      <p:sp>
        <p:nvSpPr>
          <p:cNvPr id="82" name="Shape 73"/>
          <p:cNvSpPr/>
          <p:nvPr/>
        </p:nvSpPr>
        <p:spPr>
          <a:xfrm>
            <a:off x="10588752" y="3712464"/>
            <a:ext cx="1234440" cy="676656"/>
          </a:xfrm>
          <a:prstGeom prst="rect">
            <a:avLst/>
          </a:prstGeom>
          <a:solidFill>
            <a:srgbClr val="F3F6FA"/>
          </a:solidFill>
          <a:ln w="9525">
            <a:solidFill>
              <a:srgbClr val="C9D3E0"/>
            </a:solidFill>
            <a:prstDash val="solid"/>
          </a:ln>
        </p:spPr>
      </p:sp>
      <p:sp>
        <p:nvSpPr>
          <p:cNvPr id="83" name="Text 74"/>
          <p:cNvSpPr txBox="1"/>
          <p:nvPr/>
        </p:nvSpPr>
        <p:spPr>
          <a:xfrm>
            <a:off x="420624" y="3712464"/>
            <a:ext cx="21945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500" dirty="0"/>
          </a:p>
        </p:txBody>
      </p:sp>
      <p:sp>
        <p:nvSpPr>
          <p:cNvPr id="84" name="Text 75"/>
          <p:cNvSpPr txBox="1"/>
          <p:nvPr/>
        </p:nvSpPr>
        <p:spPr>
          <a:xfrm>
            <a:off x="640080" y="3712464"/>
            <a:ext cx="6583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N1 · CRÍTICO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CBP</a:t>
            </a:r>
            <a:endParaRPr lang="en-US" sz="800" dirty="0"/>
          </a:p>
        </p:txBody>
      </p:sp>
      <p:sp>
        <p:nvSpPr>
          <p:cNvPr id="85" name="Text 76"/>
          <p:cNvSpPr txBox="1"/>
          <p:nvPr/>
        </p:nvSpPr>
        <p:spPr>
          <a:xfrm>
            <a:off x="1380744" y="3730752"/>
            <a:ext cx="35478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"/>
              </a:spcAft>
              <a:buNone/>
            </a:pPr>
            <a:r>
              <a:rPr lang="en-US" sz="63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Andamios y plataformas – liberación estricta. </a:t>
            </a:r>
            <a:pPr indent="0" marL="0">
              <a:spcAft>
                <a:spcPts val="100"/>
              </a:spcAft>
              <a:buNone/>
            </a:pPr>
            <a:r>
              <a:rPr lang="en-US" sz="63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 de componentes completos, certificados y montados según estándar antes de la Tarjeta Verde: rodapié y peldaños, doble baranda en vanos y bordes, superficie libre de material acopiado. Control de acceso y protección contra caídas a distinto nivel.</a:t>
            </a:r>
            <a:endParaRPr lang="en-US" sz="63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630" b="1" dirty="0">
                <a:solidFill>
                  <a:srgbClr val="C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Criterio de restricción: </a:t>
            </a:r>
            <a:pPr indent="0" marL="0">
              <a:spcAft>
                <a:spcPts val="100"/>
              </a:spcAft>
              <a:buNone/>
            </a:pPr>
            <a:r>
              <a:rPr lang="en-US" sz="63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Prohibido emitir Tarjeta Verde o usar el andamio con piezas faltantes; la tarjeta debe ser coherente con la condición real.</a:t>
            </a:r>
            <a:endParaRPr lang="en-US" sz="630" dirty="0"/>
          </a:p>
        </p:txBody>
      </p:sp>
      <p:sp>
        <p:nvSpPr>
          <p:cNvPr id="86" name="Text 77"/>
          <p:cNvSpPr txBox="1"/>
          <p:nvPr/>
        </p:nvSpPr>
        <p:spPr>
          <a:xfrm>
            <a:off x="5038344" y="3730752"/>
            <a:ext cx="24505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"/>
              </a:spcAft>
              <a:buNone/>
            </a:pPr>
            <a:r>
              <a:rPr lang="en-US" sz="62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[T1-3/T2-4] CBP 554901 – PUMA:</a:t>
            </a:r>
            <a:pPr indent="0" marL="0">
              <a:spcAft>
                <a:spcPts val="100"/>
              </a:spcAft>
              <a:buNone/>
            </a:pPr>
            <a:r>
              <a:rPr lang="en-US" sz="62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andamio en canaletas lado Oeste con tarjeta verde vigente, sin rodapié ni peldaños.</a:t>
            </a:r>
            <a:endParaRPr lang="en-US" sz="62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62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[T1-3] HBP 554468 – COX:</a:t>
            </a:r>
            <a:pPr indent="0" marL="0">
              <a:spcAft>
                <a:spcPts val="100"/>
              </a:spcAft>
              <a:buNone/>
            </a:pPr>
            <a:r>
              <a:rPr lang="en-US" sz="62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material mal acopiado sobre plataforma a 70 cm, riesgo de caída a distinto nivel.</a:t>
            </a:r>
            <a:endParaRPr lang="en-US" sz="620" dirty="0"/>
          </a:p>
        </p:txBody>
      </p:sp>
      <p:pic>
        <p:nvPicPr>
          <p:cNvPr id="87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589520" y="3904488"/>
            <a:ext cx="292608" cy="292608"/>
          </a:xfrm>
          <a:prstGeom prst="rect">
            <a:avLst/>
          </a:prstGeom>
        </p:spPr>
      </p:pic>
      <p:sp>
        <p:nvSpPr>
          <p:cNvPr id="88" name="Text 78"/>
          <p:cNvSpPr txBox="1"/>
          <p:nvPr/>
        </p:nvSpPr>
        <p:spPr>
          <a:xfrm>
            <a:off x="7927848" y="3730752"/>
            <a:ext cx="10881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3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GCC + CdP Trabajos en Altura + Insp. Plataformas de Andamios + ASP (Antes / Durante si se reinstala)</a:t>
            </a:r>
            <a:endParaRPr lang="en-US" sz="630" dirty="0"/>
          </a:p>
        </p:txBody>
      </p:sp>
      <p:pic>
        <p:nvPicPr>
          <p:cNvPr id="89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098280" y="3913632"/>
            <a:ext cx="274320" cy="274320"/>
          </a:xfrm>
          <a:prstGeom prst="rect">
            <a:avLst/>
          </a:prstGeom>
        </p:spPr>
      </p:pic>
      <p:sp>
        <p:nvSpPr>
          <p:cNvPr id="90" name="Text 79"/>
          <p:cNvSpPr txBox="1"/>
          <p:nvPr/>
        </p:nvSpPr>
        <p:spPr>
          <a:xfrm>
            <a:off x="9418320" y="3730752"/>
            <a:ext cx="11338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3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Rodapié, peldaños y doble baranda instalados / tarjeta coherente con la condición real / fotos</a:t>
            </a:r>
            <a:endParaRPr lang="en-US" sz="630" dirty="0"/>
          </a:p>
        </p:txBody>
      </p:sp>
      <p:sp>
        <p:nvSpPr>
          <p:cNvPr id="91" name="Text 80"/>
          <p:cNvSpPr txBox="1"/>
          <p:nvPr/>
        </p:nvSpPr>
        <p:spPr>
          <a:xfrm>
            <a:off x="10661904" y="3749040"/>
            <a:ext cx="1124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7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☐ C   ☐ NC   ☐ NA</a:t>
            </a:r>
            <a:endParaRPr lang="en-US" sz="7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700" dirty="0">
                <a:solidFill>
                  <a:srgbClr val="5A65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Obs.: ______________</a:t>
            </a:r>
            <a:endParaRPr lang="en-US" sz="7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700" dirty="0">
                <a:solidFill>
                  <a:srgbClr val="5A65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______________________</a:t>
            </a:r>
            <a:endParaRPr lang="en-US" sz="700" dirty="0"/>
          </a:p>
        </p:txBody>
      </p:sp>
      <p:sp>
        <p:nvSpPr>
          <p:cNvPr id="92" name="Shape 81"/>
          <p:cNvSpPr/>
          <p:nvPr/>
        </p:nvSpPr>
        <p:spPr>
          <a:xfrm>
            <a:off x="365760" y="4389120"/>
            <a:ext cx="960120" cy="676656"/>
          </a:xfrm>
          <a:prstGeom prst="rect">
            <a:avLst/>
          </a:prstGeom>
          <a:solidFill>
            <a:srgbClr val="E67E22"/>
          </a:solidFill>
          <a:ln w="9525">
            <a:solidFill>
              <a:srgbClr val="C9D3E0"/>
            </a:solidFill>
            <a:prstDash val="solid"/>
          </a:ln>
        </p:spPr>
      </p:sp>
      <p:sp>
        <p:nvSpPr>
          <p:cNvPr id="93" name="Shape 82"/>
          <p:cNvSpPr/>
          <p:nvPr/>
        </p:nvSpPr>
        <p:spPr>
          <a:xfrm>
            <a:off x="1325880" y="4389120"/>
            <a:ext cx="3657600" cy="676656"/>
          </a:xfrm>
          <a:prstGeom prst="rect">
            <a:avLst/>
          </a:prstGeom>
          <a:solidFill>
            <a:srgbClr val="FFFFFF"/>
          </a:solidFill>
          <a:ln w="9525">
            <a:solidFill>
              <a:srgbClr val="C9D3E0"/>
            </a:solidFill>
            <a:prstDash val="solid"/>
          </a:ln>
        </p:spPr>
      </p:sp>
      <p:sp>
        <p:nvSpPr>
          <p:cNvPr id="94" name="Shape 83"/>
          <p:cNvSpPr/>
          <p:nvPr/>
        </p:nvSpPr>
        <p:spPr>
          <a:xfrm>
            <a:off x="4983480" y="4389120"/>
            <a:ext cx="2560320" cy="676656"/>
          </a:xfrm>
          <a:prstGeom prst="rect">
            <a:avLst/>
          </a:prstGeom>
          <a:solidFill>
            <a:srgbClr val="FFFFFF"/>
          </a:solidFill>
          <a:ln w="9525">
            <a:solidFill>
              <a:srgbClr val="C9D3E0"/>
            </a:solidFill>
            <a:prstDash val="solid"/>
          </a:ln>
        </p:spPr>
      </p:sp>
      <p:sp>
        <p:nvSpPr>
          <p:cNvPr id="95" name="Shape 84"/>
          <p:cNvSpPr/>
          <p:nvPr/>
        </p:nvSpPr>
        <p:spPr>
          <a:xfrm>
            <a:off x="7543800" y="4389120"/>
            <a:ext cx="1508760" cy="676656"/>
          </a:xfrm>
          <a:prstGeom prst="rect">
            <a:avLst/>
          </a:prstGeom>
          <a:solidFill>
            <a:srgbClr val="FFFFFF"/>
          </a:solidFill>
          <a:ln w="9525">
            <a:solidFill>
              <a:srgbClr val="C9D3E0"/>
            </a:solidFill>
            <a:prstDash val="solid"/>
          </a:ln>
        </p:spPr>
      </p:sp>
      <p:sp>
        <p:nvSpPr>
          <p:cNvPr id="96" name="Shape 85"/>
          <p:cNvSpPr/>
          <p:nvPr/>
        </p:nvSpPr>
        <p:spPr>
          <a:xfrm>
            <a:off x="9052560" y="4389120"/>
            <a:ext cx="1536192" cy="676656"/>
          </a:xfrm>
          <a:prstGeom prst="rect">
            <a:avLst/>
          </a:prstGeom>
          <a:solidFill>
            <a:srgbClr val="FFFFFF"/>
          </a:solidFill>
          <a:ln w="9525">
            <a:solidFill>
              <a:srgbClr val="C9D3E0"/>
            </a:solidFill>
            <a:prstDash val="solid"/>
          </a:ln>
        </p:spPr>
      </p:sp>
      <p:sp>
        <p:nvSpPr>
          <p:cNvPr id="97" name="Shape 86"/>
          <p:cNvSpPr/>
          <p:nvPr/>
        </p:nvSpPr>
        <p:spPr>
          <a:xfrm>
            <a:off x="10588752" y="4389120"/>
            <a:ext cx="1234440" cy="676656"/>
          </a:xfrm>
          <a:prstGeom prst="rect">
            <a:avLst/>
          </a:prstGeom>
          <a:solidFill>
            <a:srgbClr val="FFFFFF"/>
          </a:solidFill>
          <a:ln w="9525">
            <a:solidFill>
              <a:srgbClr val="C9D3E0"/>
            </a:solidFill>
            <a:prstDash val="solid"/>
          </a:ln>
        </p:spPr>
      </p:sp>
      <p:sp>
        <p:nvSpPr>
          <p:cNvPr id="98" name="Text 87"/>
          <p:cNvSpPr txBox="1"/>
          <p:nvPr/>
        </p:nvSpPr>
        <p:spPr>
          <a:xfrm>
            <a:off x="420624" y="4389120"/>
            <a:ext cx="21945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500" dirty="0"/>
          </a:p>
        </p:txBody>
      </p:sp>
      <p:sp>
        <p:nvSpPr>
          <p:cNvPr id="99" name="Text 88"/>
          <p:cNvSpPr txBox="1"/>
          <p:nvPr/>
        </p:nvSpPr>
        <p:spPr>
          <a:xfrm>
            <a:off x="640080" y="4389120"/>
            <a:ext cx="6583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N2 · ALTO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HBP</a:t>
            </a:r>
            <a:endParaRPr lang="en-US" sz="800" dirty="0"/>
          </a:p>
        </p:txBody>
      </p:sp>
      <p:sp>
        <p:nvSpPr>
          <p:cNvPr id="100" name="Text 89"/>
          <p:cNvSpPr txBox="1"/>
          <p:nvPr/>
        </p:nvSpPr>
        <p:spPr>
          <a:xfrm>
            <a:off x="1380744" y="4407408"/>
            <a:ext cx="35478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"/>
              </a:spcAft>
              <a:buNone/>
            </a:pPr>
            <a:r>
              <a:rPr lang="en-US" sz="63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Extensiones eléctricas. </a:t>
            </a:r>
            <a:pPr indent="0" marL="0">
              <a:spcAft>
                <a:spcPts val="100"/>
              </a:spcAft>
              <a:buNone/>
            </a:pPr>
            <a:r>
              <a:rPr lang="en-US" sz="63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Integridad antes y durante el uso: aislamiento continuo, conectores e hilado sin fisuras, protección diferencial en el origen. Tendido elevado o canalizado, con pasacables.</a:t>
            </a:r>
            <a:endParaRPr lang="en-US" sz="63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630" b="1" dirty="0">
                <a:solidFill>
                  <a:srgbClr val="B35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Criterio de restricción: </a:t>
            </a:r>
            <a:pPr indent="0" marL="0">
              <a:spcAft>
                <a:spcPts val="100"/>
              </a:spcAft>
              <a:buNone/>
            </a:pPr>
            <a:r>
              <a:rPr lang="en-US" sz="63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Prohibido el contacto con estructuras metálicas, zonas de tránsito o aristas filosas.</a:t>
            </a:r>
            <a:endParaRPr lang="en-US" sz="630" dirty="0"/>
          </a:p>
        </p:txBody>
      </p:sp>
      <p:sp>
        <p:nvSpPr>
          <p:cNvPr id="101" name="Text 90"/>
          <p:cNvSpPr txBox="1"/>
          <p:nvPr/>
        </p:nvSpPr>
        <p:spPr>
          <a:xfrm>
            <a:off x="5038344" y="4407408"/>
            <a:ext cx="24505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"/>
              </a:spcAft>
              <a:buNone/>
            </a:pPr>
            <a:r>
              <a:rPr lang="en-US" sz="62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[T2-4] HBP 554473 – COX:</a:t>
            </a:r>
            <a:pPr indent="0" marL="0">
              <a:spcAft>
                <a:spcPts val="100"/>
              </a:spcAft>
              <a:buNone/>
            </a:pPr>
            <a:r>
              <a:rPr lang="en-US" sz="62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extensión en contacto directo con estructura metálica de andamio, sin pasacables.</a:t>
            </a:r>
            <a:endParaRPr lang="en-US" sz="62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62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[T1-3] 3 eventos HBP:</a:t>
            </a:r>
            <a:pPr indent="0" marL="0">
              <a:spcAft>
                <a:spcPts val="100"/>
              </a:spcAft>
              <a:buNone/>
            </a:pPr>
            <a:r>
              <a:rPr lang="en-US" sz="62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extensiones sin pasacable, en contacto con estructura o tendidas en piso.</a:t>
            </a:r>
            <a:endParaRPr lang="en-US" sz="620" dirty="0"/>
          </a:p>
        </p:txBody>
      </p:sp>
      <p:pic>
        <p:nvPicPr>
          <p:cNvPr id="102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589520" y="4581144"/>
            <a:ext cx="292608" cy="292608"/>
          </a:xfrm>
          <a:prstGeom prst="rect">
            <a:avLst/>
          </a:prstGeom>
        </p:spPr>
      </p:pic>
      <p:sp>
        <p:nvSpPr>
          <p:cNvPr id="103" name="Text 91"/>
          <p:cNvSpPr txBox="1"/>
          <p:nvPr/>
        </p:nvSpPr>
        <p:spPr>
          <a:xfrm>
            <a:off x="7927848" y="4407408"/>
            <a:ext cx="10881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3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Inspección + Acompañamiento ASP</a:t>
            </a:r>
            <a:endParaRPr lang="en-US" sz="630" dirty="0"/>
          </a:p>
        </p:txBody>
      </p:sp>
      <p:pic>
        <p:nvPicPr>
          <p:cNvPr id="104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098280" y="4590288"/>
            <a:ext cx="274320" cy="274320"/>
          </a:xfrm>
          <a:prstGeom prst="rect">
            <a:avLst/>
          </a:prstGeom>
        </p:spPr>
      </p:pic>
      <p:sp>
        <p:nvSpPr>
          <p:cNvPr id="105" name="Text 92"/>
          <p:cNvSpPr txBox="1"/>
          <p:nvPr/>
        </p:nvSpPr>
        <p:spPr>
          <a:xfrm>
            <a:off x="9418320" y="4407408"/>
            <a:ext cx="11338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3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Registro de inspección / QR acompañamiento ASP / fotos</a:t>
            </a:r>
            <a:endParaRPr lang="en-US" sz="630" dirty="0"/>
          </a:p>
        </p:txBody>
      </p:sp>
      <p:sp>
        <p:nvSpPr>
          <p:cNvPr id="106" name="Text 93"/>
          <p:cNvSpPr txBox="1"/>
          <p:nvPr/>
        </p:nvSpPr>
        <p:spPr>
          <a:xfrm>
            <a:off x="10661904" y="4425696"/>
            <a:ext cx="1124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7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☐ C   ☐ NC   ☐ NA</a:t>
            </a:r>
            <a:endParaRPr lang="en-US" sz="7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700" dirty="0">
                <a:solidFill>
                  <a:srgbClr val="5A65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Obs.: ______________</a:t>
            </a:r>
            <a:endParaRPr lang="en-US" sz="7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700" dirty="0">
                <a:solidFill>
                  <a:srgbClr val="5A65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______________________</a:t>
            </a:r>
            <a:endParaRPr lang="en-US" sz="700" dirty="0"/>
          </a:p>
        </p:txBody>
      </p:sp>
      <p:sp>
        <p:nvSpPr>
          <p:cNvPr id="107" name="Shape 94"/>
          <p:cNvSpPr/>
          <p:nvPr/>
        </p:nvSpPr>
        <p:spPr>
          <a:xfrm>
            <a:off x="365760" y="5065776"/>
            <a:ext cx="960120" cy="676656"/>
          </a:xfrm>
          <a:prstGeom prst="rect">
            <a:avLst/>
          </a:prstGeom>
          <a:solidFill>
            <a:srgbClr val="E67E22"/>
          </a:solidFill>
          <a:ln w="9525">
            <a:solidFill>
              <a:srgbClr val="C9D3E0"/>
            </a:solidFill>
            <a:prstDash val="solid"/>
          </a:ln>
        </p:spPr>
      </p:sp>
      <p:sp>
        <p:nvSpPr>
          <p:cNvPr id="108" name="Shape 95"/>
          <p:cNvSpPr/>
          <p:nvPr/>
        </p:nvSpPr>
        <p:spPr>
          <a:xfrm>
            <a:off x="1325880" y="5065776"/>
            <a:ext cx="3657600" cy="676656"/>
          </a:xfrm>
          <a:prstGeom prst="rect">
            <a:avLst/>
          </a:prstGeom>
          <a:solidFill>
            <a:srgbClr val="F3F6FA"/>
          </a:solidFill>
          <a:ln w="9525">
            <a:solidFill>
              <a:srgbClr val="C9D3E0"/>
            </a:solidFill>
            <a:prstDash val="solid"/>
          </a:ln>
        </p:spPr>
      </p:sp>
      <p:sp>
        <p:nvSpPr>
          <p:cNvPr id="109" name="Shape 96"/>
          <p:cNvSpPr/>
          <p:nvPr/>
        </p:nvSpPr>
        <p:spPr>
          <a:xfrm>
            <a:off x="4983480" y="5065776"/>
            <a:ext cx="2560320" cy="676656"/>
          </a:xfrm>
          <a:prstGeom prst="rect">
            <a:avLst/>
          </a:prstGeom>
          <a:solidFill>
            <a:srgbClr val="F3F6FA"/>
          </a:solidFill>
          <a:ln w="9525">
            <a:solidFill>
              <a:srgbClr val="C9D3E0"/>
            </a:solidFill>
            <a:prstDash val="solid"/>
          </a:ln>
        </p:spPr>
      </p:sp>
      <p:sp>
        <p:nvSpPr>
          <p:cNvPr id="110" name="Shape 97"/>
          <p:cNvSpPr/>
          <p:nvPr/>
        </p:nvSpPr>
        <p:spPr>
          <a:xfrm>
            <a:off x="7543800" y="5065776"/>
            <a:ext cx="1508760" cy="676656"/>
          </a:xfrm>
          <a:prstGeom prst="rect">
            <a:avLst/>
          </a:prstGeom>
          <a:solidFill>
            <a:srgbClr val="F3F6FA"/>
          </a:solidFill>
          <a:ln w="9525">
            <a:solidFill>
              <a:srgbClr val="C9D3E0"/>
            </a:solidFill>
            <a:prstDash val="solid"/>
          </a:ln>
        </p:spPr>
      </p:sp>
      <p:sp>
        <p:nvSpPr>
          <p:cNvPr id="111" name="Shape 98"/>
          <p:cNvSpPr/>
          <p:nvPr/>
        </p:nvSpPr>
        <p:spPr>
          <a:xfrm>
            <a:off x="9052560" y="5065776"/>
            <a:ext cx="1536192" cy="676656"/>
          </a:xfrm>
          <a:prstGeom prst="rect">
            <a:avLst/>
          </a:prstGeom>
          <a:solidFill>
            <a:srgbClr val="F3F6FA"/>
          </a:solidFill>
          <a:ln w="9525">
            <a:solidFill>
              <a:srgbClr val="C9D3E0"/>
            </a:solidFill>
            <a:prstDash val="solid"/>
          </a:ln>
        </p:spPr>
      </p:sp>
      <p:sp>
        <p:nvSpPr>
          <p:cNvPr id="112" name="Shape 99"/>
          <p:cNvSpPr/>
          <p:nvPr/>
        </p:nvSpPr>
        <p:spPr>
          <a:xfrm>
            <a:off x="10588752" y="5065776"/>
            <a:ext cx="1234440" cy="676656"/>
          </a:xfrm>
          <a:prstGeom prst="rect">
            <a:avLst/>
          </a:prstGeom>
          <a:solidFill>
            <a:srgbClr val="F3F6FA"/>
          </a:solidFill>
          <a:ln w="9525">
            <a:solidFill>
              <a:srgbClr val="C9D3E0"/>
            </a:solidFill>
            <a:prstDash val="solid"/>
          </a:ln>
        </p:spPr>
      </p:sp>
      <p:sp>
        <p:nvSpPr>
          <p:cNvPr id="113" name="Text 100"/>
          <p:cNvSpPr txBox="1"/>
          <p:nvPr/>
        </p:nvSpPr>
        <p:spPr>
          <a:xfrm>
            <a:off x="420624" y="5065776"/>
            <a:ext cx="21945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500" dirty="0"/>
          </a:p>
        </p:txBody>
      </p:sp>
      <p:sp>
        <p:nvSpPr>
          <p:cNvPr id="114" name="Text 101"/>
          <p:cNvSpPr txBox="1"/>
          <p:nvPr/>
        </p:nvSpPr>
        <p:spPr>
          <a:xfrm>
            <a:off x="640080" y="5065776"/>
            <a:ext cx="6583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N2 · ALTO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HBP</a:t>
            </a:r>
            <a:endParaRPr lang="en-US" sz="800" dirty="0"/>
          </a:p>
        </p:txBody>
      </p:sp>
      <p:sp>
        <p:nvSpPr>
          <p:cNvPr id="115" name="Text 102"/>
          <p:cNvSpPr txBox="1"/>
          <p:nvPr/>
        </p:nvSpPr>
        <p:spPr>
          <a:xfrm>
            <a:off x="1380744" y="5084064"/>
            <a:ext cx="35478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"/>
              </a:spcAft>
              <a:buNone/>
            </a:pPr>
            <a:r>
              <a:rPr lang="en-US" sz="63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Orden, aseo y acopio (recurrente). </a:t>
            </a:r>
            <a:pPr indent="0" marL="0">
              <a:spcAft>
                <a:spcPts val="100"/>
              </a:spcAft>
              <a:buNone/>
            </a:pPr>
            <a:r>
              <a:rPr lang="en-US" sz="63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Materiales segregados y acopiados solo en zonas habilitadas; piezas y herramientas de andamio fuera del nivel de piso; vías de tránsito despejadas. Refuerzo en todos los recorridos y al cierre de cada tarea.</a:t>
            </a:r>
            <a:endParaRPr lang="en-US" sz="63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630" b="1" dirty="0">
                <a:solidFill>
                  <a:srgbClr val="B35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Criterio de restricción: </a:t>
            </a:r>
            <a:pPr indent="0" marL="0">
              <a:spcAft>
                <a:spcPts val="100"/>
              </a:spcAft>
              <a:buNone/>
            </a:pPr>
            <a:r>
              <a:rPr lang="en-US" sz="63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se cierra la tarea ni se entrega el área sin orden y aseo verificados.</a:t>
            </a:r>
            <a:endParaRPr lang="en-US" sz="630" dirty="0"/>
          </a:p>
        </p:txBody>
      </p:sp>
      <p:sp>
        <p:nvSpPr>
          <p:cNvPr id="116" name="Text 103"/>
          <p:cNvSpPr txBox="1"/>
          <p:nvPr/>
        </p:nvSpPr>
        <p:spPr>
          <a:xfrm>
            <a:off x="5038344" y="5084064"/>
            <a:ext cx="24505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"/>
              </a:spcAft>
              <a:buNone/>
            </a:pPr>
            <a:r>
              <a:rPr lang="en-US" sz="62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[T2-4] 8 eventos HBP:</a:t>
            </a:r>
            <a:pPr indent="0" marL="0">
              <a:spcAft>
                <a:spcPts val="100"/>
              </a:spcAft>
              <a:buNone/>
            </a:pPr>
            <a:r>
              <a:rPr lang="en-US" sz="62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materiales sin segregar y piezas/herramientas de andamio a nivel de piso.</a:t>
            </a:r>
            <a:endParaRPr lang="en-US" sz="62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62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[T1-3] 4 eventos HBP:</a:t>
            </a:r>
            <a:pPr indent="0" marL="0">
              <a:spcAft>
                <a:spcPts val="100"/>
              </a:spcAft>
              <a:buNone/>
            </a:pPr>
            <a:r>
              <a:rPr lang="en-US" sz="62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acopio de material y housekeeping deficiente.</a:t>
            </a:r>
            <a:endParaRPr lang="en-US" sz="620" dirty="0"/>
          </a:p>
        </p:txBody>
      </p:sp>
      <p:pic>
        <p:nvPicPr>
          <p:cNvPr id="117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589520" y="5257800"/>
            <a:ext cx="292608" cy="292608"/>
          </a:xfrm>
          <a:prstGeom prst="rect">
            <a:avLst/>
          </a:prstGeom>
        </p:spPr>
      </p:pic>
      <p:sp>
        <p:nvSpPr>
          <p:cNvPr id="118" name="Text 104"/>
          <p:cNvSpPr txBox="1"/>
          <p:nvPr/>
        </p:nvSpPr>
        <p:spPr>
          <a:xfrm>
            <a:off x="7927848" y="5084064"/>
            <a:ext cx="10881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3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Recorrido de inspección + ASP al cierre de tarea</a:t>
            </a:r>
            <a:endParaRPr lang="en-US" sz="630" dirty="0"/>
          </a:p>
        </p:txBody>
      </p:sp>
      <p:pic>
        <p:nvPicPr>
          <p:cNvPr id="119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098280" y="5266944"/>
            <a:ext cx="274320" cy="274320"/>
          </a:xfrm>
          <a:prstGeom prst="rect">
            <a:avLst/>
          </a:prstGeom>
        </p:spPr>
      </p:pic>
      <p:sp>
        <p:nvSpPr>
          <p:cNvPr id="120" name="Text 105"/>
          <p:cNvSpPr txBox="1"/>
          <p:nvPr/>
        </p:nvSpPr>
        <p:spPr>
          <a:xfrm>
            <a:off x="9418320" y="5084064"/>
            <a:ext cx="11338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3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Fotos antes / después / área entregada ordenada y limpia</a:t>
            </a:r>
            <a:endParaRPr lang="en-US" sz="630" dirty="0"/>
          </a:p>
        </p:txBody>
      </p:sp>
      <p:sp>
        <p:nvSpPr>
          <p:cNvPr id="121" name="Text 106"/>
          <p:cNvSpPr txBox="1"/>
          <p:nvPr/>
        </p:nvSpPr>
        <p:spPr>
          <a:xfrm>
            <a:off x="10661904" y="5102352"/>
            <a:ext cx="1124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7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☐ C   ☐ NC   ☐ NA</a:t>
            </a:r>
            <a:endParaRPr lang="en-US" sz="7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700" dirty="0">
                <a:solidFill>
                  <a:srgbClr val="5A65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Obs.: ______________</a:t>
            </a:r>
            <a:endParaRPr lang="en-US" sz="7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700" dirty="0">
                <a:solidFill>
                  <a:srgbClr val="5A65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______________________</a:t>
            </a:r>
            <a:endParaRPr lang="en-US" sz="700" dirty="0"/>
          </a:p>
        </p:txBody>
      </p:sp>
      <p:sp>
        <p:nvSpPr>
          <p:cNvPr id="122" name="Shape 107"/>
          <p:cNvSpPr/>
          <p:nvPr/>
        </p:nvSpPr>
        <p:spPr>
          <a:xfrm>
            <a:off x="365760" y="5797296"/>
            <a:ext cx="960120" cy="292608"/>
          </a:xfrm>
          <a:prstGeom prst="rect">
            <a:avLst/>
          </a:prstGeom>
          <a:solidFill>
            <a:srgbClr val="155A63"/>
          </a:solidFill>
          <a:ln w="12700">
            <a:solidFill>
              <a:srgbClr val="155A63"/>
            </a:solidFill>
            <a:prstDash val="solid"/>
          </a:ln>
        </p:spPr>
      </p:sp>
      <p:sp>
        <p:nvSpPr>
          <p:cNvPr id="123" name="Text 108"/>
          <p:cNvSpPr txBox="1"/>
          <p:nvPr/>
        </p:nvSpPr>
        <p:spPr>
          <a:xfrm>
            <a:off x="365760" y="5797296"/>
            <a:ext cx="960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RECURRENTE</a:t>
            </a:r>
            <a:endParaRPr lang="en-US" sz="750" dirty="0"/>
          </a:p>
        </p:txBody>
      </p:sp>
      <p:sp>
        <p:nvSpPr>
          <p:cNvPr id="124" name="Shape 109"/>
          <p:cNvSpPr/>
          <p:nvPr/>
        </p:nvSpPr>
        <p:spPr>
          <a:xfrm>
            <a:off x="1325880" y="5797296"/>
            <a:ext cx="10497312" cy="292608"/>
          </a:xfrm>
          <a:prstGeom prst="rect">
            <a:avLst/>
          </a:prstGeom>
          <a:solidFill>
            <a:srgbClr val="17707A"/>
          </a:solidFill>
          <a:ln w="12700">
            <a:solidFill>
              <a:srgbClr val="17707A"/>
            </a:solidFill>
            <a:prstDash val="solid"/>
          </a:ln>
        </p:spPr>
      </p:sp>
      <p:sp>
        <p:nvSpPr>
          <p:cNvPr id="125" name="Text 110"/>
          <p:cNvSpPr txBox="1"/>
          <p:nvPr/>
        </p:nvSpPr>
        <p:spPr>
          <a:xfrm>
            <a:off x="1417320" y="5797296"/>
            <a:ext cx="10314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eventos HBP entre ambos turnos (T1-3: 7 · T2-4: 8). </a:t>
            </a:r>
            <a:pPr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Acopio, housekeeping y piezas/herramientas de andamio a nivel de piso (12) · extensiones sin pasacable, en contacto con estructura o en piso (3). Refuerzo transversal en todos los recorridos y al cierre de cada tarea.</a:t>
            </a:r>
            <a:endParaRPr lang="en-US" sz="700" dirty="0"/>
          </a:p>
        </p:txBody>
      </p:sp>
      <p:sp>
        <p:nvSpPr>
          <p:cNvPr id="126" name="Shape 111"/>
          <p:cNvSpPr/>
          <p:nvPr/>
        </p:nvSpPr>
        <p:spPr>
          <a:xfrm>
            <a:off x="365760" y="6181344"/>
            <a:ext cx="6172200" cy="219456"/>
          </a:xfrm>
          <a:prstGeom prst="rect">
            <a:avLst/>
          </a:prstGeom>
          <a:solidFill>
            <a:srgbClr val="1F3D6B"/>
          </a:solidFill>
          <a:ln w="12700">
            <a:solidFill>
              <a:srgbClr val="1F3D6B"/>
            </a:solidFill>
            <a:prstDash val="solid"/>
          </a:ln>
        </p:spPr>
      </p:sp>
      <p:sp>
        <p:nvSpPr>
          <p:cNvPr id="127" name="Text 112"/>
          <p:cNvSpPr txBox="1"/>
          <p:nvPr/>
        </p:nvSpPr>
        <p:spPr>
          <a:xfrm>
            <a:off x="457200" y="6181344"/>
            <a:ext cx="5989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SÍNTESIS DE TENDENCIAS Y RECOMENDACIÓN DE RECORRIDOS – SUPERVISOR ITO</a:t>
            </a:r>
            <a:endParaRPr lang="en-US" sz="750" dirty="0"/>
          </a:p>
        </p:txBody>
      </p:sp>
      <p:pic>
        <p:nvPicPr>
          <p:cNvPr id="128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38912" y="6473952"/>
            <a:ext cx="219456" cy="219456"/>
          </a:xfrm>
          <a:prstGeom prst="rect">
            <a:avLst/>
          </a:prstGeom>
        </p:spPr>
      </p:pic>
      <p:sp>
        <p:nvSpPr>
          <p:cNvPr id="129" name="Text 113"/>
          <p:cNvSpPr txBox="1"/>
          <p:nvPr/>
        </p:nvSpPr>
        <p:spPr>
          <a:xfrm>
            <a:off x="694944" y="6455664"/>
            <a:ext cx="16733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BLOQUE AM · INICIO DE TURNO</a:t>
            </a:r>
            <a:endParaRPr lang="en-US" sz="730" dirty="0"/>
          </a:p>
        </p:txBody>
      </p:sp>
      <p:sp>
        <p:nvSpPr>
          <p:cNvPr id="130" name="Text 114"/>
          <p:cNvSpPr txBox="1"/>
          <p:nvPr/>
        </p:nvSpPr>
        <p:spPr>
          <a:xfrm>
            <a:off x="438912" y="6729984"/>
            <a:ext cx="1911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5A65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Piscinas ILS–PLS · Pila Oeste · Pilas de Lixiviación · Izaje</a:t>
            </a:r>
            <a:endParaRPr lang="en-US" sz="650" dirty="0"/>
          </a:p>
        </p:txBody>
      </p:sp>
      <p:sp>
        <p:nvSpPr>
          <p:cNvPr id="131" name="Text 115"/>
          <p:cNvSpPr txBox="1"/>
          <p:nvPr/>
        </p:nvSpPr>
        <p:spPr>
          <a:xfrm>
            <a:off x="438912" y="7022592"/>
            <a:ext cx="1911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68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Plan de izaje específico por maniobra (1)</a:t>
            </a:r>
            <a:endParaRPr lang="en-US" sz="68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68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Estabilizadores camión pluma según GC (1)</a:t>
            </a:r>
            <a:endParaRPr lang="en-US" sz="68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68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Segregación, radio y vientos en la carga (2)</a:t>
            </a:r>
            <a:endParaRPr lang="en-US" sz="68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68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Check list pre-uso de vehículos y equipos (3)</a:t>
            </a:r>
            <a:endParaRPr lang="en-US" sz="680" dirty="0"/>
          </a:p>
        </p:txBody>
      </p:sp>
      <p:sp>
        <p:nvSpPr>
          <p:cNvPr id="132" name="Shape 116"/>
          <p:cNvSpPr/>
          <p:nvPr/>
        </p:nvSpPr>
        <p:spPr>
          <a:xfrm>
            <a:off x="2423160" y="6501384"/>
            <a:ext cx="9144" cy="1316736"/>
          </a:xfrm>
          <a:prstGeom prst="rect">
            <a:avLst/>
          </a:prstGeom>
          <a:solidFill>
            <a:srgbClr val="C9D3E0"/>
          </a:solidFill>
          <a:ln w="12700">
            <a:solidFill>
              <a:srgbClr val="C9D3E0"/>
            </a:solidFill>
            <a:prstDash val="solid"/>
          </a:ln>
        </p:spPr>
      </p:sp>
      <p:pic>
        <p:nvPicPr>
          <p:cNvPr id="133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2496312" y="6473952"/>
            <a:ext cx="219456" cy="219456"/>
          </a:xfrm>
          <a:prstGeom prst="rect">
            <a:avLst/>
          </a:prstGeom>
        </p:spPr>
      </p:pic>
      <p:sp>
        <p:nvSpPr>
          <p:cNvPr id="134" name="Text 117"/>
          <p:cNvSpPr txBox="1"/>
          <p:nvPr/>
        </p:nvSpPr>
        <p:spPr>
          <a:xfrm>
            <a:off x="2752344" y="6455664"/>
            <a:ext cx="16733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BLOQUE MEDIODÍA · INTERVENCIÓN</a:t>
            </a:r>
            <a:endParaRPr lang="en-US" sz="730" dirty="0"/>
          </a:p>
        </p:txBody>
      </p:sp>
      <p:sp>
        <p:nvSpPr>
          <p:cNvPr id="135" name="Text 118"/>
          <p:cNvSpPr txBox="1"/>
          <p:nvPr/>
        </p:nvSpPr>
        <p:spPr>
          <a:xfrm>
            <a:off x="2496312" y="6729984"/>
            <a:ext cx="1911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5A65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Pilas de Lixiviación · Canaletas lado Oeste · Botadero de Ripios · Patio Contratistas</a:t>
            </a:r>
            <a:endParaRPr lang="en-US" sz="650" dirty="0"/>
          </a:p>
        </p:txBody>
      </p:sp>
      <p:sp>
        <p:nvSpPr>
          <p:cNvPr id="136" name="Text 119"/>
          <p:cNvSpPr txBox="1"/>
          <p:nvPr/>
        </p:nvSpPr>
        <p:spPr>
          <a:xfrm>
            <a:off x="2496312" y="7022592"/>
            <a:ext cx="1911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68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Rodapié, peldaños y doble baranda (4)</a:t>
            </a:r>
            <a:endParaRPr lang="en-US" sz="68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68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Tarjeta Verde coherente con condición real (4)</a:t>
            </a:r>
            <a:endParaRPr lang="en-US" sz="68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68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Extensiones con pasacable (5)</a:t>
            </a:r>
            <a:endParaRPr lang="en-US" sz="68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68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Acopio y orden en zonas habilitadas (6)</a:t>
            </a:r>
            <a:endParaRPr lang="en-US" sz="680" dirty="0"/>
          </a:p>
        </p:txBody>
      </p:sp>
      <p:sp>
        <p:nvSpPr>
          <p:cNvPr id="137" name="Shape 120"/>
          <p:cNvSpPr/>
          <p:nvPr/>
        </p:nvSpPr>
        <p:spPr>
          <a:xfrm>
            <a:off x="4480560" y="6501384"/>
            <a:ext cx="9144" cy="1316736"/>
          </a:xfrm>
          <a:prstGeom prst="rect">
            <a:avLst/>
          </a:prstGeom>
          <a:solidFill>
            <a:srgbClr val="C9D3E0"/>
          </a:solidFill>
          <a:ln w="12700">
            <a:solidFill>
              <a:srgbClr val="C9D3E0"/>
            </a:solidFill>
            <a:prstDash val="solid"/>
          </a:ln>
        </p:spPr>
      </p:sp>
      <p:pic>
        <p:nvPicPr>
          <p:cNvPr id="138" name="Image 15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4553712" y="6473952"/>
            <a:ext cx="219456" cy="219456"/>
          </a:xfrm>
          <a:prstGeom prst="rect">
            <a:avLst/>
          </a:prstGeom>
        </p:spPr>
      </p:pic>
      <p:sp>
        <p:nvSpPr>
          <p:cNvPr id="139" name="Text 121"/>
          <p:cNvSpPr txBox="1"/>
          <p:nvPr/>
        </p:nvSpPr>
        <p:spPr>
          <a:xfrm>
            <a:off x="4809744" y="6455664"/>
            <a:ext cx="16733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BLOQUE PM · CIERRE DE JORNADA</a:t>
            </a:r>
            <a:endParaRPr lang="en-US" sz="730" dirty="0"/>
          </a:p>
        </p:txBody>
      </p:sp>
      <p:sp>
        <p:nvSpPr>
          <p:cNvPr id="140" name="Text 122"/>
          <p:cNvSpPr txBox="1"/>
          <p:nvPr/>
        </p:nvSpPr>
        <p:spPr>
          <a:xfrm>
            <a:off x="4553712" y="6729984"/>
            <a:ext cx="1911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5A65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Gestión SAP · CdP pendientes · Entrega de turno</a:t>
            </a:r>
            <a:endParaRPr lang="en-US" sz="650" dirty="0"/>
          </a:p>
        </p:txBody>
      </p:sp>
      <p:sp>
        <p:nvSpPr>
          <p:cNvPr id="141" name="Text 123"/>
          <p:cNvSpPr txBox="1"/>
          <p:nvPr/>
        </p:nvSpPr>
        <p:spPr>
          <a:xfrm>
            <a:off x="4553712" y="7022592"/>
            <a:ext cx="1911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68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Actualizar PTS con brechas de CdP: maxisacos sobre tubería HDPE, pletinas en acople campana-espiga y vienteros en desacople</a:t>
            </a:r>
            <a:endParaRPr lang="en-US" sz="68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68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Registrar hallazgos en SAP</a:t>
            </a:r>
            <a:endParaRPr lang="en-US" sz="68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68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Informar recurrentes en entrega de turno</a:t>
            </a:r>
            <a:endParaRPr lang="en-US" sz="680" dirty="0"/>
          </a:p>
        </p:txBody>
      </p:sp>
      <p:sp>
        <p:nvSpPr>
          <p:cNvPr id="142" name="Shape 124"/>
          <p:cNvSpPr/>
          <p:nvPr/>
        </p:nvSpPr>
        <p:spPr>
          <a:xfrm>
            <a:off x="6675120" y="6181344"/>
            <a:ext cx="1655064" cy="1682496"/>
          </a:xfrm>
          <a:prstGeom prst="roundRect">
            <a:avLst>
              <a:gd name="adj" fmla="val 3315"/>
            </a:avLst>
          </a:prstGeom>
          <a:solidFill>
            <a:srgbClr val="FDF1F1"/>
          </a:solidFill>
          <a:ln w="12700">
            <a:solidFill>
              <a:srgbClr val="C62828"/>
            </a:solidFill>
            <a:prstDash val="solid"/>
          </a:ln>
        </p:spPr>
      </p:sp>
      <p:sp>
        <p:nvSpPr>
          <p:cNvPr id="143" name="Text 125"/>
          <p:cNvSpPr txBox="1"/>
          <p:nvPr/>
        </p:nvSpPr>
        <p:spPr>
          <a:xfrm>
            <a:off x="6748272" y="6217920"/>
            <a:ext cx="1508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30" b="1" dirty="0">
                <a:solidFill>
                  <a:srgbClr val="C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BRECHAS PRINCIPALES</a:t>
            </a:r>
            <a:endParaRPr lang="en-US" sz="730" dirty="0"/>
          </a:p>
        </p:txBody>
      </p:sp>
      <p:sp>
        <p:nvSpPr>
          <p:cNvPr id="144" name="Text 126"/>
          <p:cNvSpPr txBox="1"/>
          <p:nvPr/>
        </p:nvSpPr>
        <p:spPr>
          <a:xfrm>
            <a:off x="6748272" y="6565392"/>
            <a:ext cx="1527048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68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 de izaje que no corresponde a la maniobra</a:t>
            </a:r>
            <a:endParaRPr lang="en-US" sz="68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68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Izaje sin segregación ni comunicación</a:t>
            </a:r>
            <a:endParaRPr lang="en-US" sz="68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68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Neumáticos y equipos sin inspección pre-uso</a:t>
            </a:r>
            <a:endParaRPr lang="en-US" sz="68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68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Tarjeta Verde en andamios incompletos</a:t>
            </a:r>
            <a:endParaRPr lang="en-US" sz="68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68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Extensiones sin pasacable y acopio deficiente</a:t>
            </a:r>
            <a:endParaRPr lang="en-US" sz="680" dirty="0"/>
          </a:p>
        </p:txBody>
      </p:sp>
      <p:sp>
        <p:nvSpPr>
          <p:cNvPr id="145" name="Shape 127"/>
          <p:cNvSpPr/>
          <p:nvPr/>
        </p:nvSpPr>
        <p:spPr>
          <a:xfrm>
            <a:off x="8421624" y="6181344"/>
            <a:ext cx="1655064" cy="1682496"/>
          </a:xfrm>
          <a:prstGeom prst="roundRect">
            <a:avLst>
              <a:gd name="adj" fmla="val 3315"/>
            </a:avLst>
          </a:prstGeom>
          <a:solidFill>
            <a:srgbClr val="EEF3FA"/>
          </a:solidFill>
          <a:ln w="12700">
            <a:solidFill>
              <a:srgbClr val="1F3D6B"/>
            </a:solidFill>
            <a:prstDash val="solid"/>
          </a:ln>
        </p:spPr>
      </p:sp>
      <p:sp>
        <p:nvSpPr>
          <p:cNvPr id="146" name="Text 128"/>
          <p:cNvSpPr txBox="1"/>
          <p:nvPr/>
        </p:nvSpPr>
        <p:spPr>
          <a:xfrm>
            <a:off x="8494776" y="6217920"/>
            <a:ext cx="1508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3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CONTROLES CRÍTICOS NO NEGOCIABLES</a:t>
            </a:r>
            <a:endParaRPr lang="en-US" sz="730" dirty="0"/>
          </a:p>
        </p:txBody>
      </p:sp>
      <p:sp>
        <p:nvSpPr>
          <p:cNvPr id="147" name="Text 129"/>
          <p:cNvSpPr txBox="1"/>
          <p:nvPr/>
        </p:nvSpPr>
        <p:spPr>
          <a:xfrm>
            <a:off x="8494776" y="6565392"/>
            <a:ext cx="1527048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68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 de izaje específico, vigente y en terreno</a:t>
            </a:r>
            <a:endParaRPr lang="en-US" sz="68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68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Estabilizadores según Gestión del Cambio</a:t>
            </a:r>
            <a:endParaRPr lang="en-US" sz="68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68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Segregación del área de la carga</a:t>
            </a:r>
            <a:endParaRPr lang="en-US" sz="68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68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Inspección pre-uso de vehículos y equipos</a:t>
            </a:r>
            <a:endParaRPr lang="en-US" sz="68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68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Rodapié, peldaños y doble baranda</a:t>
            </a:r>
            <a:endParaRPr lang="en-US" sz="680" dirty="0"/>
          </a:p>
        </p:txBody>
      </p:sp>
      <p:sp>
        <p:nvSpPr>
          <p:cNvPr id="148" name="Shape 130"/>
          <p:cNvSpPr/>
          <p:nvPr/>
        </p:nvSpPr>
        <p:spPr>
          <a:xfrm>
            <a:off x="10168128" y="6181344"/>
            <a:ext cx="1655064" cy="1682496"/>
          </a:xfrm>
          <a:prstGeom prst="roundRect">
            <a:avLst>
              <a:gd name="adj" fmla="val 3315"/>
            </a:avLst>
          </a:prstGeom>
          <a:solidFill>
            <a:srgbClr val="FDF5EC"/>
          </a:solidFill>
          <a:ln w="12700">
            <a:solidFill>
              <a:srgbClr val="B35C00"/>
            </a:solidFill>
            <a:prstDash val="solid"/>
          </a:ln>
        </p:spPr>
      </p:sp>
      <p:sp>
        <p:nvSpPr>
          <p:cNvPr id="149" name="Text 131"/>
          <p:cNvSpPr txBox="1"/>
          <p:nvPr/>
        </p:nvSpPr>
        <p:spPr>
          <a:xfrm>
            <a:off x="10241280" y="6217920"/>
            <a:ext cx="1508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30" b="1" dirty="0">
                <a:solidFill>
                  <a:srgbClr val="B35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DETENER LA TAREA SI…</a:t>
            </a:r>
            <a:endParaRPr lang="en-US" sz="730" dirty="0"/>
          </a:p>
        </p:txBody>
      </p:sp>
      <p:sp>
        <p:nvSpPr>
          <p:cNvPr id="150" name="Text 132"/>
          <p:cNvSpPr txBox="1"/>
          <p:nvPr/>
        </p:nvSpPr>
        <p:spPr>
          <a:xfrm>
            <a:off x="10241280" y="6565392"/>
            <a:ext cx="1527048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68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hay plan de izaje específico</a:t>
            </a:r>
            <a:endParaRPr lang="en-US" sz="68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68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Área de la carga sin segregar o sin radio</a:t>
            </a:r>
            <a:endParaRPr lang="en-US" sz="68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68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Neumático o llanta con daño</a:t>
            </a:r>
            <a:endParaRPr lang="en-US" sz="68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68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Andamio con piezas faltantes</a:t>
            </a:r>
            <a:endParaRPr lang="en-US" sz="68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68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Personal en bordes de zanja al desacoplar</a:t>
            </a:r>
            <a:endParaRPr lang="en-US" sz="680" dirty="0"/>
          </a:p>
        </p:txBody>
      </p:sp>
      <p:sp>
        <p:nvSpPr>
          <p:cNvPr id="151" name="Shape 133"/>
          <p:cNvSpPr/>
          <p:nvPr/>
        </p:nvSpPr>
        <p:spPr>
          <a:xfrm>
            <a:off x="365760" y="7936992"/>
            <a:ext cx="11457432" cy="329184"/>
          </a:xfrm>
          <a:prstGeom prst="rect">
            <a:avLst/>
          </a:prstGeom>
          <a:solidFill>
            <a:srgbClr val="F3F6FA"/>
          </a:solidFill>
          <a:ln w="9525">
            <a:solidFill>
              <a:srgbClr val="C9D3E0"/>
            </a:solidFill>
            <a:prstDash val="solid"/>
          </a:ln>
        </p:spPr>
      </p:sp>
      <p:sp>
        <p:nvSpPr>
          <p:cNvPr id="152" name="Text 134"/>
          <p:cNvSpPr txBox="1"/>
          <p:nvPr/>
        </p:nvSpPr>
        <p:spPr>
          <a:xfrm>
            <a:off x="457200" y="7936992"/>
            <a:ext cx="5852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CIERRE:  </a:t>
            </a:r>
            <a:pPr indent="0" marL="0">
              <a:buNone/>
            </a:pPr>
            <a:r>
              <a:rPr lang="en-US" sz="75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Focos verificados ____ / 6   ·   % cumplimiento ______   ·   Tareas detenidas ____   ·   Hallazgos a SAP ____</a:t>
            </a:r>
            <a:endParaRPr lang="en-US" sz="750" dirty="0"/>
          </a:p>
        </p:txBody>
      </p:sp>
      <p:sp>
        <p:nvSpPr>
          <p:cNvPr id="153" name="Text 135"/>
          <p:cNvSpPr txBox="1"/>
          <p:nvPr/>
        </p:nvSpPr>
        <p:spPr>
          <a:xfrm>
            <a:off x="6400800" y="7936992"/>
            <a:ext cx="5349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Firma Inspector ITO: </a:t>
            </a:r>
            <a:pPr algn="r" indent="0" marL="0">
              <a:buNone/>
            </a:pPr>
            <a:r>
              <a:rPr lang="en-US" sz="75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________________     </a:t>
            </a:r>
            <a:pPr algn="r" indent="0" marL="0">
              <a:buNone/>
            </a:pPr>
            <a:r>
              <a:rPr lang="en-US" sz="75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Firma Supervisor EECC: </a:t>
            </a:r>
            <a:pPr algn="r" indent="0" marL="0">
              <a:buNone/>
            </a:pPr>
            <a:r>
              <a:rPr lang="en-US" sz="75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________________</a:t>
            </a:r>
            <a:endParaRPr lang="en-US" sz="750" dirty="0"/>
          </a:p>
        </p:txBody>
      </p:sp>
      <p:sp>
        <p:nvSpPr>
          <p:cNvPr id="154" name="Shape 136"/>
          <p:cNvSpPr/>
          <p:nvPr/>
        </p:nvSpPr>
        <p:spPr>
          <a:xfrm>
            <a:off x="0" y="8385048"/>
            <a:ext cx="12191695" cy="347472"/>
          </a:xfrm>
          <a:prstGeom prst="rect">
            <a:avLst/>
          </a:prstGeom>
          <a:solidFill>
            <a:srgbClr val="1F3D6B"/>
          </a:solidFill>
          <a:ln w="12700">
            <a:solidFill>
              <a:srgbClr val="1F3D6B"/>
            </a:solidFill>
            <a:prstDash val="solid"/>
          </a:ln>
        </p:spPr>
      </p:sp>
      <p:sp>
        <p:nvSpPr>
          <p:cNvPr id="155" name="Text 137"/>
          <p:cNvSpPr txBox="1"/>
          <p:nvPr/>
        </p:nvSpPr>
        <p:spPr>
          <a:xfrm>
            <a:off x="365760" y="8385048"/>
            <a:ext cx="5029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NUESTRO COMPROMISO: CERO DAÑO A LAS PERSONAS</a:t>
            </a:r>
            <a:endParaRPr lang="en-US" sz="950" dirty="0"/>
          </a:p>
        </p:txBody>
      </p:sp>
      <p:sp>
        <p:nvSpPr>
          <p:cNvPr id="156" name="Text 138"/>
          <p:cNvSpPr txBox="1"/>
          <p:nvPr/>
        </p:nvSpPr>
        <p:spPr>
          <a:xfrm>
            <a:off x="5669280" y="8385048"/>
            <a:ext cx="822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5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▲▲</a:t>
            </a:r>
            <a:endParaRPr lang="en-US" sz="1000" dirty="0"/>
          </a:p>
        </p:txBody>
      </p:sp>
      <p:sp>
        <p:nvSpPr>
          <p:cNvPr id="157" name="Text 139"/>
          <p:cNvSpPr txBox="1"/>
          <p:nvPr/>
        </p:nvSpPr>
        <p:spPr>
          <a:xfrm>
            <a:off x="6766560" y="8385048"/>
            <a:ext cx="50566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SEGURIDAD, SALUD, PERSONAS Y MEDIO AMBIENTE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Assurance Unificado Turnos 1-3 / 2-4</dc:title>
  <dc:subject>PptxGenJS Presentation</dc:subject>
  <dc:creator>PptxGenJS</dc:creator>
  <cp:lastModifiedBy>PptxGenJS</cp:lastModifiedBy>
  <cp:revision>1</cp:revision>
  <dcterms:created xsi:type="dcterms:W3CDTF">2026-09-23T12:09:57Z</dcterms:created>
  <dcterms:modified xsi:type="dcterms:W3CDTF">2026-09-23T12:09:57Z</dcterms:modified>
</cp:coreProperties>
</file>