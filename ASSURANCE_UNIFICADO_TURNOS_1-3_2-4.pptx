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8732520"/>
  <p:notesSz cx="873252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0040"/>
            <a:ext cx="1783080" cy="6949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286000" y="25603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ASSURANCE UNIFICADO · TURNOS 1-3 / 2-4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2286000" y="82296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FOCOS PRIORITARIOS DE VERIFICACIÓN EN TERRENO – ITO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9281160" y="201168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FECHA: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10424160" y="201168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9281160" y="416052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TURNO: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0424160" y="416052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1-3     ☐ 2-4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9281160" y="630936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INSPECTOR ITO: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10424160" y="630936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9281160" y="845820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/ EECC: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0424160" y="845820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9281160" y="1060704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/ SECTOR: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10424160" y="1060704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65760" y="1325880"/>
            <a:ext cx="868680" cy="23774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65760" y="13258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 · CRÍTICO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1307592" y="1325880"/>
            <a:ext cx="868680" cy="23774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307592" y="13258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 · ALTO</a:t>
            </a:r>
            <a:endParaRPr lang="en-US" sz="750" dirty="0"/>
          </a:p>
        </p:txBody>
      </p:sp>
      <p:sp>
        <p:nvSpPr>
          <p:cNvPr id="19" name="Text 16"/>
          <p:cNvSpPr txBox="1"/>
          <p:nvPr/>
        </p:nvSpPr>
        <p:spPr>
          <a:xfrm>
            <a:off x="2286000" y="1325880"/>
            <a:ext cx="9537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Clasificación del evento origen:  </a:t>
            </a:r>
            <a:pPr indent="0" marL="0">
              <a:buNone/>
            </a:pPr>
            <a:r>
              <a:rPr lang="en-US" sz="7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CAAP</a:t>
            </a:r>
            <a:pPr indent="0" marL="0"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cuasi accidente alto potencial  ·  </a:t>
            </a:r>
            <a:pPr indent="0" marL="0">
              <a:buNone/>
            </a:pPr>
            <a:r>
              <a:rPr lang="en-US" sz="7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</a:t>
            </a:r>
            <a:pPr indent="0" marL="0"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hallazgo alto potencial  ·  </a:t>
            </a:r>
            <a:pPr indent="0" marL="0">
              <a:buNone/>
            </a:pPr>
            <a:r>
              <a:rPr lang="en-US" sz="7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CBP</a:t>
            </a:r>
            <a:pPr indent="0" marL="0"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cuasi accidente bajo potencial  ·  </a:t>
            </a:r>
            <a:pPr indent="0" marL="0">
              <a:buNone/>
            </a:pPr>
            <a:r>
              <a:rPr lang="en-US" sz="7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HBP</a:t>
            </a:r>
            <a:pPr indent="0" marL="0"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hallazgo bajo potencial  ·  </a:t>
            </a:r>
            <a:pPr indent="0" marL="0">
              <a:buNone/>
            </a:pPr>
            <a:r>
              <a:rPr lang="en-US" sz="7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[T1-3] / [T2-4]</a:t>
            </a:r>
            <a:pPr indent="0" marL="0"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turno que reportó el evento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365760" y="1673352"/>
            <a:ext cx="1188720" cy="402336"/>
          </a:xfrm>
          <a:prstGeom prst="rect">
            <a:avLst/>
          </a:prstGeom>
          <a:solidFill>
            <a:srgbClr val="1F3D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02336" y="1673352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 / PRIORIDAD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1554480" y="1673352"/>
            <a:ext cx="3337560" cy="402336"/>
          </a:xfrm>
          <a:prstGeom prst="rect">
            <a:avLst/>
          </a:prstGeom>
          <a:solidFill>
            <a:srgbClr val="1F3D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591056" y="1673352"/>
            <a:ext cx="3264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DE ASSURANCE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(INSTRUCCIÓN OPERACIONAL Y CRITERIO DE RESTRICCIÓN)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4892040" y="1673352"/>
            <a:ext cx="2377440" cy="402336"/>
          </a:xfrm>
          <a:prstGeom prst="rect">
            <a:avLst/>
          </a:prstGeom>
          <a:solidFill>
            <a:srgbClr val="1F3D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928616" y="1673352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 / EVIDENCIA ORIGEN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7269480" y="1673352"/>
            <a:ext cx="1600200" cy="402336"/>
          </a:xfrm>
          <a:prstGeom prst="rect">
            <a:avLst/>
          </a:prstGeom>
          <a:solidFill>
            <a:srgbClr val="1F3D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306056" y="1673352"/>
            <a:ext cx="1527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 PREVENTIVA SGE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8869680" y="1673352"/>
            <a:ext cx="1554480" cy="402336"/>
          </a:xfrm>
          <a:prstGeom prst="rect">
            <a:avLst/>
          </a:prstGeom>
          <a:solidFill>
            <a:srgbClr val="1F3D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906256" y="167335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 / REGISTRO ESPERADO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10424160" y="1673352"/>
            <a:ext cx="1399032" cy="402336"/>
          </a:xfrm>
          <a:prstGeom prst="rect">
            <a:avLst/>
          </a:prstGeom>
          <a:solidFill>
            <a:srgbClr val="1F3D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0460736" y="1673352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VERIFICACIÓN EN TERRENO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365760" y="2075688"/>
            <a:ext cx="1188720" cy="914400"/>
          </a:xfrm>
          <a:prstGeom prst="rect">
            <a:avLst/>
          </a:prstGeom>
          <a:solidFill>
            <a:srgbClr val="C62828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554480" y="2075688"/>
            <a:ext cx="33375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892040" y="2075688"/>
            <a:ext cx="23774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269480" y="2075688"/>
            <a:ext cx="16002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869680" y="2075688"/>
            <a:ext cx="1554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0424160" y="2075688"/>
            <a:ext cx="139903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38912" y="2075688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39" name="Text 36"/>
          <p:cNvSpPr txBox="1"/>
          <p:nvPr/>
        </p:nvSpPr>
        <p:spPr>
          <a:xfrm>
            <a:off x="713232" y="2075688"/>
            <a:ext cx="804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 · CRÍTICO</a:t>
            </a:r>
            <a:endParaRPr lang="en-US" sz="10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CAAP</a:t>
            </a:r>
            <a:endParaRPr lang="en-US" sz="100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CUASI ACC. ALTO POT.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1618488" y="2103120"/>
            <a:ext cx="32095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Izaje – plan y metodología. </a:t>
            </a:r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maniobra debe contar con plan de izaje específico y vigente para la carga y el equipo; el rigger lo porta en terreno y el supervisor valida que corresponda antes de autorizar el levante. Camión pluma (Piscinas PLS/ILS – Pilas de Lixiviación): planificación, posicionamiento y estabilización.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de restricción: </a:t>
            </a:r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Estabilizadores desplegados estrictamente según la Gestión del Cambio (configuración excepcional). Sin plan específico no se autoriza el izaje.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4956048" y="2103120"/>
            <a:ext cx="224942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68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[T1-3] CAAP 555505 – PUMA:</a:t>
            </a:r>
            <a:pPr indent="0" marL="0">
              <a:spcAft>
                <a:spcPts val="200"/>
              </a:spcAft>
              <a:buNone/>
            </a:pPr>
            <a:r>
              <a:rPr lang="en-US" sz="6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plan exhibido por el rigger correspondía a descarga de cañería HDPE 12 m y no a la escala modular izada.</a:t>
            </a:r>
            <a:endParaRPr lang="en-US" sz="68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8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[T1-3] HAP 555358 – PUMA:</a:t>
            </a:r>
            <a:pPr indent="0" marL="0">
              <a:spcAft>
                <a:spcPts val="200"/>
              </a:spcAft>
              <a:buNone/>
            </a:pPr>
            <a:r>
              <a:rPr lang="en-US" sz="6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izaje de equipo de electrofusión sin plan específico; se detiene la actividad.</a:t>
            </a:r>
            <a:endParaRPr lang="en-US" sz="680" dirty="0"/>
          </a:p>
        </p:txBody>
      </p:sp>
      <p:pic>
        <p:nvPicPr>
          <p:cNvPr id="4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488" y="2350008"/>
            <a:ext cx="365760" cy="365760"/>
          </a:xfrm>
          <a:prstGeom prst="rect">
            <a:avLst/>
          </a:prstGeom>
        </p:spPr>
      </p:pic>
      <p:sp>
        <p:nvSpPr>
          <p:cNvPr id="43" name="Text 39"/>
          <p:cNvSpPr txBox="1"/>
          <p:nvPr/>
        </p:nvSpPr>
        <p:spPr>
          <a:xfrm>
            <a:off x="7744968" y="2103120"/>
            <a:ext cx="10698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GCC + CdP Maniobras de Izaje + PTS + Apego a Gestión del Cambio + ASP</a:t>
            </a:r>
            <a:endParaRPr lang="en-US" sz="700" dirty="0"/>
          </a:p>
        </p:txBody>
      </p:sp>
      <p:pic>
        <p:nvPicPr>
          <p:cNvPr id="4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3688" y="2368296"/>
            <a:ext cx="329184" cy="329184"/>
          </a:xfrm>
          <a:prstGeom prst="rect">
            <a:avLst/>
          </a:prstGeom>
        </p:spPr>
      </p:pic>
      <p:sp>
        <p:nvSpPr>
          <p:cNvPr id="45" name="Text 40"/>
          <p:cNvSpPr txBox="1"/>
          <p:nvPr/>
        </p:nvSpPr>
        <p:spPr>
          <a:xfrm>
            <a:off x="9308592" y="2103120"/>
            <a:ext cx="10607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izaje con consideraciones de la GC / validación del supervisor / elementos certificados / operador y rigger autorizados / registro fotográfico</a:t>
            </a:r>
            <a:endParaRPr lang="en-US" sz="700" dirty="0"/>
          </a:p>
        </p:txBody>
      </p:sp>
      <p:sp>
        <p:nvSpPr>
          <p:cNvPr id="46" name="Text 41"/>
          <p:cNvSpPr txBox="1"/>
          <p:nvPr/>
        </p:nvSpPr>
        <p:spPr>
          <a:xfrm>
            <a:off x="10515600" y="2121408"/>
            <a:ext cx="1252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Cumple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No cumple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No aplica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Obs.: ____________</a:t>
            </a:r>
            <a:endParaRPr lang="en-US" sz="800" dirty="0"/>
          </a:p>
        </p:txBody>
      </p:sp>
      <p:sp>
        <p:nvSpPr>
          <p:cNvPr id="47" name="Shape 42"/>
          <p:cNvSpPr/>
          <p:nvPr/>
        </p:nvSpPr>
        <p:spPr>
          <a:xfrm>
            <a:off x="365760" y="2990088"/>
            <a:ext cx="1188720" cy="914400"/>
          </a:xfrm>
          <a:prstGeom prst="rect">
            <a:avLst/>
          </a:prstGeom>
          <a:solidFill>
            <a:srgbClr val="C62828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1554480" y="2990088"/>
            <a:ext cx="3337560" cy="914400"/>
          </a:xfrm>
          <a:prstGeom prst="rect">
            <a:avLst/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4892040" y="2990088"/>
            <a:ext cx="2377440" cy="914400"/>
          </a:xfrm>
          <a:prstGeom prst="rect">
            <a:avLst/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7269480" y="2990088"/>
            <a:ext cx="1600200" cy="914400"/>
          </a:xfrm>
          <a:prstGeom prst="rect">
            <a:avLst/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8869680" y="2990088"/>
            <a:ext cx="1554480" cy="914400"/>
          </a:xfrm>
          <a:prstGeom prst="rect">
            <a:avLst/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10424160" y="2990088"/>
            <a:ext cx="1399032" cy="914400"/>
          </a:xfrm>
          <a:prstGeom prst="rect">
            <a:avLst/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53" name="Text 48"/>
          <p:cNvSpPr txBox="1"/>
          <p:nvPr/>
        </p:nvSpPr>
        <p:spPr>
          <a:xfrm>
            <a:off x="438912" y="2990088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54" name="Text 49"/>
          <p:cNvSpPr txBox="1"/>
          <p:nvPr/>
        </p:nvSpPr>
        <p:spPr>
          <a:xfrm>
            <a:off x="713232" y="2990088"/>
            <a:ext cx="804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 · CRÍTICO</a:t>
            </a:r>
            <a:endParaRPr lang="en-US" sz="10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</a:t>
            </a:r>
            <a:endParaRPr lang="en-US" sz="100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HALLAZGO ALTO POT.</a:t>
            </a:r>
            <a:endParaRPr lang="en-US" sz="1000" dirty="0"/>
          </a:p>
        </p:txBody>
      </p:sp>
      <p:sp>
        <p:nvSpPr>
          <p:cNvPr id="55" name="Text 50"/>
          <p:cNvSpPr txBox="1"/>
          <p:nvPr/>
        </p:nvSpPr>
        <p:spPr>
          <a:xfrm>
            <a:off x="1618488" y="3017520"/>
            <a:ext cx="32095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Izaje – área de influencia de la carga. </a:t>
            </a:r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Segregación efectiva y control de acceso antes de izar; comunicación bidireccional con operador y rigger con radio en frecuencia acordada; uso de vientos; personal fuera de bordes de zanja al desacoplar.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de restricción: </a:t>
            </a:r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segregación o sin comunicación no se inicia el izaje. Prohibido desacoplar apoyado al borde de zanja o sobre tubería.</a:t>
            </a:r>
            <a:endParaRPr lang="en-US" sz="700" dirty="0"/>
          </a:p>
        </p:txBody>
      </p:sp>
      <p:sp>
        <p:nvSpPr>
          <p:cNvPr id="56" name="Text 51"/>
          <p:cNvSpPr txBox="1"/>
          <p:nvPr/>
        </p:nvSpPr>
        <p:spPr>
          <a:xfrm>
            <a:off x="4956048" y="3017520"/>
            <a:ext cx="224942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68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[T1-3] HAP 556119 – PUMA:</a:t>
            </a:r>
            <a:pPr indent="0" marL="0">
              <a:spcAft>
                <a:spcPts val="200"/>
              </a:spcAft>
              <a:buNone/>
            </a:pPr>
            <a:r>
              <a:rPr lang="en-US" sz="6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carga de maxisacos con grúa horquilla sin segregación ni comunicación operador–personal.</a:t>
            </a:r>
            <a:endParaRPr lang="en-US" sz="68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8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[T1-3 / T2-4] CBP 554227 – PUMA:</a:t>
            </a:r>
            <a:pPr indent="0" marL="0">
              <a:spcAft>
                <a:spcPts val="200"/>
              </a:spcAft>
              <a:buNone/>
            </a:pPr>
            <a:r>
              <a:rPr lang="en-US" sz="6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trabajador retira eslinga con un pie al borde de zanja y otro sobre tubería corrugada Ø1.200 mm.</a:t>
            </a:r>
            <a:endParaRPr lang="en-US" sz="68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8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[T1-3] HBP 554488:</a:t>
            </a:r>
            <a:pPr indent="0" marL="0">
              <a:spcAft>
                <a:spcPts val="200"/>
              </a:spcAft>
              <a:buNone/>
            </a:pPr>
            <a:r>
              <a:rPr lang="en-US" sz="6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falta de vienteros.</a:t>
            </a:r>
            <a:endParaRPr lang="en-US" sz="680" dirty="0"/>
          </a:p>
        </p:txBody>
      </p:sp>
      <p:pic>
        <p:nvPicPr>
          <p:cNvPr id="5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3488" y="3264408"/>
            <a:ext cx="365760" cy="365760"/>
          </a:xfrm>
          <a:prstGeom prst="rect">
            <a:avLst/>
          </a:prstGeom>
        </p:spPr>
      </p:pic>
      <p:sp>
        <p:nvSpPr>
          <p:cNvPr id="58" name="Text 52"/>
          <p:cNvSpPr txBox="1"/>
          <p:nvPr/>
        </p:nvSpPr>
        <p:spPr>
          <a:xfrm>
            <a:off x="7744968" y="3017520"/>
            <a:ext cx="10698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GCC + CdP Maniobras de Izaje + Desafío en Terreno + ASP</a:t>
            </a:r>
            <a:endParaRPr lang="en-US" sz="700" dirty="0"/>
          </a:p>
        </p:txBody>
      </p:sp>
      <p:pic>
        <p:nvPicPr>
          <p:cNvPr id="5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3688" y="3282696"/>
            <a:ext cx="329184" cy="329184"/>
          </a:xfrm>
          <a:prstGeom prst="rect">
            <a:avLst/>
          </a:prstGeom>
        </p:spPr>
      </p:pic>
      <p:sp>
        <p:nvSpPr>
          <p:cNvPr id="60" name="Text 53"/>
          <p:cNvSpPr txBox="1"/>
          <p:nvPr/>
        </p:nvSpPr>
        <p:spPr>
          <a:xfrm>
            <a:off x="9308592" y="3017520"/>
            <a:ext cx="10607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segregada / radio operativa en operador y rigger / vientos en uso / registro fotográfico</a:t>
            </a:r>
            <a:endParaRPr lang="en-US" sz="700" dirty="0"/>
          </a:p>
        </p:txBody>
      </p:sp>
      <p:sp>
        <p:nvSpPr>
          <p:cNvPr id="61" name="Text 54"/>
          <p:cNvSpPr txBox="1"/>
          <p:nvPr/>
        </p:nvSpPr>
        <p:spPr>
          <a:xfrm>
            <a:off x="10515600" y="3035808"/>
            <a:ext cx="1252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Cumple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No cumple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No aplica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Obs.: ____________</a:t>
            </a:r>
            <a:endParaRPr lang="en-US" sz="800" dirty="0"/>
          </a:p>
        </p:txBody>
      </p:sp>
      <p:sp>
        <p:nvSpPr>
          <p:cNvPr id="62" name="Shape 55"/>
          <p:cNvSpPr/>
          <p:nvPr/>
        </p:nvSpPr>
        <p:spPr>
          <a:xfrm>
            <a:off x="365760" y="3904488"/>
            <a:ext cx="1188720" cy="914400"/>
          </a:xfrm>
          <a:prstGeom prst="rect">
            <a:avLst/>
          </a:prstGeom>
          <a:solidFill>
            <a:srgbClr val="C62828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3" name="Shape 56"/>
          <p:cNvSpPr/>
          <p:nvPr/>
        </p:nvSpPr>
        <p:spPr>
          <a:xfrm>
            <a:off x="1554480" y="3904488"/>
            <a:ext cx="33375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4" name="Shape 57"/>
          <p:cNvSpPr/>
          <p:nvPr/>
        </p:nvSpPr>
        <p:spPr>
          <a:xfrm>
            <a:off x="4892040" y="3904488"/>
            <a:ext cx="23774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5" name="Shape 58"/>
          <p:cNvSpPr/>
          <p:nvPr/>
        </p:nvSpPr>
        <p:spPr>
          <a:xfrm>
            <a:off x="7269480" y="3904488"/>
            <a:ext cx="16002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6" name="Shape 59"/>
          <p:cNvSpPr/>
          <p:nvPr/>
        </p:nvSpPr>
        <p:spPr>
          <a:xfrm>
            <a:off x="8869680" y="3904488"/>
            <a:ext cx="1554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7" name="Shape 60"/>
          <p:cNvSpPr/>
          <p:nvPr/>
        </p:nvSpPr>
        <p:spPr>
          <a:xfrm>
            <a:off x="10424160" y="3904488"/>
            <a:ext cx="139903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8" name="Text 61"/>
          <p:cNvSpPr txBox="1"/>
          <p:nvPr/>
        </p:nvSpPr>
        <p:spPr>
          <a:xfrm>
            <a:off x="438912" y="3904488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69" name="Text 62"/>
          <p:cNvSpPr txBox="1"/>
          <p:nvPr/>
        </p:nvSpPr>
        <p:spPr>
          <a:xfrm>
            <a:off x="713232" y="3904488"/>
            <a:ext cx="804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 · CRÍTICO</a:t>
            </a:r>
            <a:endParaRPr lang="en-US" sz="10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</a:t>
            </a:r>
            <a:endParaRPr lang="en-US" sz="100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HALLAZGO ALTO POT.</a:t>
            </a:r>
            <a:endParaRPr lang="en-US" sz="1000" dirty="0"/>
          </a:p>
        </p:txBody>
      </p:sp>
      <p:sp>
        <p:nvSpPr>
          <p:cNvPr id="70" name="Text 63"/>
          <p:cNvSpPr txBox="1"/>
          <p:nvPr/>
        </p:nvSpPr>
        <p:spPr>
          <a:xfrm>
            <a:off x="1618488" y="3931920"/>
            <a:ext cx="32095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Vehículos y equipos – inspección pre-uso. </a:t>
            </a:r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la jornada: conjunto neumático-llanta sin cortes, abultamientos, deformaciones en flancos, desgaste fuera de norma ni impactos en la llanta; elementos críticos sin daño; check list del turno completo con horómetro; letrero de supervisor con frecuencia radial y plan de tránsito firmado por el relator.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de restricción: </a:t>
            </a:r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 cualquier anomalía se prohíbe el tránsito: inmovilización inmediata hasta evaluación y reparación por especialista.</a:t>
            </a:r>
            <a:endParaRPr lang="en-US" sz="700" dirty="0"/>
          </a:p>
        </p:txBody>
      </p:sp>
      <p:sp>
        <p:nvSpPr>
          <p:cNvPr id="71" name="Text 64"/>
          <p:cNvSpPr txBox="1"/>
          <p:nvPr/>
        </p:nvSpPr>
        <p:spPr>
          <a:xfrm>
            <a:off x="4956048" y="3931920"/>
            <a:ext cx="224942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68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[T1-3 / T2-4] HAP 553767 – JEJ:</a:t>
            </a:r>
            <a:pPr indent="0" marL="0">
              <a:spcAft>
                <a:spcPts val="200"/>
              </a:spcAft>
              <a:buNone/>
            </a:pPr>
            <a:r>
              <a:rPr lang="en-US" sz="6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camioneta con neumático dañado ("llantazo") y daño lateral, detectado antes del uso.</a:t>
            </a:r>
            <a:endParaRPr lang="en-US" sz="68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8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[T1-3] HBP 554865 – PUMA:</a:t>
            </a:r>
            <a:pPr indent="0" marL="0">
              <a:spcAft>
                <a:spcPts val="200"/>
              </a:spcAft>
              <a:buNone/>
            </a:pPr>
            <a:r>
              <a:rPr lang="en-US" sz="6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camión pluma TW PT-21 sin letrero de supervisor y plan de tránsito sin firma.</a:t>
            </a:r>
            <a:endParaRPr lang="en-US" sz="68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8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[T1-3] HBP 554110 / 556748:</a:t>
            </a:r>
            <a:pPr indent="0" marL="0">
              <a:spcAft>
                <a:spcPts val="200"/>
              </a:spcAft>
              <a:buNone/>
            </a:pPr>
            <a:r>
              <a:rPr lang="en-US" sz="6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generadores sin horómetro ni responsable.</a:t>
            </a:r>
            <a:endParaRPr lang="en-US" sz="680" dirty="0"/>
          </a:p>
        </p:txBody>
      </p:sp>
      <p:pic>
        <p:nvPicPr>
          <p:cNvPr id="7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3488" y="4178808"/>
            <a:ext cx="365760" cy="365760"/>
          </a:xfrm>
          <a:prstGeom prst="rect">
            <a:avLst/>
          </a:prstGeom>
        </p:spPr>
      </p:pic>
      <p:sp>
        <p:nvSpPr>
          <p:cNvPr id="73" name="Text 65"/>
          <p:cNvSpPr txBox="1"/>
          <p:nvPr/>
        </p:nvSpPr>
        <p:spPr>
          <a:xfrm>
            <a:off x="7744968" y="3931920"/>
            <a:ext cx="10698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GCC + CdP Operación de Vehículos Livianos + EdC Vehículo Liviano + Inspección de Equipos + ASP</a:t>
            </a:r>
            <a:endParaRPr lang="en-US" sz="700" dirty="0"/>
          </a:p>
        </p:txBody>
      </p:sp>
      <p:pic>
        <p:nvPicPr>
          <p:cNvPr id="7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33688" y="4197096"/>
            <a:ext cx="329184" cy="329184"/>
          </a:xfrm>
          <a:prstGeom prst="rect">
            <a:avLst/>
          </a:prstGeom>
        </p:spPr>
      </p:pic>
      <p:sp>
        <p:nvSpPr>
          <p:cNvPr id="75" name="Text 66"/>
          <p:cNvSpPr txBox="1"/>
          <p:nvPr/>
        </p:nvSpPr>
        <p:spPr>
          <a:xfrm>
            <a:off x="9308592" y="3931920"/>
            <a:ext cx="10607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list pre-operacional efectivo del turno / ARTP / letrero y plan de tránsito firmados / registro fotográfico</a:t>
            </a:r>
            <a:endParaRPr lang="en-US" sz="700" dirty="0"/>
          </a:p>
        </p:txBody>
      </p:sp>
      <p:sp>
        <p:nvSpPr>
          <p:cNvPr id="76" name="Text 67"/>
          <p:cNvSpPr txBox="1"/>
          <p:nvPr/>
        </p:nvSpPr>
        <p:spPr>
          <a:xfrm>
            <a:off x="10515600" y="3950208"/>
            <a:ext cx="1252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Cumple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No cumple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No aplica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Obs.: ____________</a:t>
            </a:r>
            <a:endParaRPr lang="en-US" sz="800" dirty="0"/>
          </a:p>
        </p:txBody>
      </p:sp>
      <p:sp>
        <p:nvSpPr>
          <p:cNvPr id="77" name="Shape 68"/>
          <p:cNvSpPr/>
          <p:nvPr/>
        </p:nvSpPr>
        <p:spPr>
          <a:xfrm>
            <a:off x="365760" y="4818888"/>
            <a:ext cx="1188720" cy="914400"/>
          </a:xfrm>
          <a:prstGeom prst="rect">
            <a:avLst/>
          </a:prstGeom>
          <a:solidFill>
            <a:srgbClr val="C62828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78" name="Shape 69"/>
          <p:cNvSpPr/>
          <p:nvPr/>
        </p:nvSpPr>
        <p:spPr>
          <a:xfrm>
            <a:off x="1554480" y="4818888"/>
            <a:ext cx="3337560" cy="914400"/>
          </a:xfrm>
          <a:prstGeom prst="rect">
            <a:avLst/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79" name="Shape 70"/>
          <p:cNvSpPr/>
          <p:nvPr/>
        </p:nvSpPr>
        <p:spPr>
          <a:xfrm>
            <a:off x="4892040" y="4818888"/>
            <a:ext cx="2377440" cy="914400"/>
          </a:xfrm>
          <a:prstGeom prst="rect">
            <a:avLst/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80" name="Shape 71"/>
          <p:cNvSpPr/>
          <p:nvPr/>
        </p:nvSpPr>
        <p:spPr>
          <a:xfrm>
            <a:off x="7269480" y="4818888"/>
            <a:ext cx="1600200" cy="914400"/>
          </a:xfrm>
          <a:prstGeom prst="rect">
            <a:avLst/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81" name="Shape 72"/>
          <p:cNvSpPr/>
          <p:nvPr/>
        </p:nvSpPr>
        <p:spPr>
          <a:xfrm>
            <a:off x="8869680" y="4818888"/>
            <a:ext cx="1554480" cy="914400"/>
          </a:xfrm>
          <a:prstGeom prst="rect">
            <a:avLst/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82" name="Shape 73"/>
          <p:cNvSpPr/>
          <p:nvPr/>
        </p:nvSpPr>
        <p:spPr>
          <a:xfrm>
            <a:off x="10424160" y="4818888"/>
            <a:ext cx="1399032" cy="914400"/>
          </a:xfrm>
          <a:prstGeom prst="rect">
            <a:avLst/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83" name="Text 74"/>
          <p:cNvSpPr txBox="1"/>
          <p:nvPr/>
        </p:nvSpPr>
        <p:spPr>
          <a:xfrm>
            <a:off x="438912" y="4818888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84" name="Text 75"/>
          <p:cNvSpPr txBox="1"/>
          <p:nvPr/>
        </p:nvSpPr>
        <p:spPr>
          <a:xfrm>
            <a:off x="713232" y="4818888"/>
            <a:ext cx="804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 · CRÍTICO</a:t>
            </a:r>
            <a:endParaRPr lang="en-US" sz="10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CBP</a:t>
            </a:r>
            <a:endParaRPr lang="en-US" sz="100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CUASI ACC. BAJO POT.</a:t>
            </a:r>
            <a:endParaRPr lang="en-US" sz="1000" dirty="0"/>
          </a:p>
        </p:txBody>
      </p:sp>
      <p:sp>
        <p:nvSpPr>
          <p:cNvPr id="85" name="Text 76"/>
          <p:cNvSpPr txBox="1"/>
          <p:nvPr/>
        </p:nvSpPr>
        <p:spPr>
          <a:xfrm>
            <a:off x="1618488" y="4846320"/>
            <a:ext cx="32095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Andamios y plataformas – liberación estricta. </a:t>
            </a:r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que el 100% de los componentes esté completo, certificado y montado según estándar antes de la Tarjeta Verde: rodapié y peldaños, doble baranda en vanos y bordes, superficie libre de material acopiado. Control de acceso y protección contra caídas a distinto nivel.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de restricción: </a:t>
            </a:r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Prohibido emitir Tarjeta Verde o usar el andamio con piezas faltantes; la tarjeta debe ser coherente con la condición real.</a:t>
            </a:r>
            <a:endParaRPr lang="en-US" sz="700" dirty="0"/>
          </a:p>
        </p:txBody>
      </p:sp>
      <p:sp>
        <p:nvSpPr>
          <p:cNvPr id="86" name="Text 77"/>
          <p:cNvSpPr txBox="1"/>
          <p:nvPr/>
        </p:nvSpPr>
        <p:spPr>
          <a:xfrm>
            <a:off x="4956048" y="4846320"/>
            <a:ext cx="224942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68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[T1-3 / T2-4] CBP 554901 – PUMA:</a:t>
            </a:r>
            <a:pPr indent="0" marL="0">
              <a:spcAft>
                <a:spcPts val="200"/>
              </a:spcAft>
              <a:buNone/>
            </a:pPr>
            <a:r>
              <a:rPr lang="en-US" sz="6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andamio en canaletas lado Oeste con tarjeta verde vigente, sin rodapié ni peldaños en la plataforma.</a:t>
            </a:r>
            <a:endParaRPr lang="en-US" sz="68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8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[T1-3] HBP 554468 – COX:</a:t>
            </a:r>
            <a:pPr indent="0" marL="0">
              <a:spcAft>
                <a:spcPts val="200"/>
              </a:spcAft>
              <a:buNone/>
            </a:pPr>
            <a:r>
              <a:rPr lang="en-US" sz="6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material mal acopiado sobre plataforma de andamio a 70 cm, riesgo de caída a distinto nivel.</a:t>
            </a:r>
            <a:endParaRPr lang="en-US" sz="680" dirty="0"/>
          </a:p>
        </p:txBody>
      </p:sp>
      <p:pic>
        <p:nvPicPr>
          <p:cNvPr id="8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3488" y="5093208"/>
            <a:ext cx="365760" cy="365760"/>
          </a:xfrm>
          <a:prstGeom prst="rect">
            <a:avLst/>
          </a:prstGeom>
        </p:spPr>
      </p:pic>
      <p:sp>
        <p:nvSpPr>
          <p:cNvPr id="88" name="Text 78"/>
          <p:cNvSpPr txBox="1"/>
          <p:nvPr/>
        </p:nvSpPr>
        <p:spPr>
          <a:xfrm>
            <a:off x="7744968" y="4846320"/>
            <a:ext cx="10698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GCC + CdP Trabajos en Altura + Inspección de Plataformas de Andamios + ASP (Antes, o Durante si se reinstala)</a:t>
            </a:r>
            <a:endParaRPr lang="en-US" sz="700" dirty="0"/>
          </a:p>
        </p:txBody>
      </p:sp>
      <p:pic>
        <p:nvPicPr>
          <p:cNvPr id="8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33688" y="5111496"/>
            <a:ext cx="329184" cy="329184"/>
          </a:xfrm>
          <a:prstGeom prst="rect">
            <a:avLst/>
          </a:prstGeom>
        </p:spPr>
      </p:pic>
      <p:sp>
        <p:nvSpPr>
          <p:cNvPr id="90" name="Text 79"/>
          <p:cNvSpPr txBox="1"/>
          <p:nvPr/>
        </p:nvSpPr>
        <p:spPr>
          <a:xfrm>
            <a:off x="9308592" y="4846320"/>
            <a:ext cx="10607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Rodapié, peldaños y doble baranda instalados / tarjeta coherente con la condición real / registro fotográfico</a:t>
            </a:r>
            <a:endParaRPr lang="en-US" sz="700" dirty="0"/>
          </a:p>
        </p:txBody>
      </p:sp>
      <p:sp>
        <p:nvSpPr>
          <p:cNvPr id="91" name="Text 80"/>
          <p:cNvSpPr txBox="1"/>
          <p:nvPr/>
        </p:nvSpPr>
        <p:spPr>
          <a:xfrm>
            <a:off x="10515600" y="4864608"/>
            <a:ext cx="1252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Cumple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No cumple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No aplica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Obs.: ____________</a:t>
            </a:r>
            <a:endParaRPr lang="en-US" sz="800" dirty="0"/>
          </a:p>
        </p:txBody>
      </p:sp>
      <p:sp>
        <p:nvSpPr>
          <p:cNvPr id="92" name="Shape 81"/>
          <p:cNvSpPr/>
          <p:nvPr/>
        </p:nvSpPr>
        <p:spPr>
          <a:xfrm>
            <a:off x="365760" y="5733288"/>
            <a:ext cx="1188720" cy="914400"/>
          </a:xfrm>
          <a:prstGeom prst="rect">
            <a:avLst/>
          </a:prstGeom>
          <a:solidFill>
            <a:srgbClr val="E67E22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93" name="Shape 82"/>
          <p:cNvSpPr/>
          <p:nvPr/>
        </p:nvSpPr>
        <p:spPr>
          <a:xfrm>
            <a:off x="1554480" y="5733288"/>
            <a:ext cx="33375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94" name="Shape 83"/>
          <p:cNvSpPr/>
          <p:nvPr/>
        </p:nvSpPr>
        <p:spPr>
          <a:xfrm>
            <a:off x="4892040" y="5733288"/>
            <a:ext cx="23774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95" name="Shape 84"/>
          <p:cNvSpPr/>
          <p:nvPr/>
        </p:nvSpPr>
        <p:spPr>
          <a:xfrm>
            <a:off x="7269480" y="5733288"/>
            <a:ext cx="16002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96" name="Shape 85"/>
          <p:cNvSpPr/>
          <p:nvPr/>
        </p:nvSpPr>
        <p:spPr>
          <a:xfrm>
            <a:off x="8869680" y="5733288"/>
            <a:ext cx="1554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97" name="Shape 86"/>
          <p:cNvSpPr/>
          <p:nvPr/>
        </p:nvSpPr>
        <p:spPr>
          <a:xfrm>
            <a:off x="10424160" y="5733288"/>
            <a:ext cx="139903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98" name="Text 87"/>
          <p:cNvSpPr txBox="1"/>
          <p:nvPr/>
        </p:nvSpPr>
        <p:spPr>
          <a:xfrm>
            <a:off x="438912" y="5733288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99" name="Text 88"/>
          <p:cNvSpPr txBox="1"/>
          <p:nvPr/>
        </p:nvSpPr>
        <p:spPr>
          <a:xfrm>
            <a:off x="713232" y="5733288"/>
            <a:ext cx="804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 · ALTO</a:t>
            </a:r>
            <a:endParaRPr lang="en-US" sz="10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HBP</a:t>
            </a:r>
            <a:endParaRPr lang="en-US" sz="100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HALLAZGO BAJO POT.</a:t>
            </a:r>
            <a:endParaRPr lang="en-US" sz="1000" dirty="0"/>
          </a:p>
        </p:txBody>
      </p:sp>
      <p:sp>
        <p:nvSpPr>
          <p:cNvPr id="100" name="Text 89"/>
          <p:cNvSpPr txBox="1"/>
          <p:nvPr/>
        </p:nvSpPr>
        <p:spPr>
          <a:xfrm>
            <a:off x="1618488" y="5760720"/>
            <a:ext cx="32095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Extensiones eléctricas. </a:t>
            </a:r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la integridad antes y durante el uso: aislamiento continuo, conectores e hilado sin fisuras y protección diferencial en el origen. Tendido elevado o canalizado, con pasacables.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B3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de restricción: </a:t>
            </a:r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Prohibido el contacto con estructuras metálicas, zonas de tránsito o aristas filosas (roce, aplastamiento o pérdida de aislamiento).</a:t>
            </a:r>
            <a:endParaRPr lang="en-US" sz="700" dirty="0"/>
          </a:p>
        </p:txBody>
      </p:sp>
      <p:sp>
        <p:nvSpPr>
          <p:cNvPr id="101" name="Text 90"/>
          <p:cNvSpPr txBox="1"/>
          <p:nvPr/>
        </p:nvSpPr>
        <p:spPr>
          <a:xfrm>
            <a:off x="4956048" y="5760720"/>
            <a:ext cx="224942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68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[T2-4] HBP 554473 – COX:</a:t>
            </a:r>
            <a:pPr indent="0" marL="0">
              <a:spcAft>
                <a:spcPts val="200"/>
              </a:spcAft>
              <a:buNone/>
            </a:pPr>
            <a:r>
              <a:rPr lang="en-US" sz="6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extensión eléctrica en contacto directo con estructura metálica de andamio, sin pasacables.</a:t>
            </a:r>
            <a:endParaRPr lang="en-US" sz="68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8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[T1-3] 3 eventos HBP:</a:t>
            </a:r>
            <a:pPr indent="0" marL="0">
              <a:spcAft>
                <a:spcPts val="200"/>
              </a:spcAft>
              <a:buNone/>
            </a:pPr>
            <a:r>
              <a:rPr lang="en-US" sz="6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extensiones sin pasacable, en contacto con estructura o tendidas en piso.</a:t>
            </a:r>
            <a:endParaRPr lang="en-US" sz="680" dirty="0"/>
          </a:p>
        </p:txBody>
      </p:sp>
      <p:pic>
        <p:nvPicPr>
          <p:cNvPr id="10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3488" y="6007608"/>
            <a:ext cx="365760" cy="365760"/>
          </a:xfrm>
          <a:prstGeom prst="rect">
            <a:avLst/>
          </a:prstGeom>
        </p:spPr>
      </p:pic>
      <p:sp>
        <p:nvSpPr>
          <p:cNvPr id="103" name="Text 91"/>
          <p:cNvSpPr txBox="1"/>
          <p:nvPr/>
        </p:nvSpPr>
        <p:spPr>
          <a:xfrm>
            <a:off x="7744968" y="5760720"/>
            <a:ext cx="10698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Inspección + Acompañamiento ASP</a:t>
            </a:r>
            <a:endParaRPr lang="en-US" sz="700" dirty="0"/>
          </a:p>
        </p:txBody>
      </p:sp>
      <p:pic>
        <p:nvPicPr>
          <p:cNvPr id="10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33688" y="6025896"/>
            <a:ext cx="329184" cy="329184"/>
          </a:xfrm>
          <a:prstGeom prst="rect">
            <a:avLst/>
          </a:prstGeom>
        </p:spPr>
      </p:pic>
      <p:sp>
        <p:nvSpPr>
          <p:cNvPr id="105" name="Text 92"/>
          <p:cNvSpPr txBox="1"/>
          <p:nvPr/>
        </p:nvSpPr>
        <p:spPr>
          <a:xfrm>
            <a:off x="9308592" y="5760720"/>
            <a:ext cx="10607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de inspección / QR acompañamiento ASP / registro fotográfico</a:t>
            </a:r>
            <a:endParaRPr lang="en-US" sz="700" dirty="0"/>
          </a:p>
        </p:txBody>
      </p:sp>
      <p:sp>
        <p:nvSpPr>
          <p:cNvPr id="106" name="Text 93"/>
          <p:cNvSpPr txBox="1"/>
          <p:nvPr/>
        </p:nvSpPr>
        <p:spPr>
          <a:xfrm>
            <a:off x="10515600" y="5779008"/>
            <a:ext cx="1252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Cumple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No cumple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No aplica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Obs.: ____________</a:t>
            </a:r>
            <a:endParaRPr lang="en-US" sz="800" dirty="0"/>
          </a:p>
        </p:txBody>
      </p:sp>
      <p:sp>
        <p:nvSpPr>
          <p:cNvPr id="107" name="Shape 94"/>
          <p:cNvSpPr/>
          <p:nvPr/>
        </p:nvSpPr>
        <p:spPr>
          <a:xfrm>
            <a:off x="365760" y="6647688"/>
            <a:ext cx="1188720" cy="914400"/>
          </a:xfrm>
          <a:prstGeom prst="rect">
            <a:avLst/>
          </a:prstGeom>
          <a:solidFill>
            <a:srgbClr val="E67E22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08" name="Shape 95"/>
          <p:cNvSpPr/>
          <p:nvPr/>
        </p:nvSpPr>
        <p:spPr>
          <a:xfrm>
            <a:off x="1554480" y="6647688"/>
            <a:ext cx="3337560" cy="914400"/>
          </a:xfrm>
          <a:prstGeom prst="rect">
            <a:avLst/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09" name="Shape 96"/>
          <p:cNvSpPr/>
          <p:nvPr/>
        </p:nvSpPr>
        <p:spPr>
          <a:xfrm>
            <a:off x="4892040" y="6647688"/>
            <a:ext cx="2377440" cy="914400"/>
          </a:xfrm>
          <a:prstGeom prst="rect">
            <a:avLst/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10" name="Shape 97"/>
          <p:cNvSpPr/>
          <p:nvPr/>
        </p:nvSpPr>
        <p:spPr>
          <a:xfrm>
            <a:off x="7269480" y="6647688"/>
            <a:ext cx="1600200" cy="914400"/>
          </a:xfrm>
          <a:prstGeom prst="rect">
            <a:avLst/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11" name="Shape 98"/>
          <p:cNvSpPr/>
          <p:nvPr/>
        </p:nvSpPr>
        <p:spPr>
          <a:xfrm>
            <a:off x="8869680" y="6647688"/>
            <a:ext cx="1554480" cy="914400"/>
          </a:xfrm>
          <a:prstGeom prst="rect">
            <a:avLst/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12" name="Shape 99"/>
          <p:cNvSpPr/>
          <p:nvPr/>
        </p:nvSpPr>
        <p:spPr>
          <a:xfrm>
            <a:off x="10424160" y="6647688"/>
            <a:ext cx="1399032" cy="914400"/>
          </a:xfrm>
          <a:prstGeom prst="rect">
            <a:avLst/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13" name="Text 100"/>
          <p:cNvSpPr txBox="1"/>
          <p:nvPr/>
        </p:nvSpPr>
        <p:spPr>
          <a:xfrm>
            <a:off x="438912" y="6647688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114" name="Text 101"/>
          <p:cNvSpPr txBox="1"/>
          <p:nvPr/>
        </p:nvSpPr>
        <p:spPr>
          <a:xfrm>
            <a:off x="713232" y="6647688"/>
            <a:ext cx="804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 · ALTO</a:t>
            </a:r>
            <a:endParaRPr lang="en-US" sz="10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HBP</a:t>
            </a:r>
            <a:endParaRPr lang="en-US" sz="100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RECURRENTE</a:t>
            </a:r>
            <a:endParaRPr lang="en-US" sz="1000" dirty="0"/>
          </a:p>
        </p:txBody>
      </p:sp>
      <p:sp>
        <p:nvSpPr>
          <p:cNvPr id="115" name="Text 102"/>
          <p:cNvSpPr txBox="1"/>
          <p:nvPr/>
        </p:nvSpPr>
        <p:spPr>
          <a:xfrm>
            <a:off x="1618488" y="6675120"/>
            <a:ext cx="32095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Orden, aseo y acopio (tendencia recurrente). </a:t>
            </a:r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Materiales segregados y acopiados solo en zonas habilitadas; piezas y herramientas de andamio fuera del nivel de piso; vías de tránsito despejadas. Refuerzo transversal en todos los recorridos y al cierre de cada tarea.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B3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de restricción: </a:t>
            </a:r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da por cerrada la tarea ni se entrega el área sin orden y aseo verificados.</a:t>
            </a:r>
            <a:endParaRPr lang="en-US" sz="700" dirty="0"/>
          </a:p>
        </p:txBody>
      </p:sp>
      <p:sp>
        <p:nvSpPr>
          <p:cNvPr id="116" name="Text 103"/>
          <p:cNvSpPr txBox="1"/>
          <p:nvPr/>
        </p:nvSpPr>
        <p:spPr>
          <a:xfrm>
            <a:off x="4956048" y="6675120"/>
            <a:ext cx="224942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68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[T2-4] 8 eventos HBP:</a:t>
            </a:r>
            <a:pPr indent="0" marL="0">
              <a:spcAft>
                <a:spcPts val="200"/>
              </a:spcAft>
              <a:buNone/>
            </a:pPr>
            <a:r>
              <a:rPr lang="en-US" sz="6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materiales sin segregar y piezas/herramientas de andamio a nivel de piso.</a:t>
            </a:r>
            <a:endParaRPr lang="en-US" sz="68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8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[T1-3] 4 eventos HBP:</a:t>
            </a:r>
            <a:pPr indent="0" marL="0">
              <a:spcAft>
                <a:spcPts val="200"/>
              </a:spcAft>
              <a:buNone/>
            </a:pPr>
            <a:r>
              <a:rPr lang="en-US" sz="6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acopio de material y housekeeping deficiente.</a:t>
            </a:r>
            <a:endParaRPr lang="en-US" sz="680" dirty="0"/>
          </a:p>
        </p:txBody>
      </p:sp>
      <p:pic>
        <p:nvPicPr>
          <p:cNvPr id="11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33488" y="6922008"/>
            <a:ext cx="365760" cy="365760"/>
          </a:xfrm>
          <a:prstGeom prst="rect">
            <a:avLst/>
          </a:prstGeom>
        </p:spPr>
      </p:pic>
      <p:sp>
        <p:nvSpPr>
          <p:cNvPr id="118" name="Text 104"/>
          <p:cNvSpPr txBox="1"/>
          <p:nvPr/>
        </p:nvSpPr>
        <p:spPr>
          <a:xfrm>
            <a:off x="7744968" y="6675120"/>
            <a:ext cx="10698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Recorrido de inspección + ASP al cierre de tarea</a:t>
            </a:r>
            <a:endParaRPr lang="en-US" sz="700" dirty="0"/>
          </a:p>
        </p:txBody>
      </p:sp>
      <p:pic>
        <p:nvPicPr>
          <p:cNvPr id="11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33688" y="6940296"/>
            <a:ext cx="329184" cy="329184"/>
          </a:xfrm>
          <a:prstGeom prst="rect">
            <a:avLst/>
          </a:prstGeom>
        </p:spPr>
      </p:pic>
      <p:sp>
        <p:nvSpPr>
          <p:cNvPr id="120" name="Text 105"/>
          <p:cNvSpPr txBox="1"/>
          <p:nvPr/>
        </p:nvSpPr>
        <p:spPr>
          <a:xfrm>
            <a:off x="9308592" y="6675120"/>
            <a:ext cx="10607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fotográfico antes / después / área entregada ordenada y limpia</a:t>
            </a:r>
            <a:endParaRPr lang="en-US" sz="700" dirty="0"/>
          </a:p>
        </p:txBody>
      </p:sp>
      <p:sp>
        <p:nvSpPr>
          <p:cNvPr id="121" name="Text 106"/>
          <p:cNvSpPr txBox="1"/>
          <p:nvPr/>
        </p:nvSpPr>
        <p:spPr>
          <a:xfrm>
            <a:off x="10515600" y="6693408"/>
            <a:ext cx="1252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Cumple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No cumple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No aplica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Obs.: ____________</a:t>
            </a:r>
            <a:endParaRPr lang="en-US" sz="800" dirty="0"/>
          </a:p>
        </p:txBody>
      </p:sp>
      <p:sp>
        <p:nvSpPr>
          <p:cNvPr id="122" name="Shape 107"/>
          <p:cNvSpPr/>
          <p:nvPr/>
        </p:nvSpPr>
        <p:spPr>
          <a:xfrm>
            <a:off x="365760" y="7653528"/>
            <a:ext cx="1188720" cy="530352"/>
          </a:xfrm>
          <a:prstGeom prst="rect">
            <a:avLst/>
          </a:prstGeom>
          <a:solidFill>
            <a:srgbClr val="155A63"/>
          </a:solidFill>
          <a:ln w="12700">
            <a:solidFill>
              <a:srgbClr val="155A63"/>
            </a:solidFill>
            <a:prstDash val="solid"/>
          </a:ln>
        </p:spPr>
      </p:sp>
      <p:sp>
        <p:nvSpPr>
          <p:cNvPr id="123" name="Text 108"/>
          <p:cNvSpPr txBox="1"/>
          <p:nvPr/>
        </p:nvSpPr>
        <p:spPr>
          <a:xfrm>
            <a:off x="365760" y="7653528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RECURRENTE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CONSOLIDADO</a:t>
            </a:r>
            <a:endParaRPr lang="en-US" sz="850" dirty="0"/>
          </a:p>
        </p:txBody>
      </p:sp>
      <p:sp>
        <p:nvSpPr>
          <p:cNvPr id="124" name="Shape 109"/>
          <p:cNvSpPr/>
          <p:nvPr/>
        </p:nvSpPr>
        <p:spPr>
          <a:xfrm>
            <a:off x="1554480" y="7653528"/>
            <a:ext cx="10268712" cy="530352"/>
          </a:xfrm>
          <a:prstGeom prst="rect">
            <a:avLst/>
          </a:prstGeom>
          <a:solidFill>
            <a:srgbClr val="17707A"/>
          </a:solidFill>
          <a:ln w="12700">
            <a:solidFill>
              <a:srgbClr val="17707A"/>
            </a:solidFill>
            <a:prstDash val="solid"/>
          </a:ln>
        </p:spPr>
      </p:sp>
      <p:sp>
        <p:nvSpPr>
          <p:cNvPr id="125" name="Text 110"/>
          <p:cNvSpPr txBox="1"/>
          <p:nvPr/>
        </p:nvSpPr>
        <p:spPr>
          <a:xfrm>
            <a:off x="1664208" y="7653528"/>
            <a:ext cx="100492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eventos HBP entre ambos turnos (T1-3: 7 · T2-4: 8).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Clusters: acopio de material, housekeeping deficiente y piezas/herramientas de andamio a nivel de piso (12) · extensiones eléctricas sin pasacable, en contacto con estructura o tendidas en piso (3). Refuerzo transversal en todos los recorridos y al cierre de cada tarea (focos 5 y 6).</a:t>
            </a:r>
            <a:endParaRPr lang="en-US" sz="800" dirty="0"/>
          </a:p>
        </p:txBody>
      </p:sp>
      <p:sp>
        <p:nvSpPr>
          <p:cNvPr id="126" name="Shape 111"/>
          <p:cNvSpPr/>
          <p:nvPr/>
        </p:nvSpPr>
        <p:spPr>
          <a:xfrm>
            <a:off x="0" y="8348472"/>
            <a:ext cx="12191695" cy="384048"/>
          </a:xfrm>
          <a:prstGeom prst="rect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</p:sp>
      <p:sp>
        <p:nvSpPr>
          <p:cNvPr id="127" name="Text 112"/>
          <p:cNvSpPr txBox="1"/>
          <p:nvPr/>
        </p:nvSpPr>
        <p:spPr>
          <a:xfrm>
            <a:off x="365760" y="834847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NUESTRO COMPROMISO: CERO DAÑO A LAS PERSONAS</a:t>
            </a:r>
            <a:endParaRPr lang="en-US" sz="1000" dirty="0"/>
          </a:p>
        </p:txBody>
      </p:sp>
      <p:sp>
        <p:nvSpPr>
          <p:cNvPr id="128" name="Text 113"/>
          <p:cNvSpPr txBox="1"/>
          <p:nvPr/>
        </p:nvSpPr>
        <p:spPr>
          <a:xfrm>
            <a:off x="5669280" y="834847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▲▲</a:t>
            </a:r>
            <a:endParaRPr lang="en-US" sz="1100" dirty="0"/>
          </a:p>
        </p:txBody>
      </p:sp>
      <p:sp>
        <p:nvSpPr>
          <p:cNvPr id="129" name="Text 114"/>
          <p:cNvSpPr txBox="1"/>
          <p:nvPr/>
        </p:nvSpPr>
        <p:spPr>
          <a:xfrm>
            <a:off x="6766560" y="8348472"/>
            <a:ext cx="5056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SEGURIDAD, SALUD, PERSONAS Y MEDIO AMBIENTE  ·  1 / 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0040"/>
            <a:ext cx="1783080" cy="6949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286000" y="25603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SÍNTESIS Y PLAN DE RECORRIDO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2286000" y="82296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TENDENCIAS CONSOLIDADAS TURNOS 1-3 / 2-4 – SUPERVISOR ITO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365760" y="137160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02920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3716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focos prioritarios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unificados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82696" y="137160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419856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800" dirty="0"/>
          </a:p>
        </p:txBody>
      </p:sp>
      <p:sp>
        <p:nvSpPr>
          <p:cNvPr id="10" name="Text 7"/>
          <p:cNvSpPr txBox="1"/>
          <p:nvPr/>
        </p:nvSpPr>
        <p:spPr>
          <a:xfrm>
            <a:off x="4197096" y="13716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focos N1 · CRÍTICO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(izaje, vehículos, andamios)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199632" y="137160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36792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800" dirty="0"/>
          </a:p>
        </p:txBody>
      </p:sp>
      <p:sp>
        <p:nvSpPr>
          <p:cNvPr id="13" name="Text 10"/>
          <p:cNvSpPr txBox="1"/>
          <p:nvPr/>
        </p:nvSpPr>
        <p:spPr>
          <a:xfrm>
            <a:off x="7114032" y="13716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eventos origen con 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(PUMA, COX, JEJ)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9116568" y="137160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253728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7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3800" dirty="0"/>
          </a:p>
        </p:txBody>
      </p:sp>
      <p:sp>
        <p:nvSpPr>
          <p:cNvPr id="16" name="Text 13"/>
          <p:cNvSpPr txBox="1"/>
          <p:nvPr/>
        </p:nvSpPr>
        <p:spPr>
          <a:xfrm>
            <a:off x="10030968" y="13716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eventos HBP recurrentes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(T1-3: 7 · T2-4: 8)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365760" y="2514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RECORRIDO RECOMENDADO POR BLOQUE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65760" y="2880360"/>
            <a:ext cx="367588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63240"/>
            <a:ext cx="411480" cy="41148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097280" y="3044952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AM · INICIO DE TURNO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3593592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Piscinas ILS–PLS · Pila Oeste · Pilas de Lixiviación · Izaje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548640" y="4069080"/>
            <a:ext cx="33101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Plan de izaje específico por maniobra (foco 1)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Estabilizadores del camión pluma según GC (foco 1)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Segregación, radio y vientos en área de la carga (foco 2)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Check list pre-uso de vehículos y equipos (foco 3)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261104" y="2880360"/>
            <a:ext cx="367588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3063240"/>
            <a:ext cx="411480" cy="41148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4992624" y="3044952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MEDIODÍA · INTERVENCIÓN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4443984" y="3593592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Pilas de Lixiviación · Canaletas lado Oeste · Botadero de Ripios · Patio Contratistas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4443984" y="4069080"/>
            <a:ext cx="33101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Rodapié, peldaños y doble baranda en plataformas (foco 4)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Tarjeta Verde coherente con la condición real (foco 4)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Extensiones eléctricas con pasacable (foco 5)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Acopio y housekeeping en zonas habilitadas (foco 6)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8156448" y="2880360"/>
            <a:ext cx="367588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328" y="3063240"/>
            <a:ext cx="411480" cy="41148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8887968" y="3044952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PM · CIERRE DE JORNADA</a:t>
            </a:r>
            <a:endParaRPr lang="en-US" sz="1100" dirty="0"/>
          </a:p>
        </p:txBody>
      </p:sp>
      <p:sp>
        <p:nvSpPr>
          <p:cNvPr id="31" name="Text 25"/>
          <p:cNvSpPr txBox="1"/>
          <p:nvPr/>
        </p:nvSpPr>
        <p:spPr>
          <a:xfrm>
            <a:off x="8339328" y="3593592"/>
            <a:ext cx="3310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SAP · CdP pendientes · Entrega de turno</a:t>
            </a:r>
            <a:endParaRPr lang="en-US" sz="900" dirty="0"/>
          </a:p>
        </p:txBody>
      </p:sp>
      <p:sp>
        <p:nvSpPr>
          <p:cNvPr id="32" name="Text 26"/>
          <p:cNvSpPr txBox="1"/>
          <p:nvPr/>
        </p:nvSpPr>
        <p:spPr>
          <a:xfrm>
            <a:off x="8339328" y="4069080"/>
            <a:ext cx="33101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Actualizar PTS con brechas de CdP: maxisacos sobre tubería HDPE, pletinas en acople campana-espiga y vienteros en desacople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Registrar hallazgos del recorrido en SAP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Verificar orden y aseo al cierre de cada tarea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Informar tendencias recurrentes en la entrega de turno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365760" y="5623560"/>
            <a:ext cx="3675888" cy="2514600"/>
          </a:xfrm>
          <a:prstGeom prst="roundRect">
            <a:avLst>
              <a:gd name="adj" fmla="val 2909"/>
            </a:avLst>
          </a:prstGeom>
          <a:solidFill>
            <a:srgbClr val="FDF1F1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548640" y="5733288"/>
            <a:ext cx="3310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BRECHAS PRINCIPALES A CONTROLAR</a:t>
            </a:r>
            <a:endParaRPr lang="en-US" sz="1100" dirty="0"/>
          </a:p>
        </p:txBody>
      </p:sp>
      <p:sp>
        <p:nvSpPr>
          <p:cNvPr id="35" name="Text 29"/>
          <p:cNvSpPr txBox="1"/>
          <p:nvPr/>
        </p:nvSpPr>
        <p:spPr>
          <a:xfrm>
            <a:off x="548640" y="6126480"/>
            <a:ext cx="331012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izaje que no corresponde a la maniobra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Izaje sin segregación ni comunicación bidireccional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Neumáticos y elementos críticos sin inspección pre-uso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Tarjeta Verde vigente en andamios incompletos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Extensiones sin pasacable y acopio deficiente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4261104" y="5623560"/>
            <a:ext cx="3675888" cy="2514600"/>
          </a:xfrm>
          <a:prstGeom prst="roundRect">
            <a:avLst>
              <a:gd name="adj" fmla="val 2909"/>
            </a:avLst>
          </a:prstGeom>
          <a:solidFill>
            <a:srgbClr val="EEF3FA"/>
          </a:solidFill>
          <a:ln w="12700">
            <a:solidFill>
              <a:srgbClr val="1F3D6B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4443984" y="5733288"/>
            <a:ext cx="3310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CONTROLES CRÍTICOS NO NEGOCIABLES</a:t>
            </a:r>
            <a:endParaRPr lang="en-US" sz="1100" dirty="0"/>
          </a:p>
        </p:txBody>
      </p:sp>
      <p:sp>
        <p:nvSpPr>
          <p:cNvPr id="38" name="Text 32"/>
          <p:cNvSpPr txBox="1"/>
          <p:nvPr/>
        </p:nvSpPr>
        <p:spPr>
          <a:xfrm>
            <a:off x="4443984" y="6126480"/>
            <a:ext cx="331012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izaje específico, vigente y en terreno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Estabilizadores según Gestión del Cambio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Segregación del área de influencia de la carga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Inspección pre-uso de vehículos y equipos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Rodapié, peldaños y doble baranda en plataformas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8156448" y="5623560"/>
            <a:ext cx="3675888" cy="2514600"/>
          </a:xfrm>
          <a:prstGeom prst="roundRect">
            <a:avLst>
              <a:gd name="adj" fmla="val 2909"/>
            </a:avLst>
          </a:prstGeom>
          <a:solidFill>
            <a:srgbClr val="FDF5EC"/>
          </a:solidFill>
          <a:ln w="12700">
            <a:solidFill>
              <a:srgbClr val="B35C00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8339328" y="5733288"/>
            <a:ext cx="3310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DETENER LA TAREA SI…</a:t>
            </a:r>
            <a:endParaRPr lang="en-US" sz="1100" dirty="0"/>
          </a:p>
        </p:txBody>
      </p:sp>
      <p:sp>
        <p:nvSpPr>
          <p:cNvPr id="41" name="Text 35"/>
          <p:cNvSpPr txBox="1"/>
          <p:nvPr/>
        </p:nvSpPr>
        <p:spPr>
          <a:xfrm>
            <a:off x="8339328" y="6126480"/>
            <a:ext cx="331012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hay plan de izaje específico para la maniobra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área de la carga no está segregada o no hay radio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vehículo presenta daño en neumático o llanta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andamio tiene piezas faltantes, aunque tenga Tarjeta Verde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 personal expuesto en bordes de zanja al desacoplar</a:t>
            </a:r>
            <a:endParaRPr lang="en-US" sz="1050" dirty="0"/>
          </a:p>
        </p:txBody>
      </p:sp>
      <p:sp>
        <p:nvSpPr>
          <p:cNvPr id="42" name="Shape 36"/>
          <p:cNvSpPr/>
          <p:nvPr/>
        </p:nvSpPr>
        <p:spPr>
          <a:xfrm>
            <a:off x="0" y="8348472"/>
            <a:ext cx="12191695" cy="384048"/>
          </a:xfrm>
          <a:prstGeom prst="rect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365760" y="834847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NUESTRO COMPROMISO: CERO DAÑO A LAS PERSONAS</a:t>
            </a:r>
            <a:endParaRPr lang="en-US" sz="1000" dirty="0"/>
          </a:p>
        </p:txBody>
      </p:sp>
      <p:sp>
        <p:nvSpPr>
          <p:cNvPr id="44" name="Text 38"/>
          <p:cNvSpPr txBox="1"/>
          <p:nvPr/>
        </p:nvSpPr>
        <p:spPr>
          <a:xfrm>
            <a:off x="5669280" y="834847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▲▲</a:t>
            </a:r>
            <a:endParaRPr lang="en-US" sz="1100" dirty="0"/>
          </a:p>
        </p:txBody>
      </p:sp>
      <p:sp>
        <p:nvSpPr>
          <p:cNvPr id="45" name="Text 39"/>
          <p:cNvSpPr txBox="1"/>
          <p:nvPr/>
        </p:nvSpPr>
        <p:spPr>
          <a:xfrm>
            <a:off x="6766560" y="8348472"/>
            <a:ext cx="5056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SEGURIDAD, SALUD, PERSONAS Y MEDIO AMBIENTE  ·  2 / 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0040"/>
            <a:ext cx="1783080" cy="6949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286000" y="25603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DE VERIFICACIÓN EN TERRENO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2286000" y="82296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HALLAZGOS DEL RECORRIDO, ACCIONES Y CIERRE – INSPECTOR ITO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9281160" y="201168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FECHA: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10424160" y="201168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9281160" y="416052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TURNO: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0424160" y="416052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1-3     ☐ 2-4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9281160" y="630936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INSPECTOR ITO: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10424160" y="630936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9281160" y="845820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/ EECC: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0424160" y="845820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9281160" y="1060704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/ SECTOR: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10424160" y="1060704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________________</a:t>
            </a:r>
            <a:endParaRPr lang="en-US" sz="8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9143771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548640"/>
                <a:gridCol w="1188720"/>
                <a:gridCol w="822960"/>
                <a:gridCol w="502920"/>
                <a:gridCol w="2651760"/>
                <a:gridCol w="777240"/>
                <a:gridCol w="2011680"/>
                <a:gridCol w="1051560"/>
                <a:gridCol w="640080"/>
                <a:gridCol w="89611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N°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HORA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ÁREA / SECTOR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EECC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(1-6)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HALLAZGO / DESVIACIÓN DETECTADA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CLASIF.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CAAP/HAP/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CBP/HBP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ACCIÓN INMEDIATA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RESPONSABLE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PLAZO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 SAP /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2"/>
          <p:cNvSpPr txBox="1"/>
          <p:nvPr/>
        </p:nvSpPr>
        <p:spPr>
          <a:xfrm>
            <a:off x="365760" y="4983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DEL TURNO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65760" y="5367528"/>
            <a:ext cx="3749040" cy="310896"/>
          </a:xfrm>
          <a:prstGeom prst="rect">
            <a:avLst/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57200" y="536752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Focos verificados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2834640" y="53675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 / 6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65760" y="5733288"/>
            <a:ext cx="37490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57200" y="573328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Focos que cumplen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2834640" y="573328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 / ____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365760" y="6099048"/>
            <a:ext cx="3749040" cy="310896"/>
          </a:xfrm>
          <a:prstGeom prst="rect">
            <a:avLst/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57200" y="609904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cumplimiento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2834640" y="60990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 %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365760" y="6464808"/>
            <a:ext cx="37490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457200" y="646480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Tareas detenidas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2834640" y="646480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365760" y="6830568"/>
            <a:ext cx="3749040" cy="310896"/>
          </a:xfrm>
          <a:prstGeom prst="rect">
            <a:avLst/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457200" y="68305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Hallazgos registrados en SAP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2834640" y="68305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</a:t>
            </a:r>
            <a:endParaRPr lang="en-US" sz="900" dirty="0"/>
          </a:p>
        </p:txBody>
      </p:sp>
      <p:sp>
        <p:nvSpPr>
          <p:cNvPr id="32" name="Text 28"/>
          <p:cNvSpPr txBox="1"/>
          <p:nvPr/>
        </p:nvSpPr>
        <p:spPr>
          <a:xfrm>
            <a:off x="4389120" y="4983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OBSERVACIONES / TEMAS PARA ENTREGA DE TURNO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4389120" y="5367528"/>
            <a:ext cx="4206240" cy="177393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4526280" y="5724144"/>
            <a:ext cx="3931920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526280" y="6080760"/>
            <a:ext cx="3931920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4526280" y="6437376"/>
            <a:ext cx="3931920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4526280" y="6793992"/>
            <a:ext cx="3931920" cy="0"/>
          </a:xfrm>
          <a:prstGeom prst="line">
            <a:avLst/>
          </a:prstGeom>
          <a:noFill/>
          <a:ln w="9525">
            <a:solidFill>
              <a:srgbClr val="D8DEE8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8869680" y="4983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SIGLAS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8869680" y="5367528"/>
            <a:ext cx="2953512" cy="1773936"/>
          </a:xfrm>
          <a:prstGeom prst="roundRect">
            <a:avLst>
              <a:gd name="adj" fmla="val 3093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9006840" y="5440680"/>
            <a:ext cx="269748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ITO: </a:t>
            </a:r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Inspección Técnica de Obra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EECC: </a:t>
            </a:r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 contratista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CAAP / CBP: </a:t>
            </a:r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Cuasi accidente alto / bajo potencial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 / HBP: </a:t>
            </a:r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Hallazgo alto / bajo potencial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GC: </a:t>
            </a:r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del Cambio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PTS: </a:t>
            </a:r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Procedimiento de Trabajo Seguro</a:t>
            </a:r>
            <a:endParaRPr lang="en-US" sz="850" dirty="0"/>
          </a:p>
        </p:txBody>
      </p:sp>
      <p:sp>
        <p:nvSpPr>
          <p:cNvPr id="41" name="Shape 37"/>
          <p:cNvSpPr/>
          <p:nvPr/>
        </p:nvSpPr>
        <p:spPr>
          <a:xfrm>
            <a:off x="640080" y="7717536"/>
            <a:ext cx="3127248" cy="13716"/>
          </a:xfrm>
          <a:prstGeom prst="rect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365760" y="7772400"/>
            <a:ext cx="3675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INSPECTOR ITO</a:t>
            </a:r>
            <a:endParaRPr lang="en-US" sz="900" dirty="0"/>
          </a:p>
        </p:txBody>
      </p:sp>
      <p:sp>
        <p:nvSpPr>
          <p:cNvPr id="43" name="Text 39"/>
          <p:cNvSpPr txBox="1"/>
          <p:nvPr/>
        </p:nvSpPr>
        <p:spPr>
          <a:xfrm>
            <a:off x="365760" y="8001000"/>
            <a:ext cx="3675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Nombre, firma y fecha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4535424" y="7717536"/>
            <a:ext cx="3127248" cy="13716"/>
          </a:xfrm>
          <a:prstGeom prst="rect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4261104" y="7772400"/>
            <a:ext cx="3675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EMPRESA CONTRATISTA</a:t>
            </a:r>
            <a:endParaRPr lang="en-US" sz="900" dirty="0"/>
          </a:p>
        </p:txBody>
      </p:sp>
      <p:sp>
        <p:nvSpPr>
          <p:cNvPr id="46" name="Text 42"/>
          <p:cNvSpPr txBox="1"/>
          <p:nvPr/>
        </p:nvSpPr>
        <p:spPr>
          <a:xfrm>
            <a:off x="4261104" y="8001000"/>
            <a:ext cx="3675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Nombre, firma y fecha</a:t>
            </a:r>
            <a:endParaRPr lang="en-US" sz="800" dirty="0"/>
          </a:p>
        </p:txBody>
      </p:sp>
      <p:sp>
        <p:nvSpPr>
          <p:cNvPr id="47" name="Shape 43"/>
          <p:cNvSpPr/>
          <p:nvPr/>
        </p:nvSpPr>
        <p:spPr>
          <a:xfrm>
            <a:off x="8430768" y="7717536"/>
            <a:ext cx="3127248" cy="13716"/>
          </a:xfrm>
          <a:prstGeom prst="rect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8156448" y="7772400"/>
            <a:ext cx="3675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REVISADO POR (JEFATURA / SSO)</a:t>
            </a:r>
            <a:endParaRPr lang="en-US" sz="900" dirty="0"/>
          </a:p>
        </p:txBody>
      </p:sp>
      <p:sp>
        <p:nvSpPr>
          <p:cNvPr id="49" name="Text 45"/>
          <p:cNvSpPr txBox="1"/>
          <p:nvPr/>
        </p:nvSpPr>
        <p:spPr>
          <a:xfrm>
            <a:off x="8156448" y="8001000"/>
            <a:ext cx="3675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Nombre, firma y fecha</a:t>
            </a:r>
            <a:endParaRPr lang="en-US" sz="800" dirty="0"/>
          </a:p>
        </p:txBody>
      </p:sp>
      <p:sp>
        <p:nvSpPr>
          <p:cNvPr id="50" name="Shape 46"/>
          <p:cNvSpPr/>
          <p:nvPr/>
        </p:nvSpPr>
        <p:spPr>
          <a:xfrm>
            <a:off x="0" y="8348472"/>
            <a:ext cx="12191695" cy="384048"/>
          </a:xfrm>
          <a:prstGeom prst="rect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365760" y="834847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NUESTRO COMPROMISO: CERO DAÑO A LAS PERSONAS</a:t>
            </a:r>
            <a:endParaRPr lang="en-US" sz="1000" dirty="0"/>
          </a:p>
        </p:txBody>
      </p:sp>
      <p:sp>
        <p:nvSpPr>
          <p:cNvPr id="52" name="Text 48"/>
          <p:cNvSpPr txBox="1"/>
          <p:nvPr/>
        </p:nvSpPr>
        <p:spPr>
          <a:xfrm>
            <a:off x="5669280" y="834847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▲▲</a:t>
            </a:r>
            <a:endParaRPr lang="en-US" sz="1100" dirty="0"/>
          </a:p>
        </p:txBody>
      </p:sp>
      <p:sp>
        <p:nvSpPr>
          <p:cNvPr id="53" name="Text 49"/>
          <p:cNvSpPr txBox="1"/>
          <p:nvPr/>
        </p:nvSpPr>
        <p:spPr>
          <a:xfrm>
            <a:off x="6766560" y="8348472"/>
            <a:ext cx="5056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SEGURIDAD, SALUD, PERSONAS Y MEDIO AMBIENTE  ·  3 / 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Assurance Unificado Turnos 1-3 / 2-4</dc:title>
  <dc:subject>PptxGenJS Presentation</dc:subject>
  <dc:creator>PptxGenJS</dc:creator>
  <cp:lastModifiedBy>PptxGenJS</cp:lastModifiedBy>
  <cp:revision>1</cp:revision>
  <dcterms:created xsi:type="dcterms:W3CDTF">2026-09-23T12:03:12Z</dcterms:created>
  <dcterms:modified xsi:type="dcterms:W3CDTF">2026-09-23T12:03:12Z</dcterms:modified>
</cp:coreProperties>
</file>