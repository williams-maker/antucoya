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8732520"/>
  <p:notesSz cx="873252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N1/N2 (ACC, CAAP, HAP, CBP)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Izaje</c:v>
                  </c:pt>
                  <c:pt idx="1">
                    <c:v>Vehículos y equipos</c:v>
                  </c:pt>
                  <c:pt idx="2">
                    <c:v>Andamios</c:v>
                  </c:pt>
                  <c:pt idx="3">
                    <c:v>Acopio / housekeeping</c:v>
                  </c:pt>
                  <c:pt idx="4">
                    <c:v>Extensiones eléctricas</c:v>
                  </c:pt>
                  <c:pt idx="5">
                    <c:v>Otros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HBP (N3)</c:v>
                </c:pt>
              </c:strCache>
            </c:strRef>
          </c:tx>
          <c:spPr>
            <a:solidFill>
              <a:srgbClr val="9FB8C9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Izaje</c:v>
                  </c:pt>
                  <c:pt idx="1">
                    <c:v>Vehículos y equipos</c:v>
                  </c:pt>
                  <c:pt idx="2">
                    <c:v>Andamios</c:v>
                  </c:pt>
                  <c:pt idx="3">
                    <c:v>Acopio / housekeeping</c:v>
                  </c:pt>
                  <c:pt idx="4">
                    <c:v>Extensiones eléctricas</c:v>
                  </c:pt>
                  <c:pt idx="5">
                    <c:v>Otros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0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1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55448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1645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TURNO 1-3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6217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PRIORITARIOS DE VERIFICACIÓN EN TERRENO – ITO  ·  Turno 1-3  ·  datos del 10 al 23 SEP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9326880" y="201168"/>
            <a:ext cx="2496312" cy="329184"/>
          </a:xfrm>
          <a:prstGeom prst="roundRect">
            <a:avLst>
              <a:gd name="adj" fmla="val 22222"/>
            </a:avLst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26880" y="2011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A · TARJETAS POR FOCO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56692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tarjeta por foco: se lee rápido e imprime bien para el inspector.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8385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FORMATO · ASSURANCE ITO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024128"/>
            <a:ext cx="11457432" cy="310896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" y="1024128"/>
            <a:ext cx="1737360" cy="310896"/>
          </a:xfrm>
          <a:prstGeom prst="rect">
            <a:avLst/>
          </a:prstGeom>
          <a:solidFill>
            <a:srgbClr val="1F3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ÚLTIMOS 14 DÍAS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102412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10 al 23 SEP     </a:t>
            </a:r>
            <a:pPr indent="0" marL="0">
              <a:buNone/>
            </a:pPr>
            <a:r>
              <a:rPr lang="en-US" sz="9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 </a:t>
            </a:r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 ·   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  ·   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 ·   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 ·    </a:t>
            </a:r>
            <a:pPr indent="0" marL="0">
              <a:buNone/>
            </a:pPr>
            <a:r>
              <a:rPr lang="en-US" sz="9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 ·    </a:t>
            </a:r>
            <a:pPr indent="0" marL="0">
              <a:buNone/>
            </a:pPr>
            <a:r>
              <a:rPr lang="en-US" sz="9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14 días anteriores: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▲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1481328"/>
            <a:ext cx="3697224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4904" y="1490472"/>
            <a:ext cx="3678936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" y="1481328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14813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550920" y="15361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96" y="1572768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30352" y="2029968"/>
            <a:ext cx="336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 – plan por maniobra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30352" y="2322576"/>
            <a:ext cx="336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 toda maniobra de izaje cuente con plan específico y vigente para la carga y el equipo; el rigger lo porta en terreno y el supervisor valida que corresponda antes de autorizar el levante.</a:t>
            </a:r>
            <a:endParaRPr lang="en-US" sz="880" dirty="0"/>
          </a:p>
        </p:txBody>
      </p:sp>
      <p:sp>
        <p:nvSpPr>
          <p:cNvPr id="23" name="Text 19"/>
          <p:cNvSpPr txBox="1"/>
          <p:nvPr/>
        </p:nvSpPr>
        <p:spPr>
          <a:xfrm>
            <a:off x="530352" y="3200400"/>
            <a:ext cx="336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si: </a:t>
            </a:r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plan específico para la carga, no se iza.</a:t>
            </a:r>
            <a:endParaRPr lang="en-US" sz="820" dirty="0"/>
          </a:p>
        </p:txBody>
      </p:sp>
      <p:sp>
        <p:nvSpPr>
          <p:cNvPr id="24" name="Shape 20"/>
          <p:cNvSpPr/>
          <p:nvPr/>
        </p:nvSpPr>
        <p:spPr>
          <a:xfrm>
            <a:off x="475488" y="3474720"/>
            <a:ext cx="3477768" cy="713232"/>
          </a:xfrm>
          <a:prstGeom prst="rect">
            <a:avLst/>
          </a:prstGeom>
          <a:solidFill>
            <a:srgbClr val="FDF1F1"/>
          </a:solidFill>
          <a:ln w="12700">
            <a:solidFill>
              <a:srgbClr val="FDF1F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48640" y="3493008"/>
            <a:ext cx="3331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 555505 – PUMA: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del rigger era de descarga de cañería HDPE, no de la escala modular</a:t>
            </a:r>
            <a:endParaRPr lang="en-US" sz="7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555358 – PUMA: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 de equipo de electrofusión sin plan específico</a:t>
            </a:r>
            <a:endParaRPr lang="en-US" sz="74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251960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69264" y="4224528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+ CdP Maniobras de Izaje + ASP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específico / validación supervisor / fotos</a:t>
            </a:r>
            <a:endParaRPr lang="en-US" sz="760" dirty="0"/>
          </a:p>
        </p:txBody>
      </p:sp>
      <p:sp>
        <p:nvSpPr>
          <p:cNvPr id="28" name="Shape 23"/>
          <p:cNvSpPr/>
          <p:nvPr/>
        </p:nvSpPr>
        <p:spPr>
          <a:xfrm>
            <a:off x="4245864" y="1481328"/>
            <a:ext cx="3697224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255008" y="1490472"/>
            <a:ext cx="3678936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355592" y="1481328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4721352" y="14813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7431024" y="15361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1572768"/>
            <a:ext cx="310896" cy="31089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410456" y="2029968"/>
            <a:ext cx="336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 – segregación y comunicación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4410456" y="2322576"/>
            <a:ext cx="336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segregación efectiva y comunicación bidireccional en el área de la carga: control de acceso antes de izar, radio operador–rigger, uso de vientos y posición fuera de bordes de zanja al desacoplar.</a:t>
            </a:r>
            <a:endParaRPr lang="en-US" sz="880" dirty="0"/>
          </a:p>
        </p:txBody>
      </p:sp>
      <p:sp>
        <p:nvSpPr>
          <p:cNvPr id="36" name="Text 30"/>
          <p:cNvSpPr txBox="1"/>
          <p:nvPr/>
        </p:nvSpPr>
        <p:spPr>
          <a:xfrm>
            <a:off x="4410456" y="3200400"/>
            <a:ext cx="336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si: </a:t>
            </a:r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segregación o sin radio, no se inicia el izaje.</a:t>
            </a:r>
            <a:endParaRPr lang="en-US" sz="820" dirty="0"/>
          </a:p>
        </p:txBody>
      </p:sp>
      <p:sp>
        <p:nvSpPr>
          <p:cNvPr id="37" name="Shape 31"/>
          <p:cNvSpPr/>
          <p:nvPr/>
        </p:nvSpPr>
        <p:spPr>
          <a:xfrm>
            <a:off x="4355592" y="3474720"/>
            <a:ext cx="3477768" cy="713232"/>
          </a:xfrm>
          <a:prstGeom prst="rect">
            <a:avLst/>
          </a:prstGeom>
          <a:solidFill>
            <a:srgbClr val="FDF1F1"/>
          </a:solidFill>
          <a:ln w="12700">
            <a:solidFill>
              <a:srgbClr val="FDF1F1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428744" y="3493008"/>
            <a:ext cx="3331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556119 – PUMA: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maxisacos con grúa horquilla sin segregación ni comunicación</a:t>
            </a:r>
            <a:endParaRPr lang="en-US" sz="7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554227 – PUMA: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retiro de eslinga con un pie en borde de zanja</a:t>
            </a:r>
            <a:endParaRPr lang="en-US" sz="7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 554488: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vienteros</a:t>
            </a:r>
            <a:endParaRPr lang="en-US" sz="74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168" y="4251960"/>
            <a:ext cx="384048" cy="384048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4849368" y="4224528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+ CdP Maniobras de Izaje + Desafío en Terreno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segregada / radio / vientos / fotos</a:t>
            </a:r>
            <a:endParaRPr lang="en-US" sz="760" dirty="0"/>
          </a:p>
        </p:txBody>
      </p:sp>
      <p:sp>
        <p:nvSpPr>
          <p:cNvPr id="41" name="Shape 34"/>
          <p:cNvSpPr/>
          <p:nvPr/>
        </p:nvSpPr>
        <p:spPr>
          <a:xfrm>
            <a:off x="8125968" y="1481328"/>
            <a:ext cx="3697224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135112" y="1490472"/>
            <a:ext cx="3678936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235696" y="1481328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4" name="Text 37"/>
          <p:cNvSpPr txBox="1"/>
          <p:nvPr/>
        </p:nvSpPr>
        <p:spPr>
          <a:xfrm>
            <a:off x="8601456" y="14813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11311128" y="15361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7704" y="1572768"/>
            <a:ext cx="310896" cy="310896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8290560" y="2029968"/>
            <a:ext cx="336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Vehículos y equipos – pre-uso</a:t>
            </a:r>
            <a:endParaRPr lang="en-US" sz="1100" dirty="0"/>
          </a:p>
        </p:txBody>
      </p:sp>
      <p:sp>
        <p:nvSpPr>
          <p:cNvPr id="48" name="Text 40"/>
          <p:cNvSpPr txBox="1"/>
          <p:nvPr/>
        </p:nvSpPr>
        <p:spPr>
          <a:xfrm>
            <a:off x="8290560" y="2322576"/>
            <a:ext cx="336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inspección pre-uso de vehículos y equipos antes de habilitarlos: neumáticos y elementos críticos sin daño, check list con horómetro, letrero de supervisor y plan de tránsito firmado.</a:t>
            </a:r>
            <a:endParaRPr lang="en-US" sz="880" dirty="0"/>
          </a:p>
        </p:txBody>
      </p:sp>
      <p:sp>
        <p:nvSpPr>
          <p:cNvPr id="49" name="Text 41"/>
          <p:cNvSpPr txBox="1"/>
          <p:nvPr/>
        </p:nvSpPr>
        <p:spPr>
          <a:xfrm>
            <a:off x="8290560" y="3200400"/>
            <a:ext cx="336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si: </a:t>
            </a:r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 o equipo con daño crítico no opera.</a:t>
            </a:r>
            <a:endParaRPr lang="en-US" sz="820" dirty="0"/>
          </a:p>
        </p:txBody>
      </p:sp>
      <p:sp>
        <p:nvSpPr>
          <p:cNvPr id="50" name="Shape 42"/>
          <p:cNvSpPr/>
          <p:nvPr/>
        </p:nvSpPr>
        <p:spPr>
          <a:xfrm>
            <a:off x="8235696" y="3474720"/>
            <a:ext cx="3477768" cy="713232"/>
          </a:xfrm>
          <a:prstGeom prst="rect">
            <a:avLst/>
          </a:prstGeom>
          <a:solidFill>
            <a:srgbClr val="FDF5EC"/>
          </a:solidFill>
          <a:ln w="12700">
            <a:solidFill>
              <a:srgbClr val="FDF5EC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8308848" y="3493008"/>
            <a:ext cx="3331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553767 – J.E.J.: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camioneta con neumático dañado antes del uso</a:t>
            </a:r>
            <a:endParaRPr lang="en-US" sz="7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 554865 – PUMA: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camión pluma sin letrero ni plan de tránsito firmado</a:t>
            </a:r>
            <a:endParaRPr lang="en-US" sz="7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 554110 / 556748: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generadores sin horómetro ni responsable</a:t>
            </a:r>
            <a:endParaRPr lang="en-US" sz="74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272" y="4251960"/>
            <a:ext cx="384048" cy="384048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8729472" y="4224528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EdC Vehículo Liviano + Inspección de Equipos + ASP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list pre-uso / letrero y plan firmados / fotos</a:t>
            </a:r>
            <a:endParaRPr lang="en-US" sz="760" dirty="0"/>
          </a:p>
        </p:txBody>
      </p:sp>
      <p:sp>
        <p:nvSpPr>
          <p:cNvPr id="54" name="Shape 45"/>
          <p:cNvSpPr/>
          <p:nvPr/>
        </p:nvSpPr>
        <p:spPr>
          <a:xfrm>
            <a:off x="365760" y="4956048"/>
            <a:ext cx="3697224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374904" y="4965192"/>
            <a:ext cx="3678936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475488" y="4956048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57" name="Text 48"/>
          <p:cNvSpPr txBox="1"/>
          <p:nvPr/>
        </p:nvSpPr>
        <p:spPr>
          <a:xfrm>
            <a:off x="841248" y="495604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3550920" y="501091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496" y="5047488"/>
            <a:ext cx="310896" cy="310896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530352" y="5504688"/>
            <a:ext cx="336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Andamios – liberación estricta</a:t>
            </a:r>
            <a:endParaRPr lang="en-US" sz="1100" dirty="0"/>
          </a:p>
        </p:txBody>
      </p:sp>
      <p:sp>
        <p:nvSpPr>
          <p:cNvPr id="61" name="Text 51"/>
          <p:cNvSpPr txBox="1"/>
          <p:nvPr/>
        </p:nvSpPr>
        <p:spPr>
          <a:xfrm>
            <a:off x="530352" y="5797296"/>
            <a:ext cx="336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plataformas temporales antes de habilitar el acceso: rodapié y peldaños instalados aunque la tarjeta verde esté vigente, doble baranda en vanos y bordes, sin material acopiado.</a:t>
            </a:r>
            <a:endParaRPr lang="en-US" sz="880" dirty="0"/>
          </a:p>
        </p:txBody>
      </p:sp>
      <p:sp>
        <p:nvSpPr>
          <p:cNvPr id="62" name="Text 52"/>
          <p:cNvSpPr txBox="1"/>
          <p:nvPr/>
        </p:nvSpPr>
        <p:spPr>
          <a:xfrm>
            <a:off x="530352" y="6675120"/>
            <a:ext cx="336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si: </a:t>
            </a:r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Andamio con piezas faltantes: prohibido el acceso.</a:t>
            </a:r>
            <a:endParaRPr lang="en-US" sz="820" dirty="0"/>
          </a:p>
        </p:txBody>
      </p:sp>
      <p:sp>
        <p:nvSpPr>
          <p:cNvPr id="63" name="Shape 53"/>
          <p:cNvSpPr/>
          <p:nvPr/>
        </p:nvSpPr>
        <p:spPr>
          <a:xfrm>
            <a:off x="475488" y="6949440"/>
            <a:ext cx="3477768" cy="713232"/>
          </a:xfrm>
          <a:prstGeom prst="rect">
            <a:avLst/>
          </a:prstGeom>
          <a:solidFill>
            <a:srgbClr val="FDF5EC"/>
          </a:solidFill>
          <a:ln w="12700">
            <a:solidFill>
              <a:srgbClr val="FDF5EC"/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548640" y="6967728"/>
            <a:ext cx="3331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554901 – PUMA: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andamio con tarjeta verde, sin rodapié ni peldaños</a:t>
            </a:r>
            <a:endParaRPr lang="en-US" sz="7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4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 554468 – COX: </a:t>
            </a:r>
            <a:pPr indent="0" marL="0">
              <a:spcAft>
                <a:spcPts val="100"/>
              </a:spcAft>
              <a:buNone/>
            </a:pPr>
            <a:r>
              <a:rPr lang="en-US" sz="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acopiado sobre plataforma a 70 cm</a:t>
            </a:r>
            <a:endParaRPr lang="en-US" sz="740" dirty="0"/>
          </a:p>
        </p:txBody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" y="7726680"/>
            <a:ext cx="384048" cy="384048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969264" y="7699248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de Plataformas + CdP Trabajos en Altura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Rodapié y peldaños / tarjeta coherente / fotos</a:t>
            </a:r>
            <a:endParaRPr lang="en-US" sz="760" dirty="0"/>
          </a:p>
        </p:txBody>
      </p:sp>
      <p:sp>
        <p:nvSpPr>
          <p:cNvPr id="67" name="Shape 56"/>
          <p:cNvSpPr/>
          <p:nvPr/>
        </p:nvSpPr>
        <p:spPr>
          <a:xfrm>
            <a:off x="4245864" y="4956048"/>
            <a:ext cx="3697224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8" name="Shape 57"/>
          <p:cNvSpPr/>
          <p:nvPr/>
        </p:nvSpPr>
        <p:spPr>
          <a:xfrm>
            <a:off x="4255008" y="4965192"/>
            <a:ext cx="3678936" cy="4754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4383024" y="4956048"/>
            <a:ext cx="3422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– SI PRO · ESTRATEGIA DE CONTROLES</a:t>
            </a:r>
            <a:endParaRPr lang="en-US" sz="1000" dirty="0"/>
          </a:p>
        </p:txBody>
      </p:sp>
      <p:sp>
        <p:nvSpPr>
          <p:cNvPr id="70" name="Text 59"/>
          <p:cNvSpPr txBox="1"/>
          <p:nvPr/>
        </p:nvSpPr>
        <p:spPr>
          <a:xfrm>
            <a:off x="4428744" y="5596128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fija de la Gerencia SSO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Directriz GSSO  ·  Herramienta GCC  ·  Registro en QR o plataforma PASSO.</a:t>
            </a:r>
            <a:endParaRPr lang="en-US" sz="950" dirty="0"/>
          </a:p>
        </p:txBody>
      </p:sp>
      <p:sp>
        <p:nvSpPr>
          <p:cNvPr id="71" name="Shape 60"/>
          <p:cNvSpPr/>
          <p:nvPr/>
        </p:nvSpPr>
        <p:spPr>
          <a:xfrm>
            <a:off x="8125968" y="4956048"/>
            <a:ext cx="3697224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2" name="Shape 61"/>
          <p:cNvSpPr/>
          <p:nvPr/>
        </p:nvSpPr>
        <p:spPr>
          <a:xfrm>
            <a:off x="8135112" y="4965192"/>
            <a:ext cx="3678936" cy="475488"/>
          </a:xfrm>
          <a:prstGeom prst="rect">
            <a:avLst/>
          </a:prstGeom>
          <a:solidFill>
            <a:srgbClr val="17707A"/>
          </a:solidFill>
          <a:ln w="12700">
            <a:solidFill>
              <a:srgbClr val="17707A"/>
            </a:solidFill>
            <a:prstDash val="solid"/>
          </a:ln>
        </p:spPr>
      </p:sp>
      <p:sp>
        <p:nvSpPr>
          <p:cNvPr id="73" name="Text 62"/>
          <p:cNvSpPr txBox="1"/>
          <p:nvPr/>
        </p:nvSpPr>
        <p:spPr>
          <a:xfrm>
            <a:off x="8263128" y="4956048"/>
            <a:ext cx="3422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 · HBP (N3)</a:t>
            </a:r>
            <a:endParaRPr lang="en-US" sz="1000" dirty="0"/>
          </a:p>
        </p:txBody>
      </p:sp>
      <p:sp>
        <p:nvSpPr>
          <p:cNvPr id="74" name="Text 63"/>
          <p:cNvSpPr txBox="1"/>
          <p:nvPr/>
        </p:nvSpPr>
        <p:spPr>
          <a:xfrm>
            <a:off x="8308848" y="55504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75" name="Text 64"/>
          <p:cNvSpPr txBox="1"/>
          <p:nvPr/>
        </p:nvSpPr>
        <p:spPr>
          <a:xfrm>
            <a:off x="9223248" y="5550408"/>
            <a:ext cx="2417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HBP que se repiten en el período</a:t>
            </a:r>
            <a:endParaRPr lang="en-US" sz="1000" dirty="0"/>
          </a:p>
        </p:txBody>
      </p:sp>
      <p:sp>
        <p:nvSpPr>
          <p:cNvPr id="76" name="Text 65"/>
          <p:cNvSpPr txBox="1"/>
          <p:nvPr/>
        </p:nvSpPr>
        <p:spPr>
          <a:xfrm>
            <a:off x="8308848" y="6373368"/>
            <a:ext cx="3331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Acopio y housekeeping deficiente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(4)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Extensiones eléctricas sin pasacable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(3)</a:t>
            </a:r>
            <a:endParaRPr lang="en-US" sz="950" dirty="0"/>
          </a:p>
        </p:txBody>
      </p:sp>
      <p:sp>
        <p:nvSpPr>
          <p:cNvPr id="77" name="Text 66"/>
          <p:cNvSpPr txBox="1"/>
          <p:nvPr/>
        </p:nvSpPr>
        <p:spPr>
          <a:xfrm>
            <a:off x="8308848" y="7150608"/>
            <a:ext cx="3331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Refuerzo transversal en todos los recorridos y al cierre de cada tarea.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55448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1645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TURNO 1-3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6217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PRIORITARIOS DE VERIFICACIÓN EN TERRENO – ITO  ·  Turno 1-3  ·  datos del 10 al 23 SEP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9326880" y="201168"/>
            <a:ext cx="2496312" cy="329184"/>
          </a:xfrm>
          <a:prstGeom prst="roundRect">
            <a:avLst>
              <a:gd name="adj" fmla="val 22222"/>
            </a:avLst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26880" y="2011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B · RECORRIDO POR BLOQUE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56692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 los focos según cuándo y dónde se verifican en el turno.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8385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FORMATO · ASSURANCE ITO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024128"/>
            <a:ext cx="11457432" cy="310896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" y="1024128"/>
            <a:ext cx="1737360" cy="310896"/>
          </a:xfrm>
          <a:prstGeom prst="rect">
            <a:avLst/>
          </a:prstGeom>
          <a:solidFill>
            <a:srgbClr val="1F3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ÚLTIMOS 14 DÍAS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102412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10 al 23 SEP     </a:t>
            </a:r>
            <a:pPr indent="0" marL="0">
              <a:buNone/>
            </a:pPr>
            <a:r>
              <a:rPr lang="en-US" sz="9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 </a:t>
            </a:r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 ·   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  ·   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 ·   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 ·    </a:t>
            </a:r>
            <a:pPr indent="0" marL="0">
              <a:buNone/>
            </a:pPr>
            <a:r>
              <a:rPr lang="en-US" sz="9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 ·    </a:t>
            </a:r>
            <a:pPr indent="0" marL="0">
              <a:buNone/>
            </a:pPr>
            <a:r>
              <a:rPr lang="en-US" sz="9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14 días anteriores: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▲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1481328"/>
            <a:ext cx="3697224" cy="5715000"/>
          </a:xfrm>
          <a:prstGeom prst="roundRect">
            <a:avLst>
              <a:gd name="adj" fmla="val 1484"/>
            </a:avLst>
          </a:prstGeom>
          <a:solidFill>
            <a:srgbClr val="F3F6FA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904" y="1490472"/>
            <a:ext cx="3678936" cy="566928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57276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618488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05840" y="1481328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· INICIO DE TURNO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30352" y="2139696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Áreas: </a:t>
            </a:r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Piscinas ILS–PLS · Pila Oeste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493776" y="2596896"/>
            <a:ext cx="34411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5216" y="2688336"/>
            <a:ext cx="365760" cy="3657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85216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042416" y="26517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 – plan por maniobra</a:t>
            </a:r>
            <a:endParaRPr lang="en-US" sz="950" dirty="0"/>
          </a:p>
          <a:p>
            <a:pPr indent="0" marL="0">
              <a:buNone/>
            </a:pPr>
            <a:r>
              <a:rPr lang="en-US" sz="68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  ·  CAAP 555505, HAP 555358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621792" y="3145536"/>
            <a:ext cx="3240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Plan de izaje específico por maniobra</a:t>
            </a:r>
            <a:endParaRPr lang="en-US" sz="8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Validación del supervisor antes del levante</a:t>
            </a:r>
            <a:pPr indent="0" marL="0">
              <a:spcAft>
                <a:spcPts val="200"/>
              </a:spcAft>
              <a:buNone/>
            </a:pPr>
            <a:endParaRPr lang="en-US" sz="880" dirty="0"/>
          </a:p>
        </p:txBody>
      </p:sp>
      <p:sp>
        <p:nvSpPr>
          <p:cNvPr id="26" name="Text 22"/>
          <p:cNvSpPr txBox="1"/>
          <p:nvPr/>
        </p:nvSpPr>
        <p:spPr>
          <a:xfrm>
            <a:off x="621792" y="3584448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si: </a:t>
            </a:r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plan específico para la carga, no se iza.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93776" y="4050792"/>
            <a:ext cx="34411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85216" y="4142232"/>
            <a:ext cx="365760" cy="3657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85216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1042416" y="4105656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 – segregación y comunicación</a:t>
            </a:r>
            <a:endParaRPr lang="en-US" sz="950" dirty="0"/>
          </a:p>
          <a:p>
            <a:pPr indent="0" marL="0">
              <a:buNone/>
            </a:pPr>
            <a:r>
              <a:rPr lang="en-US" sz="68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  ·  HAP 556119, CBP 554227, HBP 554488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621792" y="4599432"/>
            <a:ext cx="3240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Segregación y radio en área de la carga</a:t>
            </a:r>
            <a:endParaRPr lang="en-US" sz="8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Vientos en uso al desacoplar</a:t>
            </a:r>
            <a:pPr indent="0" marL="0">
              <a:spcAft>
                <a:spcPts val="200"/>
              </a:spcAft>
              <a:buNone/>
            </a:pPr>
            <a:endParaRPr lang="en-US" sz="880" dirty="0"/>
          </a:p>
        </p:txBody>
      </p:sp>
      <p:sp>
        <p:nvSpPr>
          <p:cNvPr id="32" name="Text 28"/>
          <p:cNvSpPr txBox="1"/>
          <p:nvPr/>
        </p:nvSpPr>
        <p:spPr>
          <a:xfrm>
            <a:off x="621792" y="5038344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si: </a:t>
            </a:r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segregación o sin radio, no se inicia el izaje.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93776" y="5504688"/>
            <a:ext cx="34411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E67E2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85216" y="5596128"/>
            <a:ext cx="365760" cy="365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85216" y="5596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1042416" y="5559552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Vehículos y equipos – pre-uso</a:t>
            </a:r>
            <a:endParaRPr lang="en-US" sz="950" dirty="0"/>
          </a:p>
          <a:p>
            <a:pPr indent="0" marL="0">
              <a:buNone/>
            </a:pPr>
            <a:r>
              <a:rPr lang="en-US" sz="68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  ·  HAP 553767, HBP 554865, HBP 554110 / 556748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621792" y="6053328"/>
            <a:ext cx="3240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Check list pre-uso de vehículos y equipos</a:t>
            </a:r>
            <a:pPr indent="0" marL="0">
              <a:spcAft>
                <a:spcPts val="200"/>
              </a:spcAft>
              <a:buNone/>
            </a:pPr>
            <a:endParaRPr lang="en-US" sz="880" dirty="0"/>
          </a:p>
        </p:txBody>
      </p:sp>
      <p:sp>
        <p:nvSpPr>
          <p:cNvPr id="38" name="Text 34"/>
          <p:cNvSpPr txBox="1"/>
          <p:nvPr/>
        </p:nvSpPr>
        <p:spPr>
          <a:xfrm>
            <a:off x="621792" y="649224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si: </a:t>
            </a:r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 o equipo con daño crítico no opera.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4245864" y="1481328"/>
            <a:ext cx="3697224" cy="5715000"/>
          </a:xfrm>
          <a:prstGeom prst="roundRect">
            <a:avLst>
              <a:gd name="adj" fmla="val 1484"/>
            </a:avLst>
          </a:prstGeom>
          <a:solidFill>
            <a:srgbClr val="F3F6FA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255008" y="1490472"/>
            <a:ext cx="3678936" cy="566928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373880" y="157276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618488"/>
            <a:ext cx="310896" cy="310896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4885944" y="1481328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MEDIODÍA · INTERVENCIÓN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4410456" y="2139696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Áreas: </a:t>
            </a:r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 de Lixiviación · Botadero de Ripios · Patio Contratistas</a:t>
            </a:r>
            <a:endParaRPr lang="en-US" sz="880" dirty="0"/>
          </a:p>
        </p:txBody>
      </p:sp>
      <p:sp>
        <p:nvSpPr>
          <p:cNvPr id="45" name="Shape 40"/>
          <p:cNvSpPr/>
          <p:nvPr/>
        </p:nvSpPr>
        <p:spPr>
          <a:xfrm>
            <a:off x="4373880" y="2596896"/>
            <a:ext cx="34411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E67E22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465320" y="2688336"/>
            <a:ext cx="365760" cy="365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446532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3"/>
          <p:cNvSpPr txBox="1"/>
          <p:nvPr/>
        </p:nvSpPr>
        <p:spPr>
          <a:xfrm>
            <a:off x="4922520" y="26517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Andamios – liberación estricta</a:t>
            </a:r>
            <a:endParaRPr lang="en-US" sz="950" dirty="0"/>
          </a:p>
          <a:p>
            <a:pPr indent="0" marL="0">
              <a:buNone/>
            </a:pPr>
            <a:r>
              <a:rPr lang="en-US" sz="68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  ·  CBP 554901, HBP 554468</a:t>
            </a:r>
            <a:endParaRPr lang="en-US" sz="950" dirty="0"/>
          </a:p>
        </p:txBody>
      </p:sp>
      <p:sp>
        <p:nvSpPr>
          <p:cNvPr id="49" name="Text 44"/>
          <p:cNvSpPr txBox="1"/>
          <p:nvPr/>
        </p:nvSpPr>
        <p:spPr>
          <a:xfrm>
            <a:off x="4501896" y="3145536"/>
            <a:ext cx="3240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Rodapié, peldaños y doble baranda</a:t>
            </a:r>
            <a:pPr indent="0" marL="0">
              <a:spcAft>
                <a:spcPts val="200"/>
              </a:spcAft>
              <a:buNone/>
            </a:pPr>
            <a:endParaRPr lang="en-US" sz="880" dirty="0"/>
          </a:p>
        </p:txBody>
      </p:sp>
      <p:sp>
        <p:nvSpPr>
          <p:cNvPr id="50" name="Text 45"/>
          <p:cNvSpPr txBox="1"/>
          <p:nvPr/>
        </p:nvSpPr>
        <p:spPr>
          <a:xfrm>
            <a:off x="4501896" y="3584448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si: </a:t>
            </a:r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Andamio con piezas faltantes: prohibido el acceso.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4373880" y="4050792"/>
            <a:ext cx="34411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7707A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4501896" y="4050792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  </a:t>
            </a:r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Extensiones eléctricas con pasacable (recurrente)</a:t>
            </a:r>
            <a:endParaRPr lang="en-US" sz="880" dirty="0"/>
          </a:p>
        </p:txBody>
      </p:sp>
      <p:sp>
        <p:nvSpPr>
          <p:cNvPr id="53" name="Shape 48"/>
          <p:cNvSpPr/>
          <p:nvPr/>
        </p:nvSpPr>
        <p:spPr>
          <a:xfrm>
            <a:off x="4373880" y="4617720"/>
            <a:ext cx="34411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7707A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4501896" y="461772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  </a:t>
            </a:r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Acopio y housekeeping en zonas habilitadas (recurrente)</a:t>
            </a:r>
            <a:endParaRPr lang="en-US" sz="880" dirty="0"/>
          </a:p>
        </p:txBody>
      </p:sp>
      <p:sp>
        <p:nvSpPr>
          <p:cNvPr id="55" name="Shape 50"/>
          <p:cNvSpPr/>
          <p:nvPr/>
        </p:nvSpPr>
        <p:spPr>
          <a:xfrm>
            <a:off x="8125968" y="1481328"/>
            <a:ext cx="3697224" cy="5715000"/>
          </a:xfrm>
          <a:prstGeom prst="roundRect">
            <a:avLst>
              <a:gd name="adj" fmla="val 1484"/>
            </a:avLst>
          </a:prstGeom>
          <a:solidFill>
            <a:srgbClr val="F3F6FA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8135112" y="1490472"/>
            <a:ext cx="3678936" cy="566928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8253984" y="157276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704" y="1618488"/>
            <a:ext cx="310896" cy="310896"/>
          </a:xfrm>
          <a:prstGeom prst="rect">
            <a:avLst/>
          </a:prstGeom>
        </p:spPr>
      </p:pic>
      <p:sp>
        <p:nvSpPr>
          <p:cNvPr id="59" name="Text 53"/>
          <p:cNvSpPr txBox="1"/>
          <p:nvPr/>
        </p:nvSpPr>
        <p:spPr>
          <a:xfrm>
            <a:off x="8766048" y="1481328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· CIERRE DE JORNADA</a:t>
            </a:r>
            <a:endParaRPr lang="en-US" sz="1200" dirty="0"/>
          </a:p>
        </p:txBody>
      </p:sp>
      <p:sp>
        <p:nvSpPr>
          <p:cNvPr id="60" name="Text 54"/>
          <p:cNvSpPr txBox="1"/>
          <p:nvPr/>
        </p:nvSpPr>
        <p:spPr>
          <a:xfrm>
            <a:off x="8290560" y="2139696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Áreas: </a:t>
            </a:r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SAP · CdP pendientes · Entrega de turno</a:t>
            </a:r>
            <a:endParaRPr lang="en-US" sz="880" dirty="0"/>
          </a:p>
        </p:txBody>
      </p:sp>
      <p:sp>
        <p:nvSpPr>
          <p:cNvPr id="61" name="Shape 55"/>
          <p:cNvSpPr/>
          <p:nvPr/>
        </p:nvSpPr>
        <p:spPr>
          <a:xfrm>
            <a:off x="8253984" y="2596896"/>
            <a:ext cx="344119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8382000" y="2596896"/>
            <a:ext cx="3240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Actualizar PTS con brechas de CdP: maxisacos sobre tubería HDPE, pletinas en acople campana-espiga y vienteros en desacople.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8253984" y="3483864"/>
            <a:ext cx="344119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8382000" y="3483864"/>
            <a:ext cx="3240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Registrar hallazgos del turno en SAP.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8253984" y="4370832"/>
            <a:ext cx="344119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8382000" y="4370832"/>
            <a:ext cx="3240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Informar los temas recurrentes en la entrega de turno.</a:t>
            </a:r>
            <a:endParaRPr lang="en-US" sz="900" dirty="0"/>
          </a:p>
        </p:txBody>
      </p:sp>
      <p:sp>
        <p:nvSpPr>
          <p:cNvPr id="67" name="Shape 61"/>
          <p:cNvSpPr/>
          <p:nvPr/>
        </p:nvSpPr>
        <p:spPr>
          <a:xfrm>
            <a:off x="365760" y="7333488"/>
            <a:ext cx="11457432" cy="310896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502920" y="7333488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– SI PRO · ESTRATEGIA DE CONTROLES: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fija de la Gerencia SSO (Directriz GSSO · GCC · QR o PASSO).</a:t>
            </a:r>
            <a:endParaRPr lang="en-US" sz="900" dirty="0"/>
          </a:p>
        </p:txBody>
      </p:sp>
      <p:sp>
        <p:nvSpPr>
          <p:cNvPr id="69" name="Shape 63"/>
          <p:cNvSpPr/>
          <p:nvPr/>
        </p:nvSpPr>
        <p:spPr>
          <a:xfrm>
            <a:off x="365760" y="7726680"/>
            <a:ext cx="11457432" cy="310896"/>
          </a:xfrm>
          <a:prstGeom prst="rect">
            <a:avLst/>
          </a:prstGeom>
          <a:solidFill>
            <a:srgbClr val="17707A"/>
          </a:solidFill>
          <a:ln w="12700">
            <a:solidFill>
              <a:srgbClr val="17707A"/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502920" y="7726680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eventos HBP — acopio de material y housekeeping deficiente (4) · extensiones eléctricas sin pasacable (3). Refuerzo transversal en todos los recorridos.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55448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1645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ASSURANCE TURNO 1-3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6217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PRIORITARIOS DE VERIFICACIÓN EN TERRENO – ITO  ·  Turno 1-3  ·  datos del 10 al 23 SEP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9326880" y="201168"/>
            <a:ext cx="2496312" cy="329184"/>
          </a:xfrm>
          <a:prstGeom prst="roundRect">
            <a:avLst>
              <a:gd name="adj" fmla="val 22222"/>
            </a:avLst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26880" y="2011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 · TABLERO EJECUTIVO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56692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gestión: volumen, tendencia y dónde se concentran los focos.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8385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FORMATO · ASSURANCE ITO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024128"/>
            <a:ext cx="1795272" cy="1005840"/>
          </a:xfrm>
          <a:prstGeom prst="roundRect">
            <a:avLst>
              <a:gd name="adj" fmla="val 5455"/>
            </a:avLst>
          </a:prstGeom>
          <a:solidFill>
            <a:srgbClr val="1F3D6B"/>
          </a:solidFill>
          <a:ln w="9525">
            <a:solidFill>
              <a:srgbClr val="1F3D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" y="1078992"/>
            <a:ext cx="1575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75488" y="1298448"/>
            <a:ext cx="1575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" y="1773936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4 anteriores ▲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298192" y="1024128"/>
            <a:ext cx="1795272" cy="100584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07920" y="1078992"/>
            <a:ext cx="1575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07920" y="1298448"/>
            <a:ext cx="1575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2407920" y="1773936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230624" y="1024128"/>
            <a:ext cx="1795272" cy="100584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40352" y="1078992"/>
            <a:ext cx="1575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340352" y="1298448"/>
            <a:ext cx="1575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4340352" y="1773936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163056" y="1024128"/>
            <a:ext cx="1795272" cy="100584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72784" y="1078992"/>
            <a:ext cx="1575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6272784" y="1298448"/>
            <a:ext cx="1575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6272784" y="1773936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095488" y="1024128"/>
            <a:ext cx="1795272" cy="100584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05216" y="1078992"/>
            <a:ext cx="1575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8205216" y="1298448"/>
            <a:ext cx="1575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8205216" y="1773936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027920" y="1024128"/>
            <a:ext cx="1795272" cy="100584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137648" y="1078992"/>
            <a:ext cx="1575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10137648" y="1298448"/>
            <a:ext cx="1575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10137648" y="1773936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· evidencia / recurrente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365760" y="2194560"/>
            <a:ext cx="60350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" y="22677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POR TEMA · últimos 14 días</a:t>
            </a:r>
            <a:endParaRPr lang="en-US" sz="105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502920" y="2560320"/>
          <a:ext cx="57607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Shape 35"/>
          <p:cNvSpPr/>
          <p:nvPr/>
        </p:nvSpPr>
        <p:spPr>
          <a:xfrm>
            <a:off x="6583680" y="219456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766560" y="2267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PRIORIDAD · nivel × reiteración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7498080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REITERACIÓN / EVIDENCIA</a:t>
            </a:r>
            <a:endParaRPr lang="en-US" sz="750" dirty="0"/>
          </a:p>
        </p:txBody>
      </p:sp>
      <p:sp>
        <p:nvSpPr>
          <p:cNvPr id="42" name="Text 38"/>
          <p:cNvSpPr txBox="1"/>
          <p:nvPr/>
        </p:nvSpPr>
        <p:spPr>
          <a:xfrm>
            <a:off x="9628632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AISLADO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6720840" y="2852928"/>
            <a:ext cx="685800" cy="1170432"/>
          </a:xfrm>
          <a:prstGeom prst="rect">
            <a:avLst/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7498080" y="2852928"/>
            <a:ext cx="2057400" cy="1170432"/>
          </a:xfrm>
          <a:prstGeom prst="rect">
            <a:avLst/>
          </a:prstGeom>
          <a:solidFill>
            <a:srgbClr val="FDF1F1"/>
          </a:solidFill>
          <a:ln w="12700">
            <a:solidFill>
              <a:srgbClr val="FDF1F1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571232" y="288950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1°</a:t>
            </a:r>
            <a:endParaRPr lang="en-US" sz="700" dirty="0"/>
          </a:p>
        </p:txBody>
      </p:sp>
      <p:sp>
        <p:nvSpPr>
          <p:cNvPr id="46" name="Shape 42"/>
          <p:cNvSpPr/>
          <p:nvPr/>
        </p:nvSpPr>
        <p:spPr>
          <a:xfrm>
            <a:off x="7882128" y="3127248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882128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44"/>
          <p:cNvSpPr txBox="1"/>
          <p:nvPr/>
        </p:nvSpPr>
        <p:spPr>
          <a:xfrm>
            <a:off x="7589520" y="354787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por maniobra</a:t>
            </a:r>
            <a:endParaRPr lang="en-US" sz="680" dirty="0"/>
          </a:p>
        </p:txBody>
      </p:sp>
      <p:sp>
        <p:nvSpPr>
          <p:cNvPr id="49" name="Shape 45"/>
          <p:cNvSpPr/>
          <p:nvPr/>
        </p:nvSpPr>
        <p:spPr>
          <a:xfrm>
            <a:off x="8842248" y="3127248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842248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7"/>
          <p:cNvSpPr txBox="1"/>
          <p:nvPr/>
        </p:nvSpPr>
        <p:spPr>
          <a:xfrm>
            <a:off x="8549640" y="354787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segregación y comunicación</a:t>
            </a:r>
            <a:endParaRPr lang="en-US" sz="680" dirty="0"/>
          </a:p>
        </p:txBody>
      </p:sp>
      <p:sp>
        <p:nvSpPr>
          <p:cNvPr id="52" name="Shape 48"/>
          <p:cNvSpPr/>
          <p:nvPr/>
        </p:nvSpPr>
        <p:spPr>
          <a:xfrm>
            <a:off x="9628632" y="2852928"/>
            <a:ext cx="2057400" cy="1170432"/>
          </a:xfrm>
          <a:prstGeom prst="rect">
            <a:avLst/>
          </a:prstGeom>
          <a:solidFill>
            <a:srgbClr val="FDF1F1"/>
          </a:solidFill>
          <a:ln w="12700">
            <a:solidFill>
              <a:srgbClr val="FDF1F1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9701784" y="288950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2°</a:t>
            </a:r>
            <a:endParaRPr lang="en-US" sz="700" dirty="0"/>
          </a:p>
        </p:txBody>
      </p:sp>
      <p:sp>
        <p:nvSpPr>
          <p:cNvPr id="54" name="Text 50"/>
          <p:cNvSpPr txBox="1"/>
          <p:nvPr/>
        </p:nvSpPr>
        <p:spPr>
          <a:xfrm>
            <a:off x="9628632" y="31272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focos</a:t>
            </a:r>
            <a:endParaRPr lang="en-US" sz="850" dirty="0"/>
          </a:p>
        </p:txBody>
      </p:sp>
      <p:sp>
        <p:nvSpPr>
          <p:cNvPr id="55" name="Text 51"/>
          <p:cNvSpPr txBox="1"/>
          <p:nvPr/>
        </p:nvSpPr>
        <p:spPr>
          <a:xfrm>
            <a:off x="6720840" y="4096512"/>
            <a:ext cx="685800" cy="1170432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600" dirty="0"/>
          </a:p>
        </p:txBody>
      </p:sp>
      <p:sp>
        <p:nvSpPr>
          <p:cNvPr id="56" name="Shape 52"/>
          <p:cNvSpPr/>
          <p:nvPr/>
        </p:nvSpPr>
        <p:spPr>
          <a:xfrm>
            <a:off x="7498080" y="4096512"/>
            <a:ext cx="2057400" cy="1170432"/>
          </a:xfrm>
          <a:prstGeom prst="rect">
            <a:avLst/>
          </a:prstGeom>
          <a:solidFill>
            <a:srgbClr val="FDF5EC"/>
          </a:solidFill>
          <a:ln w="12700">
            <a:solidFill>
              <a:srgbClr val="FDF5EC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7571232" y="41330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3°</a:t>
            </a:r>
            <a:endParaRPr lang="en-US" sz="700" dirty="0"/>
          </a:p>
        </p:txBody>
      </p:sp>
      <p:sp>
        <p:nvSpPr>
          <p:cNvPr id="58" name="Shape 54"/>
          <p:cNvSpPr/>
          <p:nvPr/>
        </p:nvSpPr>
        <p:spPr>
          <a:xfrm>
            <a:off x="7882128" y="4370832"/>
            <a:ext cx="402336" cy="40233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7882128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6"/>
          <p:cNvSpPr txBox="1"/>
          <p:nvPr/>
        </p:nvSpPr>
        <p:spPr>
          <a:xfrm>
            <a:off x="7589520" y="4791456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Vehículos y equipos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pre-uso</a:t>
            </a:r>
            <a:endParaRPr lang="en-US" sz="680" dirty="0"/>
          </a:p>
        </p:txBody>
      </p:sp>
      <p:sp>
        <p:nvSpPr>
          <p:cNvPr id="61" name="Shape 57"/>
          <p:cNvSpPr/>
          <p:nvPr/>
        </p:nvSpPr>
        <p:spPr>
          <a:xfrm>
            <a:off x="8842248" y="4370832"/>
            <a:ext cx="402336" cy="40233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8842248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63" name="Text 59"/>
          <p:cNvSpPr txBox="1"/>
          <p:nvPr/>
        </p:nvSpPr>
        <p:spPr>
          <a:xfrm>
            <a:off x="8549640" y="4791456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Andamios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liberación estricta</a:t>
            </a:r>
            <a:endParaRPr lang="en-US" sz="680" dirty="0"/>
          </a:p>
        </p:txBody>
      </p:sp>
      <p:sp>
        <p:nvSpPr>
          <p:cNvPr id="64" name="Shape 60"/>
          <p:cNvSpPr/>
          <p:nvPr/>
        </p:nvSpPr>
        <p:spPr>
          <a:xfrm>
            <a:off x="9628632" y="4096512"/>
            <a:ext cx="2057400" cy="1170432"/>
          </a:xfrm>
          <a:prstGeom prst="rect">
            <a:avLst/>
          </a:prstGeom>
          <a:solidFill>
            <a:srgbClr val="FDF5EC"/>
          </a:solidFill>
          <a:ln w="12700">
            <a:solidFill>
              <a:srgbClr val="FDF5EC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9701784" y="41330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4°</a:t>
            </a:r>
            <a:endParaRPr lang="en-US" sz="700" dirty="0"/>
          </a:p>
        </p:txBody>
      </p:sp>
      <p:sp>
        <p:nvSpPr>
          <p:cNvPr id="66" name="Text 62"/>
          <p:cNvSpPr txBox="1"/>
          <p:nvPr/>
        </p:nvSpPr>
        <p:spPr>
          <a:xfrm>
            <a:off x="9628632" y="4370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focos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596128"/>
          <a:ext cx="9143771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94360"/>
                <a:gridCol w="4206240"/>
                <a:gridCol w="3291840"/>
                <a:gridCol w="295351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 ORIGEN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 SGE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D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Izaje – plan por maniobra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5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Detener si: Sin plan específico para la carga, no se iza.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CAAP 555505 · HAP 555358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GCC + CdP Maniobras de Izaje + ASP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D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Izaje – segregación y comunicación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5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Detener si: Sin segregación o sin radio, no se inicia el izaje.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 556119 · CBP 554227 · HBP 554488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GCC + CdP Maniobras de Izaje + Desafío en Terreno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D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Vehículos y equipos – pre-uso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5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Detener si: Vehículo o equipo con daño crítico no opera.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 553767 · HBP 554865 · HBP 554110 / 556748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EdC Vehículo Liviano + Inspección de Equipos + ASP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D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Andamios – liberación estricta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5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Detener si: Andamio con piezas faltantes: prohibido el acceso.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CBP 554901 · HBP 554468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Inspección de Plataformas + CdP Trabajos en Altura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– SI PRO · Estrategia de controles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Directriz GSSO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GCC · QR o PASSO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" name="Shape 63"/>
          <p:cNvSpPr/>
          <p:nvPr/>
        </p:nvSpPr>
        <p:spPr>
          <a:xfrm>
            <a:off x="365760" y="7973568"/>
            <a:ext cx="11457432" cy="274320"/>
          </a:xfrm>
          <a:prstGeom prst="rect">
            <a:avLst/>
          </a:prstGeom>
          <a:solidFill>
            <a:srgbClr val="17707A"/>
          </a:solidFill>
          <a:ln w="12700">
            <a:solidFill>
              <a:srgbClr val="17707A"/>
            </a:solidFill>
            <a:prstDash val="solid"/>
          </a:ln>
        </p:spPr>
      </p:sp>
      <p:sp>
        <p:nvSpPr>
          <p:cNvPr id="69" name="Text 64"/>
          <p:cNvSpPr txBox="1"/>
          <p:nvPr/>
        </p:nvSpPr>
        <p:spPr>
          <a:xfrm>
            <a:off x="502920" y="7973568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HBP — acopio de material y housekeeping deficiente (4) · extensiones eléctricas sin pasacable (3)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Propuestas de formato Assurance ITO</dc:title>
  <dc:subject>PptxGenJS Presentation</dc:subject>
  <dc:creator>PptxGenJS</dc:creator>
  <cp:lastModifiedBy>PptxGenJS</cp:lastModifiedBy>
  <cp:revision>1</cp:revision>
  <dcterms:created xsi:type="dcterms:W3CDTF">2026-09-24T11:27:55Z</dcterms:created>
  <dcterms:modified xsi:type="dcterms:W3CDTF">2026-09-24T11:27:55Z</dcterms:modified>
</cp:coreProperties>
</file>